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8" r:id="rId23"/>
    <p:sldId id="277" r:id="rId24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808CF-AC5F-AC60-5A6E-518DBFD5B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0FF3C7-E332-2F48-701C-DAF760139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884A9-92E7-C9D8-2F26-CFDB4A71BB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668C7-8594-7B96-4DD8-C926B24D0B9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8617958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figma.com/board/WWco4Uxf8Be3RF0R4dkbQP/ITBA---%C4%90%C3%ACnh-Trung?node-id=107-34&amp;t=DyHpndfatVqbKXDa-1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871vQoHx5Dl6vyRdMYUlYDUcCoQNs1i/view?usp=sharing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871vQoHx5Dl6vyRdMYUlYDUcCoQNs1i/view?usp=sharing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871vQoHx5Dl6vyRdMYUlYDUcCoQNs1i/view?usp=sharing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871vQoHx5Dl6vyRdMYUlYDUcCoQNs1i/view?usp=sharing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l871vQoHx5Dl6vyRdMYUlYDUcCoQNs1i/view?usp=shari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figma.com/proto/zj0eHJI9i0ked7dSZaLMmR/&#272;&#236;nh-Trung-K29?node-id=21-5&amp;viewport=294%2C186%2C0.17&amp;t=w0ywKWRqqhRrkOOo-1&amp;scaling=scale-down&amp;content-scaling=fixed&amp;starting-point-node-id=21%3A5&amp;page-id=0%3A1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figma.com/proto/zj0eHJI9i0ked7dSZaLMmR/&#272;&#236;nh-Trung-K29?node-id=21-5&amp;viewport=294%2C186%2C0.17&amp;t=w0ywKWRqqhRrkOOo-1&amp;scaling=scale-down&amp;content-scaling=fixed&amp;starting-point-node-id=21%3A5&amp;page-id=0%3A1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hyperlink" Target="https://www.figma.com/proto/zj0eHJI9i0ked7dSZaLMmR/&#272;&#236;nh-Trung-K29?node-id=21-5&amp;viewport=294%2C186%2C0.17&amp;t=w0ywKWRqqhRrkOOo-1&amp;scaling=scale-down&amp;content-scaling=fixed&amp;starting-point-node-id=21%3A5&amp;page-id=0%3A1" TargetMode="Externa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hyperlink" Target="https://www.figma.com/proto/zj0eHJI9i0ked7dSZaLMmR/&#272;&#236;nh-Trung-K29?node-id=21-5&amp;viewport=294%2C186%2C0.17&amp;t=w0ywKWRqqhRrkOOo-1&amp;scaling=scale-down&amp;content-scaling=fixed&amp;starting-point-node-id=21%3A5&amp;page-id=0%3A1" TargetMode="Externa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figma.com/proto/zj0eHJI9i0ked7dSZaLMmR/&#272;&#236;nh-Trung-K29?node-id=21-5&amp;viewport=294%2C186%2C0.17&amp;t=w0ywKWRqqhRrkOOo-1&amp;scaling=scale-down&amp;content-scaling=fixed&amp;starting-point-node-id=21%3A5&amp;page-id=0%3A1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www.figma.com/proto/zj0eHJI9i0ked7dSZaLMmR/&#272;&#236;nh-Trung-K29?node-id=21-5&amp;viewport=294%2C186%2C0.17&amp;t=w0ywKWRqqhRrkOOo-1&amp;scaling=scale-down&amp;content-scaling=fixed&amp;starting-point-node-id=21%3A5&amp;page-id=0%3A1" TargetMode="Externa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document/d/1_EXGN0k02gtRZrT2DxSkvZSXHZ7BhiogckHasEmHdhk/edit?usp=sharing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google.com/document/d/1pbIA9lw6FUR_kERCbVK3xtEt6MZJtVpgrngybgy_vUs/edit?usp=sharing" TargetMode="External"/><Relationship Id="rId5" Type="http://schemas.openxmlformats.org/officeDocument/2006/relationships/hyperlink" Target="https://docs.google.com/document/d/1RcjJZH2zz9DeqbAbXBaebYWkp7BaoMtXvY1UkVmtVQk/edit?usp=sharing" TargetMode="External"/><Relationship Id="rId4" Type="http://schemas.openxmlformats.org/officeDocument/2006/relationships/hyperlink" Target="https://docs.google.com/document/d/1tyMIyMTlE77JaiKTC1o_OxvoKdQMq3mfNqSu8YgFmi4/edit?usp=sharing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76EA75-04FC-4500-B847-243A837FBAF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533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5756B"/>
                </a:solidFill>
              </a:defRPr>
            </a:pPr>
            <a:r>
              <a:rPr sz="1350" b="1" i="0">
                <a:solidFill>
                  <a:srgbClr val="65756B"/>
                </a:solidFill>
              </a:rPr>
              <a:t>PHÂN TÍCH NGHIỆP VỤ HỆ THỐNG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A4C6F8-EB95-43E6-9239-41E4C3EC8957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6572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050" b="1" i="0">
                <a:solidFill>
                  <a:srgbClr val="193B2B"/>
                </a:solidFill>
              </a:defRPr>
            </a:pPr>
            <a:r>
              <a:rPr sz="4050" b="1" i="0">
                <a:solidFill>
                  <a:srgbClr val="193B2B"/>
                </a:solidFill>
              </a:rPr>
              <a:t>Digital Account</a:t>
            </a:r>
          </a:p>
          <a:p>
            <a:pPr algn="l">
              <a:buNone/>
              <a:defRPr sz="4050" b="1" i="0">
                <a:solidFill>
                  <a:srgbClr val="193B2B"/>
                </a:solidFill>
              </a:defRPr>
            </a:pPr>
            <a:r>
              <a:rPr sz="4050" b="1" i="0">
                <a:solidFill>
                  <a:srgbClr val="193B2B"/>
                </a:solidFill>
              </a:rPr>
              <a:t>Opening with eKYC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8A57DD-62FC-43AA-BEAA-0DBCEFE80932}"/>
              </a:ext>
            </a:extLst>
          </p:cNvPr>
          <p:cNvSpPr>
            <a:spLocks noGrp="1"/>
          </p:cNvSpPr>
          <p:nvPr/>
        </p:nvSpPr>
        <p:spPr>
          <a:xfrm>
            <a:off x="723900" y="2857500"/>
            <a:ext cx="5905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0" i="0">
                <a:solidFill>
                  <a:srgbClr val="2E5B3A"/>
                </a:solidFill>
              </a:defRPr>
            </a:pPr>
            <a:r>
              <a:rPr sz="1800" b="0" i="0" dirty="0" err="1">
                <a:solidFill>
                  <a:srgbClr val="2E5B3A"/>
                </a:solidFill>
              </a:rPr>
              <a:t>Mở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tài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khoản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ngân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hàng</a:t>
            </a:r>
            <a:r>
              <a:rPr sz="1800" b="0" i="0" dirty="0">
                <a:solidFill>
                  <a:srgbClr val="2E5B3A"/>
                </a:solidFill>
              </a:rPr>
              <a:t> online </a:t>
            </a:r>
            <a:r>
              <a:rPr sz="1800" b="0" i="0" dirty="0" err="1">
                <a:solidFill>
                  <a:srgbClr val="2E5B3A"/>
                </a:solidFill>
              </a:rPr>
              <a:t>có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xác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thực</a:t>
            </a:r>
            <a:r>
              <a:rPr sz="1800" b="0" i="0" dirty="0">
                <a:solidFill>
                  <a:srgbClr val="2E5B3A"/>
                </a:solidFill>
              </a:rPr>
              <a:t> </a:t>
            </a:r>
            <a:r>
              <a:rPr sz="1800" b="0" i="0" dirty="0" err="1">
                <a:solidFill>
                  <a:srgbClr val="2E5B3A"/>
                </a:solidFill>
              </a:rPr>
              <a:t>eKYC</a:t>
            </a:r>
            <a:endParaRPr sz="1800" b="0" i="0" dirty="0">
              <a:solidFill>
                <a:srgbClr val="2E5B3A"/>
              </a:solidFill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BE6C504-9902-4EAC-A7B1-8719C2FE2942}"/>
              </a:ext>
            </a:extLst>
          </p:cNvPr>
          <p:cNvSpPr>
            <a:spLocks noGrp="1"/>
          </p:cNvSpPr>
          <p:nvPr/>
        </p:nvSpPr>
        <p:spPr>
          <a:xfrm>
            <a:off x="723900" y="3638550"/>
            <a:ext cx="3143250" cy="9525"/>
          </a:xfrm>
          <a:prstGeom prst="line">
            <a:avLst/>
          </a:prstGeom>
          <a:noFill/>
          <a:ln w="9525">
            <a:solidFill>
              <a:srgbClr val="6B9A6E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9CB6C-0D44-4D0D-8DAF-9554C3F87C61}"/>
              </a:ext>
            </a:extLst>
          </p:cNvPr>
          <p:cNvSpPr>
            <a:spLocks noGrp="1"/>
          </p:cNvSpPr>
          <p:nvPr/>
        </p:nvSpPr>
        <p:spPr>
          <a:xfrm>
            <a:off x="723900" y="38481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 dirty="0">
                <a:solidFill>
                  <a:srgbClr val="6B9A6E"/>
                </a:solidFill>
              </a:rPr>
              <a:t>IT BUSINESS ANALYST PORTFOLIO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7A7DD1-EE74-41CF-8AB7-32FF81944241}"/>
              </a:ext>
            </a:extLst>
          </p:cNvPr>
          <p:cNvSpPr>
            <a:spLocks noGrp="1"/>
          </p:cNvSpPr>
          <p:nvPr/>
        </p:nvSpPr>
        <p:spPr>
          <a:xfrm>
            <a:off x="8743950" y="1600200"/>
            <a:ext cx="2514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 i="0">
                <a:solidFill>
                  <a:srgbClr val="735B14"/>
                </a:solidFill>
              </a:defRPr>
            </a:pPr>
            <a:endParaRPr sz="1500" b="1" i="0">
              <a:solidFill>
                <a:srgbClr val="735B14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1EB9CE-0524-477E-9F1C-8EBA18899BF0}"/>
              </a:ext>
            </a:extLst>
          </p:cNvPr>
          <p:cNvSpPr>
            <a:spLocks noGrp="1"/>
          </p:cNvSpPr>
          <p:nvPr/>
        </p:nvSpPr>
        <p:spPr>
          <a:xfrm>
            <a:off x="8820150" y="1981200"/>
            <a:ext cx="2362200" cy="2400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 i="0">
                <a:solidFill>
                  <a:srgbClr val="735B14"/>
                </a:solidFill>
              </a:defRPr>
            </a:pPr>
            <a:endParaRPr sz="1200" b="0" i="0">
              <a:solidFill>
                <a:srgbClr val="735B14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5D497F6-01FD-4628-8EC7-A15DB0C4047F}"/>
              </a:ext>
            </a:extLst>
          </p:cNvPr>
          <p:cNvSpPr>
            <a:spLocks noGrp="1"/>
          </p:cNvSpPr>
          <p:nvPr/>
        </p:nvSpPr>
        <p:spPr>
          <a:xfrm>
            <a:off x="723900" y="56197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183127"/>
                </a:solidFill>
              </a:defRPr>
            </a:pPr>
            <a:r>
              <a:rPr sz="1500" b="1" i="0">
                <a:solidFill>
                  <a:srgbClr val="183127"/>
                </a:solidFill>
              </a:rPr>
              <a:t>Thực hiện bởi: Đào Đình Trung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90BDBA-9E76-4DB7-A129-A131177B89D8}"/>
              </a:ext>
            </a:extLst>
          </p:cNvPr>
          <p:cNvSpPr>
            <a:spLocks noGrp="1"/>
          </p:cNvSpPr>
          <p:nvPr/>
        </p:nvSpPr>
        <p:spPr>
          <a:xfrm>
            <a:off x="723900" y="6038850"/>
            <a:ext cx="3269602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 i="0">
                <a:solidFill>
                  <a:srgbClr val="65756B"/>
                </a:solidFill>
              </a:defRPr>
            </a:pPr>
            <a:r>
              <a:rPr sz="1200">
                <a:solidFill>
                  <a:srgbClr val="65756B"/>
                </a:solidFill>
              </a:rPr>
              <a:t>dinhtrungg3012@gmail.com</a:t>
            </a:r>
            <a:r>
              <a:rPr sz="1200" b="0" i="0">
                <a:solidFill>
                  <a:srgbClr val="65756B"/>
                </a:solidFill>
              </a:rPr>
              <a:t>  |  0982970875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802F59F-2DF2-FD48-5F55-C0CC560C8A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2452" y="219499"/>
            <a:ext cx="3143250" cy="64190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0000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F43AB53-6DDE-452D-B86E-18DC891F2CF5}"/>
              </a:ext>
            </a:extLst>
          </p:cNvPr>
          <p:cNvSpPr>
            <a:spLocks noGrp="1"/>
          </p:cNvSpPr>
          <p:nvPr/>
        </p:nvSpPr>
        <p:spPr>
          <a:xfrm>
            <a:off x="666750" y="571500"/>
            <a:ext cx="4000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600" b="1" i="0">
                <a:solidFill>
                  <a:srgbClr val="193B2B"/>
                </a:solidFill>
              </a:defRPr>
            </a:pPr>
            <a:r>
              <a:rPr sz="3600" b="1" i="0">
                <a:solidFill>
                  <a:srgbClr val="193B2B"/>
                </a:solidFill>
              </a:rPr>
              <a:t>Nội dung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5C1170-570E-4CD4-9685-68AE8CD78936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900" b="1" i="0">
                <a:solidFill>
                  <a:srgbClr val="A7C7A4"/>
                </a:solidFill>
              </a:defRPr>
            </a:pPr>
            <a:r>
              <a:rPr sz="3900" b="1" i="0">
                <a:solidFill>
                  <a:srgbClr val="A7C7A4"/>
                </a:solidFill>
              </a:rPr>
              <a:t>01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841AA8-22A4-4A94-830E-2FF6202FA088}"/>
              </a:ext>
            </a:extLst>
          </p:cNvPr>
          <p:cNvSpPr>
            <a:spLocks noGrp="1"/>
          </p:cNvSpPr>
          <p:nvPr/>
        </p:nvSpPr>
        <p:spPr>
          <a:xfrm>
            <a:off x="762000" y="2381250"/>
            <a:ext cx="266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 i="0">
                <a:solidFill>
                  <a:srgbClr val="2E5B3A"/>
                </a:solidFill>
              </a:defRPr>
            </a:pPr>
            <a:r>
              <a:rPr sz="1950" b="1" i="0">
                <a:solidFill>
                  <a:srgbClr val="2E5B3A"/>
                </a:solidFill>
              </a:rPr>
              <a:t>Xác định nhu cầu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943B0C-A79B-405A-8E47-B889C9B3AE62}"/>
              </a:ext>
            </a:extLst>
          </p:cNvPr>
          <p:cNvSpPr>
            <a:spLocks noGrp="1"/>
          </p:cNvSpPr>
          <p:nvPr/>
        </p:nvSpPr>
        <p:spPr>
          <a:xfrm>
            <a:off x="762000" y="290512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292B8F-08D5-49A8-9859-2BC94B33C972}"/>
              </a:ext>
            </a:extLst>
          </p:cNvPr>
          <p:cNvSpPr>
            <a:spLocks noGrp="1"/>
          </p:cNvSpPr>
          <p:nvPr/>
        </p:nvSpPr>
        <p:spPr>
          <a:xfrm>
            <a:off x="1028700" y="290512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Bối cảnh và vấn đề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542B38-B4A2-4201-98BD-78927EA98B8D}"/>
              </a:ext>
            </a:extLst>
          </p:cNvPr>
          <p:cNvSpPr>
            <a:spLocks noGrp="1"/>
          </p:cNvSpPr>
          <p:nvPr/>
        </p:nvSpPr>
        <p:spPr>
          <a:xfrm>
            <a:off x="762000" y="326707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34F76F-1895-4DEC-A87B-7D85711C771A}"/>
              </a:ext>
            </a:extLst>
          </p:cNvPr>
          <p:cNvSpPr>
            <a:spLocks noGrp="1"/>
          </p:cNvSpPr>
          <p:nvPr/>
        </p:nvSpPr>
        <p:spPr>
          <a:xfrm>
            <a:off x="1028700" y="326707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BACCM, Stakeholder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994AD8-4801-4A9C-BDD2-5FBFB44DC5BE}"/>
              </a:ext>
            </a:extLst>
          </p:cNvPr>
          <p:cNvSpPr>
            <a:spLocks noGrp="1"/>
          </p:cNvSpPr>
          <p:nvPr/>
        </p:nvSpPr>
        <p:spPr>
          <a:xfrm>
            <a:off x="762000" y="362902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65C069-C364-4CDC-AA3B-87B141C59411}"/>
              </a:ext>
            </a:extLst>
          </p:cNvPr>
          <p:cNvSpPr>
            <a:spLocks noGrp="1"/>
          </p:cNvSpPr>
          <p:nvPr/>
        </p:nvSpPr>
        <p:spPr>
          <a:xfrm>
            <a:off x="1028700" y="362902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Scope và Business Rules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B7BE30-351A-48D5-BF28-8BA836C60E1B}"/>
              </a:ext>
            </a:extLst>
          </p:cNvPr>
          <p:cNvSpPr>
            <a:spLocks noGrp="1"/>
          </p:cNvSpPr>
          <p:nvPr/>
        </p:nvSpPr>
        <p:spPr>
          <a:xfrm>
            <a:off x="762000" y="399097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365B66-F8C7-439B-ADB1-3D1644B2A455}"/>
              </a:ext>
            </a:extLst>
          </p:cNvPr>
          <p:cNvSpPr>
            <a:spLocks noGrp="1"/>
          </p:cNvSpPr>
          <p:nvPr/>
        </p:nvSpPr>
        <p:spPr>
          <a:xfrm>
            <a:off x="1028700" y="399097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User Story Map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44E55D-C2E6-49BA-8EB8-30824C31B5F1}"/>
              </a:ext>
            </a:extLst>
          </p:cNvPr>
          <p:cNvSpPr>
            <a:spLocks noGrp="1"/>
          </p:cNvSpPr>
          <p:nvPr/>
        </p:nvSpPr>
        <p:spPr>
          <a:xfrm>
            <a:off x="4381500" y="171450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900" b="1" i="0">
                <a:solidFill>
                  <a:srgbClr val="A7C7A4"/>
                </a:solidFill>
              </a:defRPr>
            </a:pPr>
            <a:r>
              <a:rPr sz="3900" b="1" i="0">
                <a:solidFill>
                  <a:srgbClr val="A7C7A4"/>
                </a:solidFill>
              </a:rPr>
              <a:t>02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0246879-2C4A-44CF-9E2D-CB4C4C5A7D16}"/>
              </a:ext>
            </a:extLst>
          </p:cNvPr>
          <p:cNvSpPr>
            <a:spLocks noGrp="1"/>
          </p:cNvSpPr>
          <p:nvPr/>
        </p:nvSpPr>
        <p:spPr>
          <a:xfrm>
            <a:off x="4381500" y="2381250"/>
            <a:ext cx="2952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 i="0">
                <a:solidFill>
                  <a:srgbClr val="2E5B3A"/>
                </a:solidFill>
              </a:defRPr>
            </a:pPr>
            <a:r>
              <a:rPr sz="1950" b="1" i="0">
                <a:solidFill>
                  <a:srgbClr val="2E5B3A"/>
                </a:solidFill>
              </a:rPr>
              <a:t>Quy trình nghiệp vụ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0E7E00-C023-443E-ABA3-ADEC686EC0EA}"/>
              </a:ext>
            </a:extLst>
          </p:cNvPr>
          <p:cNvSpPr>
            <a:spLocks noGrp="1"/>
          </p:cNvSpPr>
          <p:nvPr/>
        </p:nvSpPr>
        <p:spPr>
          <a:xfrm>
            <a:off x="4381500" y="290512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2392FD-7E90-46A0-81E9-48D4175138CC}"/>
              </a:ext>
            </a:extLst>
          </p:cNvPr>
          <p:cNvSpPr>
            <a:spLocks noGrp="1"/>
          </p:cNvSpPr>
          <p:nvPr/>
        </p:nvSpPr>
        <p:spPr>
          <a:xfrm>
            <a:off x="4648200" y="290512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BPMN To-Be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1B34A5-F986-4CAB-AE13-9812841776DA}"/>
              </a:ext>
            </a:extLst>
          </p:cNvPr>
          <p:cNvSpPr>
            <a:spLocks noGrp="1"/>
          </p:cNvSpPr>
          <p:nvPr/>
        </p:nvSpPr>
        <p:spPr>
          <a:xfrm>
            <a:off x="4381500" y="326707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D1FA1B0-0E9F-44DD-95BB-CA688C9829A5}"/>
              </a:ext>
            </a:extLst>
          </p:cNvPr>
          <p:cNvSpPr>
            <a:spLocks noGrp="1"/>
          </p:cNvSpPr>
          <p:nvPr/>
        </p:nvSpPr>
        <p:spPr>
          <a:xfrm>
            <a:off x="4648200" y="326707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BFD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CB7AA0-1E4B-401A-B57C-2526D0601526}"/>
              </a:ext>
            </a:extLst>
          </p:cNvPr>
          <p:cNvSpPr>
            <a:spLocks noGrp="1"/>
          </p:cNvSpPr>
          <p:nvPr/>
        </p:nvSpPr>
        <p:spPr>
          <a:xfrm>
            <a:off x="4381500" y="362902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F6ED054-5953-43AD-9D6D-260ECF1A2C5C}"/>
              </a:ext>
            </a:extLst>
          </p:cNvPr>
          <p:cNvSpPr>
            <a:spLocks noGrp="1"/>
          </p:cNvSpPr>
          <p:nvPr/>
        </p:nvSpPr>
        <p:spPr>
          <a:xfrm>
            <a:off x="4648200" y="362902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Use Case Diagram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DA0624-1ECF-4512-AC7E-AE779073573F}"/>
              </a:ext>
            </a:extLst>
          </p:cNvPr>
          <p:cNvSpPr>
            <a:spLocks noGrp="1"/>
          </p:cNvSpPr>
          <p:nvPr/>
        </p:nvSpPr>
        <p:spPr>
          <a:xfrm>
            <a:off x="4381500" y="399097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6DA76BA-A286-410F-9814-40BD575C9518}"/>
              </a:ext>
            </a:extLst>
          </p:cNvPr>
          <p:cNvSpPr>
            <a:spLocks noGrp="1"/>
          </p:cNvSpPr>
          <p:nvPr/>
        </p:nvSpPr>
        <p:spPr>
          <a:xfrm>
            <a:off x="4648200" y="3990975"/>
            <a:ext cx="2590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Activity &amp; Sequence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EA9D30-D9F3-41E8-B9D1-CEC21D8F9BD4}"/>
              </a:ext>
            </a:extLst>
          </p:cNvPr>
          <p:cNvSpPr>
            <a:spLocks noGrp="1"/>
          </p:cNvSpPr>
          <p:nvPr/>
        </p:nvSpPr>
        <p:spPr>
          <a:xfrm>
            <a:off x="8001000" y="1714500"/>
            <a:ext cx="95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900" b="1" i="0">
                <a:solidFill>
                  <a:srgbClr val="A7C7A4"/>
                </a:solidFill>
              </a:defRPr>
            </a:pPr>
            <a:r>
              <a:rPr sz="3900" b="1" i="0">
                <a:solidFill>
                  <a:srgbClr val="A7C7A4"/>
                </a:solidFill>
              </a:rPr>
              <a:t>03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7A78A6-B971-40AB-9DDF-3146F49E2F2B}"/>
              </a:ext>
            </a:extLst>
          </p:cNvPr>
          <p:cNvSpPr>
            <a:spLocks noGrp="1"/>
          </p:cNvSpPr>
          <p:nvPr/>
        </p:nvSpPr>
        <p:spPr>
          <a:xfrm>
            <a:off x="8001000" y="2381250"/>
            <a:ext cx="3143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950" b="1" i="0">
                <a:solidFill>
                  <a:srgbClr val="2E5B3A"/>
                </a:solidFill>
              </a:defRPr>
            </a:pPr>
            <a:r>
              <a:rPr sz="1950" b="1" i="0">
                <a:solidFill>
                  <a:srgbClr val="2E5B3A"/>
                </a:solidFill>
              </a:rPr>
              <a:t>Phân tích và thiết kế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A59580-4EAD-438E-BCF9-0F3E6CFED8EC}"/>
              </a:ext>
            </a:extLst>
          </p:cNvPr>
          <p:cNvSpPr>
            <a:spLocks noGrp="1"/>
          </p:cNvSpPr>
          <p:nvPr/>
        </p:nvSpPr>
        <p:spPr>
          <a:xfrm>
            <a:off x="8001000" y="290512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BBF6AD9-A576-4736-A107-143597A66F38}"/>
              </a:ext>
            </a:extLst>
          </p:cNvPr>
          <p:cNvSpPr>
            <a:spLocks noGrp="1"/>
          </p:cNvSpPr>
          <p:nvPr/>
        </p:nvSpPr>
        <p:spPr>
          <a:xfrm>
            <a:off x="8267700" y="2905125"/>
            <a:ext cx="2876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ERD và dữ liệu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0E0348-53C7-4920-9358-3C085518B585}"/>
              </a:ext>
            </a:extLst>
          </p:cNvPr>
          <p:cNvSpPr>
            <a:spLocks noGrp="1"/>
          </p:cNvSpPr>
          <p:nvPr/>
        </p:nvSpPr>
        <p:spPr>
          <a:xfrm>
            <a:off x="8001000" y="326707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77D086-C8B6-44A9-BDBC-DC622C3BD203}"/>
              </a:ext>
            </a:extLst>
          </p:cNvPr>
          <p:cNvSpPr>
            <a:spLocks noGrp="1"/>
          </p:cNvSpPr>
          <p:nvPr/>
        </p:nvSpPr>
        <p:spPr>
          <a:xfrm>
            <a:off x="8267700" y="3267075"/>
            <a:ext cx="2876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API &amp; mã lỗi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D398780-BB0B-464F-89C1-D59E2780ED80}"/>
              </a:ext>
            </a:extLst>
          </p:cNvPr>
          <p:cNvSpPr>
            <a:spLocks noGrp="1"/>
          </p:cNvSpPr>
          <p:nvPr/>
        </p:nvSpPr>
        <p:spPr>
          <a:xfrm>
            <a:off x="8001000" y="362902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9D20EF-9402-46D5-9264-0E2035E85153}"/>
              </a:ext>
            </a:extLst>
          </p:cNvPr>
          <p:cNvSpPr>
            <a:spLocks noGrp="1"/>
          </p:cNvSpPr>
          <p:nvPr/>
        </p:nvSpPr>
        <p:spPr>
          <a:xfrm>
            <a:off x="8267700" y="3629025"/>
            <a:ext cx="2876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 i="0">
                <a:solidFill>
                  <a:srgbClr val="183127"/>
                </a:solidFill>
              </a:defRPr>
            </a:pPr>
            <a:r>
              <a:rPr sz="1275" b="0" i="0">
                <a:solidFill>
                  <a:srgbClr val="183127"/>
                </a:solidFill>
              </a:rPr>
              <a:t>Wireframe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F872BC-A115-47B5-B6B3-CDE76166E422}"/>
              </a:ext>
            </a:extLst>
          </p:cNvPr>
          <p:cNvSpPr>
            <a:spLocks noGrp="1"/>
          </p:cNvSpPr>
          <p:nvPr/>
        </p:nvSpPr>
        <p:spPr>
          <a:xfrm>
            <a:off x="8001000" y="3990975"/>
            <a:ext cx="228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6B9A6E"/>
                </a:solidFill>
              </a:defRPr>
            </a:pPr>
            <a:r>
              <a:rPr sz="127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B9F6E8F-FB91-49FB-A59A-122BD60C8507}"/>
              </a:ext>
            </a:extLst>
          </p:cNvPr>
          <p:cNvSpPr>
            <a:spLocks noGrp="1"/>
          </p:cNvSpPr>
          <p:nvPr/>
        </p:nvSpPr>
        <p:spPr>
          <a:xfrm>
            <a:off x="8267700" y="3990975"/>
            <a:ext cx="2876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75" b="0" i="0">
                <a:solidFill>
                  <a:srgbClr val="183127"/>
                </a:solidFill>
              </a:defRPr>
            </a:pPr>
            <a:r>
              <a:rPr lang="vi-VN" sz="1275" dirty="0"/>
              <a:t>Tài liệu bàn giao và kết luận</a:t>
            </a:r>
            <a:endParaRPr sz="1275" b="0" i="0" dirty="0">
              <a:solidFill>
                <a:srgbClr val="183127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BE02ABF-75F0-4BE7-AC4D-CA5EA8024286}"/>
              </a:ext>
            </a:extLst>
          </p:cNvPr>
          <p:cNvSpPr>
            <a:spLocks noGrp="1"/>
          </p:cNvSpPr>
          <p:nvPr/>
        </p:nvSpPr>
        <p:spPr>
          <a:xfrm>
            <a:off x="762000" y="5715000"/>
            <a:ext cx="1009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75" b="0" i="1">
                <a:solidFill>
                  <a:srgbClr val="65756B"/>
                </a:solidFill>
              </a:defRPr>
            </a:pPr>
            <a:r>
              <a:rPr sz="1575" b="0" i="1">
                <a:solidFill>
                  <a:srgbClr val="65756B"/>
                </a:solidFill>
              </a:rPr>
              <a:t>Mạch trình bày đi từ nhu cầu kinh doanh đến giải pháp và các artifact bàn giao.</a:t>
            </a:r>
          </a:p>
        </p:txBody>
      </p:sp>
    </p:spTree>
    <p:extLst>
      <p:ext uri="{BB962C8B-B14F-4D97-AF65-F5344CB8AC3E}">
        <p14:creationId xmlns:p14="http://schemas.microsoft.com/office/powerpoint/2010/main" val="956901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D37DC2D0-4C76-4D2B-BA79-6907C2292FED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9A3DE-4357-426C-B187-8E701EE92626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1. XÁC ĐỊNH NHU CẦU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09E4A4-3AA8-4B13-A5B7-CE2F9F583EA5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Mở tài khoản tại quầy tạo ra nhiều điểm nghẽn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C395F2-EAEA-44A0-94B8-E3E2D75FA2C2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D4D150-A1C2-41CC-9C8B-36C2E57289B7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6997ED0-6C8C-4B02-8A23-07FFA8F57286}"/>
              </a:ext>
            </a:extLst>
          </p:cNvPr>
          <p:cNvSpPr>
            <a:spLocks noGrp="1"/>
          </p:cNvSpPr>
          <p:nvPr/>
        </p:nvSpPr>
        <p:spPr>
          <a:xfrm>
            <a:off x="666750" y="161925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 i="0">
                <a:solidFill>
                  <a:srgbClr val="2E5B3A"/>
                </a:solidFill>
              </a:defRPr>
            </a:pPr>
            <a:r>
              <a:rPr sz="1800" b="1" i="0">
                <a:solidFill>
                  <a:srgbClr val="2E5B3A"/>
                </a:solidFill>
              </a:rPr>
              <a:t>Bối cảnh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6DD13-D605-4CF3-BE99-7CB7413C3F70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2286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825BD4-7ECB-48A8-8DD5-AB660CEC780F}"/>
              </a:ext>
            </a:extLst>
          </p:cNvPr>
          <p:cNvSpPr>
            <a:spLocks noGrp="1"/>
          </p:cNvSpPr>
          <p:nvPr/>
        </p:nvSpPr>
        <p:spPr>
          <a:xfrm>
            <a:off x="933450" y="2095500"/>
            <a:ext cx="50673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 i="0">
                <a:solidFill>
                  <a:srgbClr val="183127"/>
                </a:solidFill>
              </a:defRPr>
            </a:pPr>
            <a:r>
              <a:rPr sz="1425" b="0" i="0" dirty="0" err="1">
                <a:solidFill>
                  <a:srgbClr val="183127"/>
                </a:solidFill>
              </a:rPr>
              <a:t>Khách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hàng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phải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đến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điểm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giao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dịch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và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phụ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thuộc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thời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gian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làm</a:t>
            </a:r>
            <a:r>
              <a:rPr sz="1425" b="0" i="0" dirty="0">
                <a:solidFill>
                  <a:srgbClr val="183127"/>
                </a:solidFill>
              </a:rPr>
              <a:t> </a:t>
            </a:r>
            <a:r>
              <a:rPr sz="1425" b="0" i="0" dirty="0" err="1">
                <a:solidFill>
                  <a:srgbClr val="183127"/>
                </a:solidFill>
              </a:rPr>
              <a:t>việc</a:t>
            </a:r>
            <a:r>
              <a:rPr sz="1425" b="0" i="0" dirty="0">
                <a:solidFill>
                  <a:srgbClr val="183127"/>
                </a:solidFill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494412-ED8C-4FD5-9FE3-B263BD568A60}"/>
              </a:ext>
            </a:extLst>
          </p:cNvPr>
          <p:cNvSpPr>
            <a:spLocks noGrp="1"/>
          </p:cNvSpPr>
          <p:nvPr/>
        </p:nvSpPr>
        <p:spPr>
          <a:xfrm>
            <a:off x="666750" y="2838450"/>
            <a:ext cx="2286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06A9A5-C07F-4343-8372-117DB033966A}"/>
              </a:ext>
            </a:extLst>
          </p:cNvPr>
          <p:cNvSpPr>
            <a:spLocks noGrp="1"/>
          </p:cNvSpPr>
          <p:nvPr/>
        </p:nvSpPr>
        <p:spPr>
          <a:xfrm>
            <a:off x="933450" y="2838450"/>
            <a:ext cx="50673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 i="0">
                <a:solidFill>
                  <a:srgbClr val="183127"/>
                </a:solidFill>
              </a:defRPr>
            </a:pPr>
            <a:r>
              <a:rPr sz="1425" b="0" i="0">
                <a:solidFill>
                  <a:srgbClr val="183127"/>
                </a:solidFill>
              </a:rPr>
              <a:t>Nhân viên thực hiện nhiều bước kiểm tra giấy tờ và nhập liệu thủ công.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22C1ED2-3549-4903-BC40-C2F8FA2579D4}"/>
              </a:ext>
            </a:extLst>
          </p:cNvPr>
          <p:cNvSpPr>
            <a:spLocks noGrp="1"/>
          </p:cNvSpPr>
          <p:nvPr/>
        </p:nvSpPr>
        <p:spPr>
          <a:xfrm>
            <a:off x="666750" y="3581400"/>
            <a:ext cx="2286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D3B7A0-4512-46DF-A273-1D180D21CD28}"/>
              </a:ext>
            </a:extLst>
          </p:cNvPr>
          <p:cNvSpPr>
            <a:spLocks noGrp="1"/>
          </p:cNvSpPr>
          <p:nvPr/>
        </p:nvSpPr>
        <p:spPr>
          <a:xfrm>
            <a:off x="933450" y="3581400"/>
            <a:ext cx="50673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 i="0">
                <a:solidFill>
                  <a:srgbClr val="183127"/>
                </a:solidFill>
              </a:defRPr>
            </a:pPr>
            <a:r>
              <a:rPr sz="1425" b="0" i="0">
                <a:solidFill>
                  <a:srgbClr val="183127"/>
                </a:solidFill>
              </a:rPr>
              <a:t>Ngân hàng khó tiếp cận khách hàng ở xa hoặc cần mở tài khoản nhanh.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8507856-9332-4E49-A93B-8A6264AD5213}"/>
              </a:ext>
            </a:extLst>
          </p:cNvPr>
          <p:cNvSpPr>
            <a:spLocks noGrp="1"/>
          </p:cNvSpPr>
          <p:nvPr/>
        </p:nvSpPr>
        <p:spPr>
          <a:xfrm>
            <a:off x="666750" y="46196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 i="0">
                <a:solidFill>
                  <a:srgbClr val="2E5B3A"/>
                </a:solidFill>
              </a:defRPr>
            </a:pPr>
            <a:r>
              <a:rPr sz="1800" b="1" i="0">
                <a:solidFill>
                  <a:srgbClr val="2E5B3A"/>
                </a:solidFill>
              </a:rPr>
              <a:t>Câu hỏi trung tâm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FA8A56-D5A4-413D-ACBB-C6A2F1FDDEAD}"/>
              </a:ext>
            </a:extLst>
          </p:cNvPr>
          <p:cNvSpPr>
            <a:spLocks noGrp="1"/>
          </p:cNvSpPr>
          <p:nvPr/>
        </p:nvSpPr>
        <p:spPr>
          <a:xfrm>
            <a:off x="666750" y="5048250"/>
            <a:ext cx="53340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 i="0">
                <a:solidFill>
                  <a:srgbClr val="193B2B"/>
                </a:solidFill>
              </a:defRPr>
            </a:pPr>
            <a:r>
              <a:rPr sz="1875" b="1" i="0" dirty="0" err="1">
                <a:solidFill>
                  <a:srgbClr val="193B2B"/>
                </a:solidFill>
              </a:rPr>
              <a:t>Làm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thế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nào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để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khách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hàng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đủ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điều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kiện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có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thể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mở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tài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khoản</a:t>
            </a:r>
            <a:r>
              <a:rPr sz="1875" b="1" i="0" dirty="0">
                <a:solidFill>
                  <a:srgbClr val="193B2B"/>
                </a:solidFill>
              </a:rPr>
              <a:t> an </a:t>
            </a:r>
            <a:r>
              <a:rPr sz="1875" b="1" i="0" dirty="0" err="1">
                <a:solidFill>
                  <a:srgbClr val="193B2B"/>
                </a:solidFill>
              </a:rPr>
              <a:t>toàn</a:t>
            </a:r>
            <a:r>
              <a:rPr sz="1875" b="1" i="0" dirty="0">
                <a:solidFill>
                  <a:srgbClr val="193B2B"/>
                </a:solidFill>
              </a:rPr>
              <a:t>, </a:t>
            </a:r>
            <a:r>
              <a:rPr sz="1875" b="1" i="0" dirty="0" err="1">
                <a:solidFill>
                  <a:srgbClr val="193B2B"/>
                </a:solidFill>
              </a:rPr>
              <a:t>nhanh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chóng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và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hoàn</a:t>
            </a:r>
            <a:r>
              <a:rPr sz="1875" b="1" i="0" dirty="0">
                <a:solidFill>
                  <a:srgbClr val="193B2B"/>
                </a:solidFill>
              </a:rPr>
              <a:t> </a:t>
            </a:r>
            <a:r>
              <a:rPr sz="1875" b="1" i="0" dirty="0" err="1">
                <a:solidFill>
                  <a:srgbClr val="193B2B"/>
                </a:solidFill>
              </a:rPr>
              <a:t>toàn</a:t>
            </a:r>
            <a:r>
              <a:rPr sz="1875" b="1" i="0" dirty="0">
                <a:solidFill>
                  <a:srgbClr val="193B2B"/>
                </a:solidFill>
              </a:rPr>
              <a:t> online?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1B9FB7C-0946-4D8B-91AA-9668605EAA25}"/>
              </a:ext>
            </a:extLst>
          </p:cNvPr>
          <p:cNvSpPr>
            <a:spLocks noGrp="1"/>
          </p:cNvSpPr>
          <p:nvPr/>
        </p:nvSpPr>
        <p:spPr>
          <a:xfrm>
            <a:off x="6667500" y="1857375"/>
            <a:ext cx="209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2E5B3A"/>
                </a:solidFill>
              </a:defRPr>
            </a:pPr>
            <a:r>
              <a:rPr sz="4050" b="1" i="0" dirty="0">
                <a:solidFill>
                  <a:srgbClr val="2E5B3A"/>
                </a:solidFill>
              </a:rPr>
              <a:t>&lt;10</a:t>
            </a:r>
            <a:r>
              <a:rPr lang="en-US" sz="4050" b="1" i="0" dirty="0">
                <a:solidFill>
                  <a:srgbClr val="2E5B3A"/>
                </a:solidFill>
              </a:rPr>
              <a:t> </a:t>
            </a:r>
            <a:r>
              <a:rPr lang="en-US" sz="4050" b="1" i="0" dirty="0" err="1">
                <a:solidFill>
                  <a:srgbClr val="2E5B3A"/>
                </a:solidFill>
              </a:rPr>
              <a:t>phút</a:t>
            </a:r>
            <a:endParaRPr sz="4050" b="1" i="0" dirty="0">
              <a:solidFill>
                <a:srgbClr val="2E5B3A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5AA896-DB6B-4068-8992-45EC12E52C1D}"/>
              </a:ext>
            </a:extLst>
          </p:cNvPr>
          <p:cNvSpPr>
            <a:spLocks noGrp="1"/>
          </p:cNvSpPr>
          <p:nvPr/>
        </p:nvSpPr>
        <p:spPr>
          <a:xfrm>
            <a:off x="6762750" y="2543175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lang="vi-VN" sz="1275" dirty="0"/>
              <a:t>Mục tiêu trải nghiệm cho luồng thành công</a:t>
            </a:r>
            <a:endParaRPr sz="1275" b="0" i="0" dirty="0">
              <a:solidFill>
                <a:srgbClr val="65756B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E0F73F-2B6E-4C62-B131-2FF17A34E9EF}"/>
              </a:ext>
            </a:extLst>
          </p:cNvPr>
          <p:cNvSpPr>
            <a:spLocks noGrp="1"/>
          </p:cNvSpPr>
          <p:nvPr/>
        </p:nvSpPr>
        <p:spPr>
          <a:xfrm>
            <a:off x="9048750" y="1857375"/>
            <a:ext cx="2095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6B9A6E"/>
                </a:solidFill>
              </a:defRPr>
            </a:pPr>
            <a:r>
              <a:rPr lang="en-US" sz="4050" dirty="0"/>
              <a:t>70%</a:t>
            </a:r>
            <a:endParaRPr sz="4050" b="1" i="0" dirty="0">
              <a:solidFill>
                <a:srgbClr val="6B9A6E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1E428D-F676-4EDB-892A-DEB23BE530B4}"/>
              </a:ext>
            </a:extLst>
          </p:cNvPr>
          <p:cNvSpPr>
            <a:spLocks noGrp="1"/>
          </p:cNvSpPr>
          <p:nvPr/>
        </p:nvSpPr>
        <p:spPr>
          <a:xfrm>
            <a:off x="9144000" y="2543175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lang="en-US" sz="1275" dirty="0" err="1"/>
              <a:t>Giảm</a:t>
            </a:r>
            <a:r>
              <a:rPr lang="en-US" sz="1275" dirty="0"/>
              <a:t> s</a:t>
            </a:r>
            <a:r>
              <a:rPr lang="vi-VN" sz="1275" dirty="0"/>
              <a:t>ố hồ sơ cần xử lý thủ công</a:t>
            </a:r>
            <a:endParaRPr sz="1275" b="0" i="0" dirty="0">
              <a:solidFill>
                <a:srgbClr val="65756B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05103F-AE00-4969-B48E-52016DFA7275}"/>
              </a:ext>
            </a:extLst>
          </p:cNvPr>
          <p:cNvSpPr>
            <a:spLocks noGrp="1"/>
          </p:cNvSpPr>
          <p:nvPr/>
        </p:nvSpPr>
        <p:spPr>
          <a:xfrm>
            <a:off x="7858125" y="361950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294C64"/>
                </a:solidFill>
              </a:defRPr>
            </a:pPr>
            <a:r>
              <a:rPr lang="en-US" sz="4050" dirty="0"/>
              <a:t>40-50%</a:t>
            </a:r>
            <a:endParaRPr sz="4050" b="1" i="0" dirty="0">
              <a:solidFill>
                <a:srgbClr val="294C64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60DB37-1D2C-4EDC-914A-B1A403737E1B}"/>
              </a:ext>
            </a:extLst>
          </p:cNvPr>
          <p:cNvSpPr>
            <a:spLocks noGrp="1"/>
          </p:cNvSpPr>
          <p:nvPr/>
        </p:nvSpPr>
        <p:spPr>
          <a:xfrm>
            <a:off x="7953375" y="4305300"/>
            <a:ext cx="2190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lang="vi-VN" sz="1275" dirty="0"/>
              <a:t>Giảm chi phí xử lý/hồ sơ </a:t>
            </a:r>
            <a:endParaRPr sz="1275" b="0" i="0" dirty="0">
              <a:solidFill>
                <a:srgbClr val="65756B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842C91-421F-CF4B-B0F2-7C256E67DAE0}"/>
              </a:ext>
            </a:extLst>
          </p:cNvPr>
          <p:cNvSpPr>
            <a:spLocks noGrp="1"/>
          </p:cNvSpPr>
          <p:nvPr/>
        </p:nvSpPr>
        <p:spPr>
          <a:xfrm>
            <a:off x="6762750" y="5114925"/>
            <a:ext cx="5067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en-US" sz="1425" dirty="0"/>
              <a:t>B</a:t>
            </a:r>
            <a:r>
              <a:rPr lang="vi-VN" sz="1425" dirty="0"/>
              <a:t>aseline và mục tiêu giả định phục vụ đồ án; chưa đo thực tế</a:t>
            </a:r>
            <a:endParaRPr sz="1425" b="0" i="0" dirty="0">
              <a:solidFill>
                <a:srgbClr val="1831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628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4173BEAA-1827-425C-A32C-2A6656314E7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86CE07-B240-47CD-ABB1-9F729935351F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1. XÁC ĐỊNH NHU CẦU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F88821-38DB-4A99-BE6D-92E854804F63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Phạm vi MVP tập trung vào một hành trình rõ ràng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6F55EC-E0AB-422E-8FD6-FB2900583A1B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95C833-414B-480D-962D-987E8F55E41B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6B7C5D-2EC4-42CC-8BFF-BD2AF850E095}"/>
              </a:ext>
            </a:extLst>
          </p:cNvPr>
          <p:cNvSpPr>
            <a:spLocks noGrp="1"/>
          </p:cNvSpPr>
          <p:nvPr/>
        </p:nvSpPr>
        <p:spPr>
          <a:xfrm>
            <a:off x="666750" y="1571625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 i="0">
                <a:solidFill>
                  <a:srgbClr val="2E5B3A"/>
                </a:solidFill>
              </a:defRPr>
            </a:pPr>
            <a:r>
              <a:rPr sz="1800" b="1" i="0">
                <a:solidFill>
                  <a:srgbClr val="2E5B3A"/>
                </a:solidFill>
              </a:rPr>
              <a:t>Đối tượng chính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B025D3-A1CD-48C7-B51D-ED85D2969E66}"/>
              </a:ext>
            </a:extLst>
          </p:cNvPr>
          <p:cNvSpPr>
            <a:spLocks noGrp="1"/>
          </p:cNvSpPr>
          <p:nvPr/>
        </p:nvSpPr>
        <p:spPr>
          <a:xfrm>
            <a:off x="666750" y="2047875"/>
            <a:ext cx="4762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 i="0">
                <a:solidFill>
                  <a:srgbClr val="193B2B"/>
                </a:solidFill>
              </a:defRPr>
            </a:pPr>
            <a:r>
              <a:rPr sz="2325" b="1" i="0">
                <a:solidFill>
                  <a:srgbClr val="193B2B"/>
                </a:solidFill>
              </a:rPr>
              <a:t>Khách hàng cá nhân Việt Nam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8B3AE4-D58F-412E-8C57-9EE8FF6EFD0D}"/>
              </a:ext>
            </a:extLst>
          </p:cNvPr>
          <p:cNvSpPr>
            <a:spLocks noGrp="1"/>
          </p:cNvSpPr>
          <p:nvPr/>
        </p:nvSpPr>
        <p:spPr>
          <a:xfrm>
            <a:off x="666750" y="2571750"/>
            <a:ext cx="4953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 i="0">
                <a:solidFill>
                  <a:srgbClr val="65756B"/>
                </a:solidFill>
              </a:defRPr>
            </a:pPr>
            <a:r>
              <a:rPr lang="en-US" sz="1575" dirty="0"/>
              <a:t>T</a:t>
            </a:r>
            <a:r>
              <a:rPr lang="vi-VN" sz="1575" dirty="0"/>
              <a:t>ừ đủ 18 tuổi, CCCD còn hiệu lực và chưa có CIF tại ngân hàng</a:t>
            </a:r>
            <a:endParaRPr sz="1575" b="0" i="0" dirty="0">
              <a:solidFill>
                <a:srgbClr val="65756B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88DD922-0D04-4013-8DEB-F87AD93D4F76}"/>
              </a:ext>
            </a:extLst>
          </p:cNvPr>
          <p:cNvSpPr>
            <a:spLocks noGrp="1"/>
          </p:cNvSpPr>
          <p:nvPr/>
        </p:nvSpPr>
        <p:spPr>
          <a:xfrm>
            <a:off x="666750" y="3333750"/>
            <a:ext cx="4857750" cy="2724150"/>
          </a:xfrm>
          <a:prstGeom prst="roundRect">
            <a:avLst>
              <a:gd name="adj" fmla="val 5217"/>
            </a:avLst>
          </a:prstGeom>
          <a:solidFill>
            <a:srgbClr val="E4F1E2"/>
          </a:solidFill>
          <a:ln w="9525">
            <a:solidFill>
              <a:srgbClr val="A7C7A4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58D261-646F-424E-B1FE-28E7D822FFB1}"/>
              </a:ext>
            </a:extLst>
          </p:cNvPr>
          <p:cNvSpPr>
            <a:spLocks noGrp="1"/>
          </p:cNvSpPr>
          <p:nvPr/>
        </p:nvSpPr>
        <p:spPr>
          <a:xfrm>
            <a:off x="904875" y="3571875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2E5B3A"/>
                </a:solidFill>
              </a:defRPr>
            </a:pPr>
            <a:r>
              <a:rPr sz="1500" b="1" i="0">
                <a:solidFill>
                  <a:srgbClr val="2E5B3A"/>
                </a:solidFill>
              </a:rPr>
              <a:t>TRONG PHẠM VI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1B66AE-0B7A-4058-A6A7-3273EB4CA92B}"/>
              </a:ext>
            </a:extLst>
          </p:cNvPr>
          <p:cNvSpPr>
            <a:spLocks noGrp="1"/>
          </p:cNvSpPr>
          <p:nvPr/>
        </p:nvSpPr>
        <p:spPr>
          <a:xfrm>
            <a:off x="904875" y="4000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14F320-BE46-4D61-BB17-CDFAE551A405}"/>
              </a:ext>
            </a:extLst>
          </p:cNvPr>
          <p:cNvSpPr>
            <a:spLocks noGrp="1"/>
          </p:cNvSpPr>
          <p:nvPr/>
        </p:nvSpPr>
        <p:spPr>
          <a:xfrm>
            <a:off x="1171574" y="4000500"/>
            <a:ext cx="444817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 i="0">
                <a:solidFill>
                  <a:srgbClr val="183127"/>
                </a:solidFill>
              </a:defRPr>
            </a:pPr>
            <a:r>
              <a:rPr sz="1350" b="0" i="0" dirty="0" err="1">
                <a:solidFill>
                  <a:srgbClr val="183127"/>
                </a:solidFill>
              </a:rPr>
              <a:t>Xác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thực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số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điện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thoại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bằng</a:t>
            </a:r>
            <a:r>
              <a:rPr sz="1350" b="0" i="0" dirty="0">
                <a:solidFill>
                  <a:srgbClr val="183127"/>
                </a:solidFill>
              </a:rPr>
              <a:t> OTP</a:t>
            </a:r>
            <a:r>
              <a:rPr lang="en-US" sz="1350" b="0" i="0" dirty="0">
                <a:solidFill>
                  <a:srgbClr val="183127"/>
                </a:solidFill>
              </a:rPr>
              <a:t> t</a:t>
            </a:r>
            <a:r>
              <a:rPr lang="vi-VN" sz="1350" dirty="0"/>
              <a:t>heo giới hạn đã định nghĩa</a:t>
            </a:r>
            <a:endParaRPr sz="1350" b="0" i="0" dirty="0">
              <a:solidFill>
                <a:srgbClr val="183127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2BB6E4-8686-40A8-8CAA-2D8F96E8C176}"/>
              </a:ext>
            </a:extLst>
          </p:cNvPr>
          <p:cNvSpPr>
            <a:spLocks noGrp="1"/>
          </p:cNvSpPr>
          <p:nvPr/>
        </p:nvSpPr>
        <p:spPr>
          <a:xfrm>
            <a:off x="904875" y="4381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 dirty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8B08BA-5C61-4559-8CEC-14E8364D4B6A}"/>
              </a:ext>
            </a:extLst>
          </p:cNvPr>
          <p:cNvSpPr>
            <a:spLocks noGrp="1"/>
          </p:cNvSpPr>
          <p:nvPr/>
        </p:nvSpPr>
        <p:spPr>
          <a:xfrm>
            <a:off x="1171575" y="4381500"/>
            <a:ext cx="3924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 dirty="0">
                <a:solidFill>
                  <a:srgbClr val="183127"/>
                </a:solidFill>
              </a:rPr>
              <a:t>OCR CCCD, Face Matching, Liveness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756708-39BA-437E-B5C6-023601D0D91D}"/>
              </a:ext>
            </a:extLst>
          </p:cNvPr>
          <p:cNvSpPr>
            <a:spLocks noGrp="1"/>
          </p:cNvSpPr>
          <p:nvPr/>
        </p:nvSpPr>
        <p:spPr>
          <a:xfrm>
            <a:off x="904875" y="4762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AC4EDA-A750-463E-96E1-A3FB1F3E17F9}"/>
              </a:ext>
            </a:extLst>
          </p:cNvPr>
          <p:cNvSpPr>
            <a:spLocks noGrp="1"/>
          </p:cNvSpPr>
          <p:nvPr/>
        </p:nvSpPr>
        <p:spPr>
          <a:xfrm>
            <a:off x="1171575" y="4762500"/>
            <a:ext cx="3924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 i="0">
                <a:solidFill>
                  <a:srgbClr val="183127"/>
                </a:solidFill>
              </a:defRPr>
            </a:pPr>
            <a:r>
              <a:rPr lang="en-US" sz="1350" dirty="0"/>
              <a:t>G</a:t>
            </a:r>
            <a:r>
              <a:rPr lang="vi-VN" sz="1350" dirty="0"/>
              <a:t>ửi hồ sơ, kiểm tra CIF/CCCD trùng, tạo CIF/tài khoản và thông báo App/SMS</a:t>
            </a:r>
            <a:endParaRPr sz="1350" b="0" i="0" dirty="0">
              <a:solidFill>
                <a:srgbClr val="183127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D3733-F82B-4547-AFDC-EB6CC1601C0E}"/>
              </a:ext>
            </a:extLst>
          </p:cNvPr>
          <p:cNvSpPr>
            <a:spLocks noGrp="1"/>
          </p:cNvSpPr>
          <p:nvPr/>
        </p:nvSpPr>
        <p:spPr>
          <a:xfrm>
            <a:off x="895350" y="53340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 dirty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695861-E1FF-4B95-9D46-E677EDA9A13A}"/>
              </a:ext>
            </a:extLst>
          </p:cNvPr>
          <p:cNvSpPr>
            <a:spLocks noGrp="1"/>
          </p:cNvSpPr>
          <p:nvPr/>
        </p:nvSpPr>
        <p:spPr>
          <a:xfrm>
            <a:off x="1143000" y="5334393"/>
            <a:ext cx="3924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 i="0">
                <a:solidFill>
                  <a:srgbClr val="183127"/>
                </a:solidFill>
              </a:defRPr>
            </a:pPr>
            <a:r>
              <a:rPr lang="vi-VN" sz="1350" dirty="0"/>
              <a:t>Thiết lập username, mật khẩu và PIN; xác nhận thành công và tiếp tục sau gián đoạn</a:t>
            </a:r>
            <a:endParaRPr sz="1350" b="0" i="0" dirty="0">
              <a:solidFill>
                <a:srgbClr val="183127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4FFD232-E347-4B79-BEB1-1527AC60CC30}"/>
              </a:ext>
            </a:extLst>
          </p:cNvPr>
          <p:cNvSpPr>
            <a:spLocks noGrp="1"/>
          </p:cNvSpPr>
          <p:nvPr/>
        </p:nvSpPr>
        <p:spPr>
          <a:xfrm>
            <a:off x="6191250" y="3333750"/>
            <a:ext cx="4857750" cy="2190750"/>
          </a:xfrm>
          <a:prstGeom prst="roundRect">
            <a:avLst>
              <a:gd name="adj" fmla="val 5217"/>
            </a:avLst>
          </a:prstGeom>
          <a:solidFill>
            <a:srgbClr val="F7E7E5"/>
          </a:solidFill>
          <a:ln w="9525">
            <a:solidFill>
              <a:srgbClr val="D9A19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C9A588-944B-453B-BEEE-70E26A776E3B}"/>
              </a:ext>
            </a:extLst>
          </p:cNvPr>
          <p:cNvSpPr>
            <a:spLocks noGrp="1"/>
          </p:cNvSpPr>
          <p:nvPr/>
        </p:nvSpPr>
        <p:spPr>
          <a:xfrm>
            <a:off x="6429375" y="3571875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 i="0">
                <a:solidFill>
                  <a:srgbClr val="8A3B35"/>
                </a:solidFill>
              </a:defRPr>
            </a:pPr>
            <a:r>
              <a:rPr sz="1500" b="1" i="0">
                <a:solidFill>
                  <a:srgbClr val="8A3B35"/>
                </a:solidFill>
              </a:rPr>
              <a:t>NGOÀI PHẠM VI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8960A7-CEC8-40C0-978A-49144F0BF6AE}"/>
              </a:ext>
            </a:extLst>
          </p:cNvPr>
          <p:cNvSpPr>
            <a:spLocks noGrp="1"/>
          </p:cNvSpPr>
          <p:nvPr/>
        </p:nvSpPr>
        <p:spPr>
          <a:xfrm>
            <a:off x="6429375" y="4000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C96A60"/>
                </a:solidFill>
              </a:defRPr>
            </a:pPr>
            <a:r>
              <a:rPr sz="1350" b="1" i="0">
                <a:solidFill>
                  <a:srgbClr val="C96A60"/>
                </a:solidFill>
              </a:rPr>
              <a:t>•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E57C71-D17A-4E12-8383-DAFEFF658E39}"/>
              </a:ext>
            </a:extLst>
          </p:cNvPr>
          <p:cNvSpPr>
            <a:spLocks noGrp="1"/>
          </p:cNvSpPr>
          <p:nvPr/>
        </p:nvSpPr>
        <p:spPr>
          <a:xfrm>
            <a:off x="6696075" y="4000500"/>
            <a:ext cx="4324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 i="0">
                <a:solidFill>
                  <a:srgbClr val="183127"/>
                </a:solidFill>
              </a:defRPr>
            </a:pPr>
            <a:r>
              <a:rPr sz="1350" b="0" i="0" dirty="0" err="1">
                <a:solidFill>
                  <a:srgbClr val="183127"/>
                </a:solidFill>
              </a:rPr>
              <a:t>Khách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hàng</a:t>
            </a:r>
            <a:r>
              <a:rPr lang="en-US" sz="1350" b="0" i="0" dirty="0">
                <a:solidFill>
                  <a:srgbClr val="183127"/>
                </a:solidFill>
              </a:rPr>
              <a:t> </a:t>
            </a:r>
            <a:r>
              <a:rPr lang="vi-VN" sz="1350" dirty="0"/>
              <a:t>hiện hữu mở thêm tài khoản,</a:t>
            </a:r>
            <a:r>
              <a:rPr lang="en-US" sz="1350" dirty="0"/>
              <a:t> 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doanh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nghiệp</a:t>
            </a:r>
            <a:endParaRPr sz="1350" b="0" i="0" dirty="0">
              <a:solidFill>
                <a:srgbClr val="183127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7E2A09-739D-46D8-A4BD-78CD6993CED4}"/>
              </a:ext>
            </a:extLst>
          </p:cNvPr>
          <p:cNvSpPr>
            <a:spLocks noGrp="1"/>
          </p:cNvSpPr>
          <p:nvPr/>
        </p:nvSpPr>
        <p:spPr>
          <a:xfrm>
            <a:off x="6429375" y="4381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C96A60"/>
                </a:solidFill>
              </a:defRPr>
            </a:pPr>
            <a:r>
              <a:rPr sz="1350" b="1" i="0">
                <a:solidFill>
                  <a:srgbClr val="C96A60"/>
                </a:solidFill>
              </a:rPr>
              <a:t>•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12E76C-82E5-4962-BAF3-2405EB841EC0}"/>
              </a:ext>
            </a:extLst>
          </p:cNvPr>
          <p:cNvSpPr>
            <a:spLocks noGrp="1"/>
          </p:cNvSpPr>
          <p:nvPr/>
        </p:nvSpPr>
        <p:spPr>
          <a:xfrm>
            <a:off x="6696075" y="4381500"/>
            <a:ext cx="3924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Người nước ngoài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F92078-2873-4CDF-AB88-DC8AAF071B77}"/>
              </a:ext>
            </a:extLst>
          </p:cNvPr>
          <p:cNvSpPr>
            <a:spLocks noGrp="1"/>
          </p:cNvSpPr>
          <p:nvPr/>
        </p:nvSpPr>
        <p:spPr>
          <a:xfrm>
            <a:off x="6429375" y="4762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C96A60"/>
                </a:solidFill>
              </a:defRPr>
            </a:pPr>
            <a:r>
              <a:rPr sz="1350" b="1" i="0">
                <a:solidFill>
                  <a:srgbClr val="C96A60"/>
                </a:solidFill>
              </a:rPr>
              <a:t>•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8005F9B-D85A-436D-A458-83A286B7BB91}"/>
              </a:ext>
            </a:extLst>
          </p:cNvPr>
          <p:cNvSpPr>
            <a:spLocks noGrp="1"/>
          </p:cNvSpPr>
          <p:nvPr/>
        </p:nvSpPr>
        <p:spPr>
          <a:xfrm>
            <a:off x="6696075" y="4762500"/>
            <a:ext cx="3924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Phát hành và giao thẻ vật lý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855FFCD-B820-4136-B947-86CD728AC191}"/>
              </a:ext>
            </a:extLst>
          </p:cNvPr>
          <p:cNvSpPr>
            <a:spLocks noGrp="1"/>
          </p:cNvSpPr>
          <p:nvPr/>
        </p:nvSpPr>
        <p:spPr>
          <a:xfrm>
            <a:off x="6429375" y="5143500"/>
            <a:ext cx="228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C96A60"/>
                </a:solidFill>
              </a:defRPr>
            </a:pPr>
            <a:r>
              <a:rPr sz="1350" b="1" i="0">
                <a:solidFill>
                  <a:srgbClr val="C96A60"/>
                </a:solidFill>
              </a:rPr>
              <a:t>•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B95D3D-81AB-4162-A944-8D715C9F4030}"/>
              </a:ext>
            </a:extLst>
          </p:cNvPr>
          <p:cNvSpPr>
            <a:spLocks noGrp="1"/>
          </p:cNvSpPr>
          <p:nvPr/>
        </p:nvSpPr>
        <p:spPr>
          <a:xfrm>
            <a:off x="6696075" y="5143500"/>
            <a:ext cx="3924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Các sản phẩm tín dụng hoặc đầu tư</a:t>
            </a:r>
          </a:p>
        </p:txBody>
      </p:sp>
    </p:spTree>
    <p:extLst>
      <p:ext uri="{BB962C8B-B14F-4D97-AF65-F5344CB8AC3E}">
        <p14:creationId xmlns:p14="http://schemas.microsoft.com/office/powerpoint/2010/main" val="492152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69A72A7-1448-4267-9D95-1E7108EFE023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BBDD84-E4F9-4915-973E-BF1277C6AE52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1. XÁC ĐỊNH NHU CẦU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F8252C1-DCF7-4140-9B71-C3C7BB9DB991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7657781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 dirty="0">
                <a:solidFill>
                  <a:srgbClr val="193B2B"/>
                </a:solidFill>
              </a:rPr>
              <a:t>BACCM </a:t>
            </a:r>
            <a:r>
              <a:rPr sz="2850" b="1" i="0" dirty="0" err="1">
                <a:solidFill>
                  <a:srgbClr val="193B2B"/>
                </a:solidFill>
              </a:rPr>
              <a:t>kết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nối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nhu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cầu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kinh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doanh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với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giải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pháp</a:t>
            </a:r>
            <a:endParaRPr sz="2850" b="1" i="0" dirty="0">
              <a:solidFill>
                <a:srgbClr val="193B2B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4DA2E6-6C15-45D5-A6D2-4BBDBB51145D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97F0C5-46F4-43B9-B3B9-19879928E022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4453E1B-7F96-D508-1479-7704092DFC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5" t="5143" r="2795" b="169"/>
          <a:stretch>
            <a:fillRect/>
          </a:stretch>
        </p:blipFill>
        <p:spPr>
          <a:xfrm>
            <a:off x="2412869" y="1406280"/>
            <a:ext cx="7297989" cy="48531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D0B4F14-86BE-D97A-AF4C-5D177146B140}"/>
              </a:ext>
            </a:extLst>
          </p:cNvPr>
          <p:cNvSpPr txBox="1"/>
          <p:nvPr/>
        </p:nvSpPr>
        <p:spPr>
          <a:xfrm>
            <a:off x="9710858" y="800100"/>
            <a:ext cx="14333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Link </a:t>
            </a:r>
            <a:r>
              <a:rPr lang="en-US" dirty="0">
                <a:hlinkClick r:id="rId4"/>
              </a:rPr>
              <a:t>Figma</a:t>
            </a:r>
            <a:endParaRPr lang="vi-V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4A9EC8-32DD-ED8C-D97A-30B7958D0D6E}"/>
              </a:ext>
            </a:extLst>
          </p:cNvPr>
          <p:cNvSpPr txBox="1"/>
          <p:nvPr/>
        </p:nvSpPr>
        <p:spPr>
          <a:xfrm>
            <a:off x="3676650" y="6342668"/>
            <a:ext cx="517531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600" dirty="0"/>
              <a:t>Các số liệu là mục tiêu giả định của đồ án, chưa đo thực tế.</a:t>
            </a:r>
          </a:p>
        </p:txBody>
      </p:sp>
    </p:spTree>
    <p:extLst>
      <p:ext uri="{BB962C8B-B14F-4D97-AF65-F5344CB8AC3E}">
        <p14:creationId xmlns:p14="http://schemas.microsoft.com/office/powerpoint/2010/main" val="858836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65F11FA-D727-42D2-AE15-B96CD21BB3A2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415AE8-605F-49E8-B534-68010BECC131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1. XÁC ĐỊNH NHU CẦU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41AE12-C5D9-46A7-8203-DD449FA6501F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Mỗi stakeholder quan tâm một khía cạnh khác nhau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DF7F52-0F05-44DC-8B66-1632A434EF67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9394E0-4962-4E18-941E-006EDB2E4DAD}"/>
              </a:ext>
            </a:extLst>
          </p:cNvPr>
          <p:cNvSpPr>
            <a:spLocks noGrp="1"/>
          </p:cNvSpPr>
          <p:nvPr/>
        </p:nvSpPr>
        <p:spPr>
          <a:xfrm>
            <a:off x="10572750" y="6242233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9F3F7D5-BC1A-47CF-B2BC-5A47C3C3A858}"/>
              </a:ext>
            </a:extLst>
          </p:cNvPr>
          <p:cNvSpPr>
            <a:spLocks noGrp="1"/>
          </p:cNvSpPr>
          <p:nvPr/>
        </p:nvSpPr>
        <p:spPr>
          <a:xfrm>
            <a:off x="762000" y="13811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65756B"/>
                </a:solidFill>
              </a:defRPr>
            </a:pPr>
            <a:r>
              <a:rPr sz="1200" b="1" i="0">
                <a:solidFill>
                  <a:srgbClr val="65756B"/>
                </a:solidFill>
              </a:rPr>
              <a:t>STAKEHOLDER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167D7-9CE5-4E74-9818-9C0CDFC3B4EC}"/>
              </a:ext>
            </a:extLst>
          </p:cNvPr>
          <p:cNvSpPr>
            <a:spLocks noGrp="1"/>
          </p:cNvSpPr>
          <p:nvPr/>
        </p:nvSpPr>
        <p:spPr>
          <a:xfrm>
            <a:off x="4381500" y="1381125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65756B"/>
                </a:solidFill>
              </a:defRPr>
            </a:pPr>
            <a:r>
              <a:rPr sz="1200" b="1" i="0">
                <a:solidFill>
                  <a:srgbClr val="65756B"/>
                </a:solidFill>
              </a:rPr>
              <a:t>NHU CẦU CHÍNH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DF5B226-3208-4F98-A35C-612707CF7FED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 i="0">
                <a:solidFill>
                  <a:srgbClr val="2E5B3A"/>
                </a:solidFill>
              </a:rPr>
              <a:t>Khách hàng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DE4226-1B38-4746-833F-6B6A88F48D2C}"/>
              </a:ext>
            </a:extLst>
          </p:cNvPr>
          <p:cNvSpPr>
            <a:spLocks noGrp="1"/>
          </p:cNvSpPr>
          <p:nvPr/>
        </p:nvSpPr>
        <p:spPr>
          <a:xfrm>
            <a:off x="4381500" y="1714500"/>
            <a:ext cx="657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sz="1425"/>
              <a:t>Quy trình nhanh, dễ sử dụng; biết rõ trạng thái hồ sơ và nguyên nhân lỗi.</a:t>
            </a:r>
            <a:endParaRPr sz="1425" b="0" i="0">
              <a:solidFill>
                <a:srgbClr val="183127"/>
              </a:solidFill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DC1C988-A216-489A-9BAC-79B6C419FD4F}"/>
              </a:ext>
            </a:extLst>
          </p:cNvPr>
          <p:cNvSpPr>
            <a:spLocks noGrp="1"/>
          </p:cNvSpPr>
          <p:nvPr/>
        </p:nvSpPr>
        <p:spPr>
          <a:xfrm>
            <a:off x="762000" y="2206438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A50439C-B06B-46B1-B71E-1D145E0B9ADE}"/>
              </a:ext>
            </a:extLst>
          </p:cNvPr>
          <p:cNvSpPr>
            <a:spLocks noGrp="1"/>
          </p:cNvSpPr>
          <p:nvPr/>
        </p:nvSpPr>
        <p:spPr>
          <a:xfrm>
            <a:off x="762000" y="2344834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 i="0">
                <a:solidFill>
                  <a:srgbClr val="2E5B3A"/>
                </a:solidFill>
              </a:rPr>
              <a:t>Ban lãnh đạo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3FE255-3DDB-48C0-A588-0C03D0523677}"/>
              </a:ext>
            </a:extLst>
          </p:cNvPr>
          <p:cNvSpPr>
            <a:spLocks noGrp="1"/>
          </p:cNvSpPr>
          <p:nvPr/>
        </p:nvSpPr>
        <p:spPr>
          <a:xfrm>
            <a:off x="4381500" y="2344834"/>
            <a:ext cx="657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sz="1425"/>
              <a:t>Giảm chi phí xử lý, tăng tỷ lệ mở tài khoản và mở rộng phạm vi phục vụ.</a:t>
            </a:r>
            <a:endParaRPr sz="1425" b="0" i="0">
              <a:solidFill>
                <a:srgbClr val="183127"/>
              </a:solidFill>
            </a:endParaRP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F82172E2-597A-4FFC-84C5-1238D3801EE1}"/>
              </a:ext>
            </a:extLst>
          </p:cNvPr>
          <p:cNvSpPr>
            <a:spLocks noGrp="1"/>
          </p:cNvSpPr>
          <p:nvPr/>
        </p:nvSpPr>
        <p:spPr>
          <a:xfrm>
            <a:off x="762000" y="2872629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5FA554-6415-42F7-9BC0-87681F51D96A}"/>
              </a:ext>
            </a:extLst>
          </p:cNvPr>
          <p:cNvSpPr>
            <a:spLocks noGrp="1"/>
          </p:cNvSpPr>
          <p:nvPr/>
        </p:nvSpPr>
        <p:spPr>
          <a:xfrm>
            <a:off x="762000" y="3100387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 i="0">
                <a:solidFill>
                  <a:srgbClr val="2E5B3A"/>
                </a:solidFill>
              </a:rPr>
              <a:t>Bộ phận </a:t>
            </a:r>
            <a:r>
              <a:rPr sz="1575" b="1">
                <a:solidFill>
                  <a:srgbClr val="2E5B3A"/>
                </a:solidFill>
              </a:rPr>
              <a:t>p</a:t>
            </a:r>
            <a:r>
              <a:rPr sz="1575" b="1" i="0">
                <a:solidFill>
                  <a:srgbClr val="2E5B3A"/>
                </a:solidFill>
              </a:rPr>
              <a:t>háp chế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08C962-3A66-48B9-84C2-DF8B95A005FC}"/>
              </a:ext>
            </a:extLst>
          </p:cNvPr>
          <p:cNvSpPr>
            <a:spLocks noGrp="1"/>
          </p:cNvSpPr>
          <p:nvPr/>
        </p:nvSpPr>
        <p:spPr>
          <a:xfrm>
            <a:off x="4381500" y="3100387"/>
            <a:ext cx="657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sz="1425"/>
              <a:t>Quy trình eKYC tuân thủ quy định, bảo vệ dữ liệu cá nhân và có dấu vết kiểm toán.</a:t>
            </a:r>
            <a:endParaRPr sz="1425" b="0" i="0">
              <a:solidFill>
                <a:srgbClr val="183127"/>
              </a:solidFill>
            </a:endParaRP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15138C5-6DFF-42AA-A582-573E06114C8F}"/>
              </a:ext>
            </a:extLst>
          </p:cNvPr>
          <p:cNvSpPr>
            <a:spLocks noGrp="1"/>
          </p:cNvSpPr>
          <p:nvPr/>
        </p:nvSpPr>
        <p:spPr>
          <a:xfrm>
            <a:off x="762000" y="3637147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46883B-0A11-45BC-A3CB-41AA12F0152F}"/>
              </a:ext>
            </a:extLst>
          </p:cNvPr>
          <p:cNvSpPr>
            <a:spLocks noGrp="1"/>
          </p:cNvSpPr>
          <p:nvPr/>
        </p:nvSpPr>
        <p:spPr>
          <a:xfrm>
            <a:off x="762000" y="3865461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 i="0">
                <a:solidFill>
                  <a:srgbClr val="2E5B3A"/>
                </a:solidFill>
              </a:rPr>
              <a:t>Bộ phận 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75B6FD-DB73-447B-8F4B-CF4B76172F0C}"/>
              </a:ext>
            </a:extLst>
          </p:cNvPr>
          <p:cNvSpPr>
            <a:spLocks noGrp="1"/>
          </p:cNvSpPr>
          <p:nvPr/>
        </p:nvSpPr>
        <p:spPr>
          <a:xfrm>
            <a:off x="4381500" y="3865461"/>
            <a:ext cx="657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sz="1425" dirty="0" err="1"/>
              <a:t>Luồng</a:t>
            </a:r>
            <a:r>
              <a:rPr sz="1425" dirty="0"/>
              <a:t> </a:t>
            </a:r>
            <a:r>
              <a:rPr sz="1425" dirty="0" err="1"/>
              <a:t>xử</a:t>
            </a:r>
            <a:r>
              <a:rPr sz="1425" dirty="0"/>
              <a:t> </a:t>
            </a:r>
            <a:r>
              <a:rPr sz="1425" dirty="0" err="1"/>
              <a:t>lý</a:t>
            </a:r>
            <a:r>
              <a:rPr sz="1425" dirty="0"/>
              <a:t> </a:t>
            </a:r>
            <a:r>
              <a:rPr sz="1425" dirty="0" err="1"/>
              <a:t>rõ</a:t>
            </a:r>
            <a:r>
              <a:rPr sz="1425" dirty="0"/>
              <a:t> </a:t>
            </a:r>
            <a:r>
              <a:rPr sz="1425" dirty="0" err="1"/>
              <a:t>ràng</a:t>
            </a:r>
            <a:r>
              <a:rPr sz="1425" dirty="0"/>
              <a:t>, </a:t>
            </a:r>
            <a:r>
              <a:rPr sz="1425" dirty="0" err="1"/>
              <a:t>dữ</a:t>
            </a:r>
            <a:r>
              <a:rPr sz="1425" dirty="0"/>
              <a:t> </a:t>
            </a:r>
            <a:r>
              <a:rPr sz="1425" dirty="0" err="1"/>
              <a:t>liệu</a:t>
            </a:r>
            <a:r>
              <a:rPr sz="1425" dirty="0"/>
              <a:t> </a:t>
            </a:r>
            <a:r>
              <a:rPr sz="1425" dirty="0" err="1"/>
              <a:t>nhất</a:t>
            </a:r>
            <a:r>
              <a:rPr sz="1425" dirty="0"/>
              <a:t> </a:t>
            </a:r>
            <a:r>
              <a:rPr sz="1425" dirty="0" err="1"/>
              <a:t>quán</a:t>
            </a:r>
            <a:r>
              <a:rPr sz="1425" dirty="0"/>
              <a:t>, </a:t>
            </a:r>
            <a:r>
              <a:rPr sz="1425" dirty="0" err="1"/>
              <a:t>tích</a:t>
            </a:r>
            <a:r>
              <a:rPr sz="1425" dirty="0"/>
              <a:t> </a:t>
            </a:r>
            <a:r>
              <a:rPr sz="1425" dirty="0" err="1"/>
              <a:t>hợp</a:t>
            </a:r>
            <a:r>
              <a:rPr sz="1425" dirty="0"/>
              <a:t> API </a:t>
            </a:r>
            <a:r>
              <a:rPr sz="1425" dirty="0" err="1"/>
              <a:t>ổn</a:t>
            </a:r>
            <a:r>
              <a:rPr sz="1425" dirty="0"/>
              <a:t> </a:t>
            </a:r>
            <a:r>
              <a:rPr sz="1425" dirty="0" err="1"/>
              <a:t>định</a:t>
            </a:r>
            <a:r>
              <a:rPr sz="1425" dirty="0"/>
              <a:t> </a:t>
            </a:r>
            <a:r>
              <a:rPr sz="1425" dirty="0" err="1"/>
              <a:t>và</a:t>
            </a:r>
            <a:r>
              <a:rPr sz="1425" dirty="0"/>
              <a:t> </a:t>
            </a:r>
            <a:r>
              <a:rPr sz="1425" dirty="0" err="1"/>
              <a:t>mã</a:t>
            </a:r>
            <a:r>
              <a:rPr sz="1425" dirty="0"/>
              <a:t> </a:t>
            </a:r>
            <a:r>
              <a:rPr sz="1425" dirty="0" err="1"/>
              <a:t>lỗi</a:t>
            </a:r>
            <a:r>
              <a:rPr sz="1425" dirty="0"/>
              <a:t> </a:t>
            </a:r>
            <a:r>
              <a:rPr sz="1425" dirty="0" err="1"/>
              <a:t>thống</a:t>
            </a:r>
            <a:r>
              <a:rPr sz="1425" dirty="0"/>
              <a:t> </a:t>
            </a:r>
            <a:r>
              <a:rPr sz="1425" dirty="0" err="1"/>
              <a:t>nhất</a:t>
            </a:r>
            <a:r>
              <a:rPr sz="1425" dirty="0"/>
              <a:t>.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AB0CCD-096E-4169-B015-0A4CF7638477}"/>
              </a:ext>
            </a:extLst>
          </p:cNvPr>
          <p:cNvSpPr>
            <a:spLocks noGrp="1"/>
          </p:cNvSpPr>
          <p:nvPr/>
        </p:nvSpPr>
        <p:spPr>
          <a:xfrm>
            <a:off x="762000" y="4429122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825E9-6B53-44FA-802F-3A3B2E5FF947}"/>
              </a:ext>
            </a:extLst>
          </p:cNvPr>
          <p:cNvSpPr>
            <a:spLocks noGrp="1"/>
          </p:cNvSpPr>
          <p:nvPr/>
        </p:nvSpPr>
        <p:spPr>
          <a:xfrm>
            <a:off x="762000" y="4684057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 i="0">
                <a:solidFill>
                  <a:srgbClr val="2E5B3A"/>
                </a:solidFill>
              </a:rPr>
              <a:t>eKYC  Vendor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589D62-D7D7-42DD-9042-6F29CF92A9D2}"/>
              </a:ext>
            </a:extLst>
          </p:cNvPr>
          <p:cNvSpPr>
            <a:spLocks noGrp="1"/>
          </p:cNvSpPr>
          <p:nvPr/>
        </p:nvSpPr>
        <p:spPr>
          <a:xfrm>
            <a:off x="4381500" y="4684057"/>
            <a:ext cx="70485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Contract tích hợp rõ, ảnh CCCD và video khuôn mặt đạt yêu cầu đầu vào, phản hồi ổn định.</a:t>
            </a:r>
            <a:endParaRPr sz="1425" i="0" dirty="0">
              <a:solidFill>
                <a:srgbClr val="183127"/>
              </a:solidFill>
            </a:endParaRP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98200748-F559-4F65-9954-14E027F1009E}"/>
              </a:ext>
            </a:extLst>
          </p:cNvPr>
          <p:cNvSpPr>
            <a:spLocks noGrp="1"/>
          </p:cNvSpPr>
          <p:nvPr/>
        </p:nvSpPr>
        <p:spPr>
          <a:xfrm>
            <a:off x="762000" y="5247712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C40FE7-D57F-6C91-77CA-0B40D334D22A}"/>
              </a:ext>
            </a:extLst>
          </p:cNvPr>
          <p:cNvSpPr>
            <a:spLocks noGrp="1"/>
          </p:cNvSpPr>
          <p:nvPr/>
        </p:nvSpPr>
        <p:spPr>
          <a:xfrm>
            <a:off x="762000" y="5494242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>
                <a:solidFill>
                  <a:srgbClr val="2E5B3A"/>
                </a:solidFill>
              </a:rPr>
              <a:t>CSKH </a:t>
            </a:r>
            <a:endParaRPr sz="1575" b="1" i="0">
              <a:solidFill>
                <a:srgbClr val="2E5B3A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86657FA-0263-BFEE-E2B9-16BD5A76A737}"/>
              </a:ext>
            </a:extLst>
          </p:cNvPr>
          <p:cNvSpPr>
            <a:spLocks noGrp="1"/>
          </p:cNvSpPr>
          <p:nvPr/>
        </p:nvSpPr>
        <p:spPr>
          <a:xfrm>
            <a:off x="4381500" y="5494242"/>
            <a:ext cx="657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sz="1425"/>
              <a:t>Tra cứu được trạng thái hồ sơ, mã lỗi và nguyên nhân để hỗ trợ khách hàng.</a:t>
            </a:r>
            <a:endParaRPr sz="1425" b="0" i="0">
              <a:solidFill>
                <a:srgbClr val="183127"/>
              </a:solidFill>
            </a:endParaRP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2C3BBEDC-5AFD-0369-79B2-791654629CD0}"/>
              </a:ext>
            </a:extLst>
          </p:cNvPr>
          <p:cNvSpPr>
            <a:spLocks noGrp="1"/>
          </p:cNvSpPr>
          <p:nvPr/>
        </p:nvSpPr>
        <p:spPr>
          <a:xfrm>
            <a:off x="762000" y="6013078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35111F5-4E19-A369-3B3D-528596DD2C23}"/>
              </a:ext>
            </a:extLst>
          </p:cNvPr>
          <p:cNvSpPr>
            <a:spLocks noGrp="1"/>
          </p:cNvSpPr>
          <p:nvPr/>
        </p:nvSpPr>
        <p:spPr>
          <a:xfrm>
            <a:off x="762000" y="6205258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 i="0">
                <a:solidFill>
                  <a:srgbClr val="2E5B3A"/>
                </a:solidFill>
              </a:defRPr>
            </a:pPr>
            <a:r>
              <a:rPr sz="1575" b="1"/>
              <a:t>NHNN</a:t>
            </a:r>
            <a:endParaRPr sz="1575" b="1" i="0">
              <a:solidFill>
                <a:srgbClr val="2E5B3A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8C03428-ABA0-A0DD-7B74-0A0BDA0B6932}"/>
              </a:ext>
            </a:extLst>
          </p:cNvPr>
          <p:cNvSpPr>
            <a:spLocks noGrp="1"/>
          </p:cNvSpPr>
          <p:nvPr/>
        </p:nvSpPr>
        <p:spPr>
          <a:xfrm>
            <a:off x="4394949" y="6189005"/>
            <a:ext cx="6572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sz="1425"/>
              <a:t>Ngân hàng tuân thủ quy định về định danh điện tử, bảo mật và kiểm soát rủi ro.</a:t>
            </a:r>
            <a:endParaRPr sz="1425" b="0" i="0">
              <a:solidFill>
                <a:srgbClr val="1831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2320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8393CEB-679A-4A71-B7DA-962A47DB3EB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F14693-525A-481C-B6AF-8CA91C608D8A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1. XÁC ĐỊNH NHU CẦU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24624D-1411-45CC-87C5-E72E1DAB0402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Các Business Rule quyết định cách hệ thống rẽ nhánh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19981-1759-4CB4-9B9D-1AF8F8BB845E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32353-2666-47E0-9513-7EA98EBCF402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33DBD0-C3F9-4653-AA6D-88CEFFD49F2D}"/>
              </a:ext>
            </a:extLst>
          </p:cNvPr>
          <p:cNvSpPr>
            <a:spLocks noGrp="1"/>
          </p:cNvSpPr>
          <p:nvPr/>
        </p:nvSpPr>
        <p:spPr>
          <a:xfrm>
            <a:off x="762000" y="171450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2E5B3A"/>
                </a:solidFill>
              </a:defRPr>
            </a:pPr>
            <a:r>
              <a:rPr lang="vi-VN" sz="4050" b="1" dirty="0"/>
              <a:t>≥</a:t>
            </a:r>
            <a:r>
              <a:rPr sz="4050" b="1" i="0" dirty="0">
                <a:solidFill>
                  <a:srgbClr val="2E5B3A"/>
                </a:solidFill>
              </a:rPr>
              <a:t>85</a:t>
            </a:r>
            <a:r>
              <a:rPr lang="en-US" sz="4050" b="1" i="0" dirty="0">
                <a:solidFill>
                  <a:srgbClr val="2E5B3A"/>
                </a:solidFill>
              </a:rPr>
              <a:t>/100</a:t>
            </a:r>
            <a:endParaRPr sz="4050" b="1" i="0" dirty="0">
              <a:solidFill>
                <a:srgbClr val="2E5B3A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DF40C-D0A6-4364-B623-5947CA3C60FB}"/>
              </a:ext>
            </a:extLst>
          </p:cNvPr>
          <p:cNvSpPr>
            <a:spLocks noGrp="1"/>
          </p:cNvSpPr>
          <p:nvPr/>
        </p:nvSpPr>
        <p:spPr>
          <a:xfrm>
            <a:off x="857250" y="2400300"/>
            <a:ext cx="2190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sz="1275" b="0" i="0">
                <a:solidFill>
                  <a:srgbClr val="65756B"/>
                </a:solidFill>
              </a:rPr>
              <a:t>Ngưỡng confidence cho OCR/Face Matching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9D881-EFD4-48AC-BE09-547A84D54749}"/>
              </a:ext>
            </a:extLst>
          </p:cNvPr>
          <p:cNvSpPr>
            <a:spLocks noGrp="1"/>
          </p:cNvSpPr>
          <p:nvPr/>
        </p:nvSpPr>
        <p:spPr>
          <a:xfrm>
            <a:off x="3524250" y="171450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6B9A6E"/>
                </a:solidFill>
              </a:defRPr>
            </a:pPr>
            <a:r>
              <a:rPr sz="4050" b="1" i="0">
                <a:solidFill>
                  <a:srgbClr val="6B9A6E"/>
                </a:solidFill>
              </a:rPr>
              <a:t>3 lớp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064620-C332-48B1-AF50-BC92EE2290DF}"/>
              </a:ext>
            </a:extLst>
          </p:cNvPr>
          <p:cNvSpPr>
            <a:spLocks noGrp="1"/>
          </p:cNvSpPr>
          <p:nvPr/>
        </p:nvSpPr>
        <p:spPr>
          <a:xfrm>
            <a:off x="3619500" y="2400300"/>
            <a:ext cx="2190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sz="1275" b="0" i="0">
                <a:solidFill>
                  <a:srgbClr val="65756B"/>
                </a:solidFill>
              </a:rPr>
              <a:t>OCR - Face Matching - Liveness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3E3200-A1A1-4DDA-894C-2A50684F49AB}"/>
              </a:ext>
            </a:extLst>
          </p:cNvPr>
          <p:cNvSpPr>
            <a:spLocks noGrp="1"/>
          </p:cNvSpPr>
          <p:nvPr/>
        </p:nvSpPr>
        <p:spPr>
          <a:xfrm>
            <a:off x="6286500" y="1714500"/>
            <a:ext cx="2381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294C64"/>
                </a:solidFill>
              </a:defRPr>
            </a:pPr>
            <a:r>
              <a:rPr sz="4050" b="1" i="0">
                <a:solidFill>
                  <a:srgbClr val="294C64"/>
                </a:solidFill>
              </a:rPr>
              <a:t>3 lần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FDDD91-2D97-4AA4-BDA1-8183C898F952}"/>
              </a:ext>
            </a:extLst>
          </p:cNvPr>
          <p:cNvSpPr>
            <a:spLocks noGrp="1"/>
          </p:cNvSpPr>
          <p:nvPr/>
        </p:nvSpPr>
        <p:spPr>
          <a:xfrm>
            <a:off x="6381750" y="2400300"/>
            <a:ext cx="2190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lang="vi-VN" sz="1275" dirty="0"/>
              <a:t>Tổng Fail nghiệp vụ eKYC trước khi dừng online</a:t>
            </a:r>
            <a:endParaRPr sz="1275" b="0" i="0" dirty="0">
              <a:solidFill>
                <a:srgbClr val="65756B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919FB6-1B09-4A74-9E08-3D2FCFEB0FEA}"/>
              </a:ext>
            </a:extLst>
          </p:cNvPr>
          <p:cNvSpPr>
            <a:spLocks noGrp="1"/>
          </p:cNvSpPr>
          <p:nvPr/>
        </p:nvSpPr>
        <p:spPr>
          <a:xfrm>
            <a:off x="9048750" y="1714500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050" b="1" i="0">
                <a:solidFill>
                  <a:srgbClr val="2E5B3A"/>
                </a:solidFill>
              </a:defRPr>
            </a:pPr>
            <a:r>
              <a:rPr lang="vi-VN" sz="4050" dirty="0"/>
              <a:t>5 lần</a:t>
            </a:r>
            <a:endParaRPr sz="4050" b="1" i="0" dirty="0">
              <a:solidFill>
                <a:srgbClr val="2E5B3A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24C38E8-9F7B-4517-8FC3-C4686894355B}"/>
              </a:ext>
            </a:extLst>
          </p:cNvPr>
          <p:cNvSpPr>
            <a:spLocks noGrp="1"/>
          </p:cNvSpPr>
          <p:nvPr/>
        </p:nvSpPr>
        <p:spPr>
          <a:xfrm>
            <a:off x="9144000" y="240030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0" i="0">
                <a:solidFill>
                  <a:srgbClr val="65756B"/>
                </a:solidFill>
              </a:defRPr>
            </a:pPr>
            <a:r>
              <a:rPr lang="vi-VN" sz="1275" dirty="0"/>
              <a:t>Nhập sai OTP: khóa xác thực 15 phút</a:t>
            </a:r>
            <a:endParaRPr sz="1275" i="0" dirty="0">
              <a:solidFill>
                <a:srgbClr val="65756B"/>
              </a:solidFill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77E5C32A-CA5B-4EA6-9C55-939416BC8DB3}"/>
              </a:ext>
            </a:extLst>
          </p:cNvPr>
          <p:cNvSpPr>
            <a:spLocks noGrp="1"/>
          </p:cNvSpPr>
          <p:nvPr/>
        </p:nvSpPr>
        <p:spPr>
          <a:xfrm>
            <a:off x="762000" y="3333750"/>
            <a:ext cx="10287000" cy="9525"/>
          </a:xfrm>
          <a:prstGeom prst="line">
            <a:avLst/>
          </a:prstGeom>
          <a:noFill/>
          <a:ln w="9525">
            <a:solidFill>
              <a:srgbClr val="A7C7A4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4C210A-C264-434D-8D61-99A3AA72C025}"/>
              </a:ext>
            </a:extLst>
          </p:cNvPr>
          <p:cNvSpPr>
            <a:spLocks noGrp="1"/>
          </p:cNvSpPr>
          <p:nvPr/>
        </p:nvSpPr>
        <p:spPr>
          <a:xfrm>
            <a:off x="857250" y="3714750"/>
            <a:ext cx="2286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FBA078-8570-4CC6-9D9B-77152F918835}"/>
              </a:ext>
            </a:extLst>
          </p:cNvPr>
          <p:cNvSpPr>
            <a:spLocks noGrp="1"/>
          </p:cNvSpPr>
          <p:nvPr/>
        </p:nvSpPr>
        <p:spPr>
          <a:xfrm>
            <a:off x="1123950" y="3714750"/>
            <a:ext cx="93535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OCR và Face/Liveness dùng chung bộ đếm Fail; dưới 3 cho thử lại bước tương ứng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CAAE16-D912-4FA2-BFED-18F84325B1B0}"/>
              </a:ext>
            </a:extLst>
          </p:cNvPr>
          <p:cNvSpPr>
            <a:spLocks noGrp="1"/>
          </p:cNvSpPr>
          <p:nvPr/>
        </p:nvSpPr>
        <p:spPr>
          <a:xfrm>
            <a:off x="857250" y="4257675"/>
            <a:ext cx="2286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BA51DD-0972-4CCD-B9A1-17D0B1D48247}"/>
              </a:ext>
            </a:extLst>
          </p:cNvPr>
          <p:cNvSpPr>
            <a:spLocks noGrp="1"/>
          </p:cNvSpPr>
          <p:nvPr/>
        </p:nvSpPr>
        <p:spPr>
          <a:xfrm>
            <a:off x="1123950" y="4257675"/>
            <a:ext cx="93535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Đủ 3 Fail: dừng online, hướng dẫn hỗ trợ/đến quầy. Lỗi kỹ thuật không tăng bộ đếm</a:t>
            </a:r>
            <a:r>
              <a:rPr lang="en-US" sz="1425" dirty="0"/>
              <a:t>.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D39E89F-8199-4E42-AF59-4B6FE9203B3D}"/>
              </a:ext>
            </a:extLst>
          </p:cNvPr>
          <p:cNvSpPr>
            <a:spLocks noGrp="1"/>
          </p:cNvSpPr>
          <p:nvPr/>
        </p:nvSpPr>
        <p:spPr>
          <a:xfrm>
            <a:off x="857250" y="4800600"/>
            <a:ext cx="2286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A500AE-2C84-4AD4-AE50-7E6FC000D46E}"/>
              </a:ext>
            </a:extLst>
          </p:cNvPr>
          <p:cNvSpPr>
            <a:spLocks noGrp="1"/>
          </p:cNvSpPr>
          <p:nvPr/>
        </p:nvSpPr>
        <p:spPr>
          <a:xfrm>
            <a:off x="1123950" y="4800600"/>
            <a:ext cx="93535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CCCD thuộc khách hàng hiện hữu: từ chối mở mới. Tiếp tục chính hồ sơ đã tạo CIF/tài khoản thì dùng kết quả hiện có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2ECE875-DB90-4EC1-81D3-3A3D6ADA400C}"/>
              </a:ext>
            </a:extLst>
          </p:cNvPr>
          <p:cNvSpPr>
            <a:spLocks noGrp="1"/>
          </p:cNvSpPr>
          <p:nvPr/>
        </p:nvSpPr>
        <p:spPr>
          <a:xfrm>
            <a:off x="857250" y="5343525"/>
            <a:ext cx="22860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773DF4E-812D-40C9-8425-D62432206205}"/>
              </a:ext>
            </a:extLst>
          </p:cNvPr>
          <p:cNvSpPr>
            <a:spLocks noGrp="1"/>
          </p:cNvSpPr>
          <p:nvPr/>
        </p:nvSpPr>
        <p:spPr>
          <a:xfrm>
            <a:off x="1123950" y="5343525"/>
            <a:ext cx="9353550" cy="542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Yêu cầu mật khẩu/PIN lưu hash bcrypt; dữ liệu và log nhạy cảm được bảo vệ. Chưa triển khai/kiểm chứng hệ thống thực tế</a:t>
            </a:r>
            <a:endParaRPr sz="1425" b="0" i="0" dirty="0">
              <a:solidFill>
                <a:srgbClr val="1831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23336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E68C0EF-2054-45E9-A898-5A0E25AAD68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A27B82-8CB7-447F-99CE-9CBFC0FF32EC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1. XÁC ĐỊNH NHU CẦU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01D68F-28A6-41ED-A157-BAB5590C142A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 i="0">
                <a:solidFill>
                  <a:srgbClr val="193B2B"/>
                </a:solidFill>
              </a:defRPr>
            </a:pPr>
            <a:r>
              <a:rPr lang="vi-VN" sz="2850" dirty="0"/>
              <a:t>User Story Map xác định phạm vi MVP</a:t>
            </a:r>
            <a:endParaRPr sz="2850" b="1" i="0" dirty="0">
              <a:solidFill>
                <a:srgbClr val="193B2B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A4DDDD-64E1-499E-A772-166F83E86B63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2BBC8A-6FD6-493A-ACF5-C6AC08FAE281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F882438-60FB-46C6-B470-1F9DB89D20E0}"/>
              </a:ext>
            </a:extLst>
          </p:cNvPr>
          <p:cNvSpPr>
            <a:spLocks noGrp="1"/>
          </p:cNvSpPr>
          <p:nvPr/>
        </p:nvSpPr>
        <p:spPr>
          <a:xfrm>
            <a:off x="2095500" y="619125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 i="1">
                <a:solidFill>
                  <a:srgbClr val="65756B"/>
                </a:solidFill>
              </a:defRPr>
            </a:pPr>
            <a:r>
              <a:rPr lang="vi-VN" sz="1350" dirty="0"/>
              <a:t>Đọc hoạt động từ trái sang phải; luồng chính và các điều kiện/ngoại lệ ở đây đều thuộc MVP đề xuất</a:t>
            </a:r>
            <a:endParaRPr sz="1350" b="0" i="1" dirty="0">
              <a:solidFill>
                <a:srgbClr val="65756B"/>
              </a:solidFill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43272E2-D80A-99C9-CAD8-320EC34E08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9923" y="1316267"/>
            <a:ext cx="9163654" cy="4787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71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54ABB1-5362-4F4B-8870-1E1336616930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06197F-743D-44B0-81AC-01EB36046B3F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2. QUY TRÌNH NGHIỆP VỤ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205C31-8BA1-4F8C-8CAB-FBCB469CF42D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BPMN To-Be mô tả luồng business giữa 3 bên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842B71-2604-4EF9-9715-E6C1C27E262F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09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E07E44-C3E7-4320-8658-F9015EC01FAF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A0C61CF-2F6F-4653-B34F-3E995D13A0EC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10858500" cy="419100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C8D9C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F955049-8025-4F9C-88FF-1E2C422BEE4B}"/>
              </a:ext>
            </a:extLst>
          </p:cNvPr>
          <p:cNvSpPr>
            <a:spLocks noGrp="1"/>
          </p:cNvSpPr>
          <p:nvPr/>
        </p:nvSpPr>
        <p:spPr>
          <a:xfrm>
            <a:off x="1143000" y="58102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2E5B3A"/>
                </a:solidFill>
              </a:defRPr>
            </a:pPr>
            <a:r>
              <a:rPr sz="1350" b="1" i="0">
                <a:solidFill>
                  <a:srgbClr val="2E5B3A"/>
                </a:solidFill>
              </a:rPr>
              <a:t>Khách hàng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8E992B-60E5-45C8-B340-78811F6DD676}"/>
              </a:ext>
            </a:extLst>
          </p:cNvPr>
          <p:cNvSpPr>
            <a:spLocks noGrp="1"/>
          </p:cNvSpPr>
          <p:nvPr/>
        </p:nvSpPr>
        <p:spPr>
          <a:xfrm>
            <a:off x="4381500" y="58102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2E5B3A"/>
                </a:solidFill>
              </a:defRPr>
            </a:pPr>
            <a:r>
              <a:rPr sz="1350" b="1" i="0">
                <a:solidFill>
                  <a:srgbClr val="2E5B3A"/>
                </a:solidFill>
              </a:rPr>
              <a:t>Hệ thống ngân hàng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6DA1B8-6450-4547-AF0B-5693B13748C4}"/>
              </a:ext>
            </a:extLst>
          </p:cNvPr>
          <p:cNvSpPr>
            <a:spLocks noGrp="1"/>
          </p:cNvSpPr>
          <p:nvPr/>
        </p:nvSpPr>
        <p:spPr>
          <a:xfrm>
            <a:off x="8191500" y="58102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2E5B3A"/>
                </a:solidFill>
              </a:defRPr>
            </a:pPr>
            <a:r>
              <a:rPr sz="1350" b="1" i="0">
                <a:solidFill>
                  <a:srgbClr val="2E5B3A"/>
                </a:solidFill>
              </a:rPr>
              <a:t>Hệ thống eKYC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CDCF10-003D-F0AE-8451-BAD0E7EEA1EF}"/>
              </a:ext>
            </a:extLst>
          </p:cNvPr>
          <p:cNvSpPr>
            <a:spLocks noGrp="1"/>
          </p:cNvSpPr>
          <p:nvPr/>
        </p:nvSpPr>
        <p:spPr>
          <a:xfrm>
            <a:off x="9694506" y="886408"/>
            <a:ext cx="1449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Link </a:t>
            </a:r>
            <a:r>
              <a:rPr dirty="0">
                <a:hlinkClick r:id="rId3"/>
              </a:rPr>
              <a:t>Draw.io</a:t>
            </a:r>
            <a:endParaRPr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DD76E5D-F83A-75F7-289A-A37F713A46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575" y="1532548"/>
            <a:ext cx="10610850" cy="3896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172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392228-9A5E-457A-9F7C-B0424322669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4B018E-7250-4E4F-9F24-7E059F99BB45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2. QUY TRÌNH NGHIỆP VỤ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F8C98C-F1F9-4890-9BEF-C43B33BD124E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BFD nhóm hệ thống thành 4 cụm chức năng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C5D175-33E8-46BF-9FC3-6C90F661872B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E0948B-C019-4860-B5A3-2B8975F5CE21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42A6A63-1502-4C9D-97E8-AB2C6CEC1704}"/>
              </a:ext>
            </a:extLst>
          </p:cNvPr>
          <p:cNvSpPr>
            <a:spLocks noGrp="1"/>
          </p:cNvSpPr>
          <p:nvPr/>
        </p:nvSpPr>
        <p:spPr>
          <a:xfrm>
            <a:off x="952500" y="1476375"/>
            <a:ext cx="10287000" cy="428625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8D9C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1B9970-FB88-498A-9829-31427ABA48C2}"/>
              </a:ext>
            </a:extLst>
          </p:cNvPr>
          <p:cNvSpPr>
            <a:spLocks noGrp="1"/>
          </p:cNvSpPr>
          <p:nvPr/>
        </p:nvSpPr>
        <p:spPr>
          <a:xfrm>
            <a:off x="952500" y="59055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2E5B3A"/>
                </a:solidFill>
              </a:defRPr>
            </a:pPr>
            <a:r>
              <a:rPr sz="1275" b="1" i="0">
                <a:solidFill>
                  <a:srgbClr val="2E5B3A"/>
                </a:solidFill>
              </a:rPr>
              <a:t>01  Xác thực người dùng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2D2BB73-65A5-40BA-8127-1E22DD624AB7}"/>
              </a:ext>
            </a:extLst>
          </p:cNvPr>
          <p:cNvSpPr>
            <a:spLocks noGrp="1"/>
          </p:cNvSpPr>
          <p:nvPr/>
        </p:nvSpPr>
        <p:spPr>
          <a:xfrm>
            <a:off x="3619500" y="590550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2E5B3A"/>
                </a:solidFill>
              </a:defRPr>
            </a:pPr>
            <a:r>
              <a:rPr sz="1275" b="1" i="0">
                <a:solidFill>
                  <a:srgbClr val="2E5B3A"/>
                </a:solidFill>
              </a:rPr>
              <a:t>02  Quản lý hồ sơ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AEC228-E5BF-433C-9E73-D4DA3B2B33C7}"/>
              </a:ext>
            </a:extLst>
          </p:cNvPr>
          <p:cNvSpPr>
            <a:spLocks noGrp="1"/>
          </p:cNvSpPr>
          <p:nvPr/>
        </p:nvSpPr>
        <p:spPr>
          <a:xfrm>
            <a:off x="6191250" y="59055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2E5B3A"/>
                </a:solidFill>
              </a:defRPr>
            </a:pPr>
            <a:r>
              <a:rPr sz="1275" b="1" i="0">
                <a:solidFill>
                  <a:srgbClr val="2E5B3A"/>
                </a:solidFill>
              </a:rPr>
              <a:t>03  Tạo tài khoản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BDE006-E976-457A-81F2-76061BB42285}"/>
              </a:ext>
            </a:extLst>
          </p:cNvPr>
          <p:cNvSpPr>
            <a:spLocks noGrp="1"/>
          </p:cNvSpPr>
          <p:nvPr/>
        </p:nvSpPr>
        <p:spPr>
          <a:xfrm>
            <a:off x="8572500" y="5905500"/>
            <a:ext cx="228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 i="0">
                <a:solidFill>
                  <a:srgbClr val="2E5B3A"/>
                </a:solidFill>
              </a:defRPr>
            </a:pPr>
            <a:r>
              <a:rPr sz="1275" b="1" i="0">
                <a:solidFill>
                  <a:srgbClr val="2E5B3A"/>
                </a:solidFill>
              </a:rPr>
              <a:t>04  Kích hoạt dịch vụ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027F43-F411-1956-B63B-15989289F368}"/>
              </a:ext>
            </a:extLst>
          </p:cNvPr>
          <p:cNvSpPr>
            <a:spLocks noGrp="1"/>
          </p:cNvSpPr>
          <p:nvPr/>
        </p:nvSpPr>
        <p:spPr>
          <a:xfrm>
            <a:off x="9694506" y="886408"/>
            <a:ext cx="1449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Link </a:t>
            </a:r>
            <a:r>
              <a:rPr dirty="0">
                <a:hlinkClick r:id="rId3"/>
              </a:rPr>
              <a:t>Draw.io</a:t>
            </a:r>
            <a:endParaRPr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606AC99-0B0B-1E48-5B87-A09E61C69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330" y="1585827"/>
            <a:ext cx="8330497" cy="4116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90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5F38557-588A-48A1-B418-A280B3104A20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AA3688-D285-4443-8C72-4DAF99B27F36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2. QUY TRÌNH NGHIỆP VỤ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C18B95-C6D8-474B-A486-FB0AF44C8263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Use Case xác định phạm vi tương tác của 3 actor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4B0252-6CAB-4356-9423-CDE4CFF4953A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BDCB25-5DE3-4B40-AF3F-DA80B9D2A915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12F7F7A-E2B2-4015-A414-BDCAB7E678A3}"/>
              </a:ext>
            </a:extLst>
          </p:cNvPr>
          <p:cNvSpPr>
            <a:spLocks noGrp="1"/>
          </p:cNvSpPr>
          <p:nvPr/>
        </p:nvSpPr>
        <p:spPr>
          <a:xfrm>
            <a:off x="1095375" y="1381125"/>
            <a:ext cx="1000125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8D9C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06E6EA-44B1-4481-9B78-959D8960D76D}"/>
              </a:ext>
            </a:extLst>
          </p:cNvPr>
          <p:cNvSpPr>
            <a:spLocks noGrp="1"/>
          </p:cNvSpPr>
          <p:nvPr/>
        </p:nvSpPr>
        <p:spPr>
          <a:xfrm>
            <a:off x="1333500" y="61436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2E5B3A"/>
                </a:solidFill>
              </a:defRPr>
            </a:pPr>
            <a:r>
              <a:rPr sz="1350" b="1" i="0">
                <a:solidFill>
                  <a:srgbClr val="2E5B3A"/>
                </a:solidFill>
              </a:rPr>
              <a:t>Khách hàng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9DF16D-3694-4652-95C8-A79F8E86FFB4}"/>
              </a:ext>
            </a:extLst>
          </p:cNvPr>
          <p:cNvSpPr>
            <a:spLocks noGrp="1"/>
          </p:cNvSpPr>
          <p:nvPr/>
        </p:nvSpPr>
        <p:spPr>
          <a:xfrm>
            <a:off x="4953000" y="6143625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2E5B3A"/>
                </a:solidFill>
              </a:defRPr>
            </a:pPr>
            <a:r>
              <a:rPr sz="1350" b="1" i="0">
                <a:solidFill>
                  <a:srgbClr val="2E5B3A"/>
                </a:solidFill>
              </a:rPr>
              <a:t>Hệ thống ngân hàng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950F95-58DE-4189-A9BE-1297EC9E58B0}"/>
              </a:ext>
            </a:extLst>
          </p:cNvPr>
          <p:cNvSpPr>
            <a:spLocks noGrp="1"/>
          </p:cNvSpPr>
          <p:nvPr/>
        </p:nvSpPr>
        <p:spPr>
          <a:xfrm>
            <a:off x="8763000" y="61436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2E5B3A"/>
                </a:solidFill>
              </a:defRPr>
            </a:pPr>
            <a:r>
              <a:rPr sz="1350" b="1" i="0">
                <a:solidFill>
                  <a:srgbClr val="2E5B3A"/>
                </a:solidFill>
              </a:rPr>
              <a:t>Hệ thống eKYC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038D62-64D9-B518-9B98-7BE49C83F1B4}"/>
              </a:ext>
            </a:extLst>
          </p:cNvPr>
          <p:cNvSpPr>
            <a:spLocks noGrp="1"/>
          </p:cNvSpPr>
          <p:nvPr/>
        </p:nvSpPr>
        <p:spPr>
          <a:xfrm>
            <a:off x="9694506" y="886408"/>
            <a:ext cx="1449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Link </a:t>
            </a:r>
            <a:r>
              <a:rPr dirty="0">
                <a:hlinkClick r:id="rId3"/>
              </a:rPr>
              <a:t>Draw.io</a:t>
            </a:r>
            <a:endParaRPr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D1A330D-4876-4B13-F3BF-FAA5108B59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025" y="1466289"/>
            <a:ext cx="7891188" cy="4544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759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9D2652E-26BC-4BEC-AF3E-757B80E1AA25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662F10-17E4-4884-9CE4-7FA3CD24882C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2. QUY TRÌNH NGHIỆP VỤ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9E039A-DE18-45C2-84A8-0DD8928DE9C6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Activity Diagram làm rõ điều kiện và vòng lặp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03F373-8498-4C2A-AD95-508160D2B94C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D8F81F-ED1F-4E0B-9CE4-E4E80DB749E0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DE5D8F-926C-48FD-A756-492E43B987D2}"/>
              </a:ext>
            </a:extLst>
          </p:cNvPr>
          <p:cNvSpPr>
            <a:spLocks noGrp="1"/>
          </p:cNvSpPr>
          <p:nvPr/>
        </p:nvSpPr>
        <p:spPr>
          <a:xfrm>
            <a:off x="6191250" y="17145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75" b="1" i="0">
                <a:solidFill>
                  <a:srgbClr val="2E5B3A"/>
                </a:solidFill>
              </a:defRPr>
            </a:pPr>
            <a:r>
              <a:rPr sz="1875" b="1" i="0">
                <a:solidFill>
                  <a:srgbClr val="2E5B3A"/>
                </a:solidFill>
              </a:rPr>
              <a:t>Logic cần nhấn mạnh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B193D0-AE2A-47A6-87D0-B50DD2C5BAE2}"/>
              </a:ext>
            </a:extLst>
          </p:cNvPr>
          <p:cNvSpPr>
            <a:spLocks noGrp="1"/>
          </p:cNvSpPr>
          <p:nvPr/>
        </p:nvSpPr>
        <p:spPr>
          <a:xfrm>
            <a:off x="6191250" y="2238375"/>
            <a:ext cx="228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17C6B2-2E9C-4EC1-854E-4BA78A29DDD4}"/>
              </a:ext>
            </a:extLst>
          </p:cNvPr>
          <p:cNvSpPr>
            <a:spLocks noGrp="1"/>
          </p:cNvSpPr>
          <p:nvPr/>
        </p:nvSpPr>
        <p:spPr>
          <a:xfrm>
            <a:off x="6457950" y="2238375"/>
            <a:ext cx="4495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OTP sai còn hạn/còn lượt: nhập lại; đủ 5 lần sai khóa 15 phút; hết hạn yêu cầu mã mới theo giới hạn gửi lại</a:t>
            </a:r>
            <a:r>
              <a:rPr lang="en-US" sz="1425" dirty="0"/>
              <a:t>.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34455-546D-4F0D-A472-B087CA73CF82}"/>
              </a:ext>
            </a:extLst>
          </p:cNvPr>
          <p:cNvSpPr>
            <a:spLocks noGrp="1"/>
          </p:cNvSpPr>
          <p:nvPr/>
        </p:nvSpPr>
        <p:spPr>
          <a:xfrm>
            <a:off x="6191250" y="2828925"/>
            <a:ext cx="228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24F899-17E1-435F-BB1F-52A8B0ABDCBD}"/>
              </a:ext>
            </a:extLst>
          </p:cNvPr>
          <p:cNvSpPr>
            <a:spLocks noGrp="1"/>
          </p:cNvSpPr>
          <p:nvPr/>
        </p:nvSpPr>
        <p:spPr>
          <a:xfrm>
            <a:off x="6457950" y="2828925"/>
            <a:ext cx="4495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OCR và Face/Liveness dùng chung bộ đếm Fail nghiệp vụ; lỗi kỹ thuật không cộng Fail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7B0ED9-D4E1-4D27-BB70-10B82191D82C}"/>
              </a:ext>
            </a:extLst>
          </p:cNvPr>
          <p:cNvSpPr>
            <a:spLocks noGrp="1"/>
          </p:cNvSpPr>
          <p:nvPr/>
        </p:nvSpPr>
        <p:spPr>
          <a:xfrm>
            <a:off x="6191250" y="3419475"/>
            <a:ext cx="228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DA2F5C-13A0-4740-8E90-CC1B9289FC75}"/>
              </a:ext>
            </a:extLst>
          </p:cNvPr>
          <p:cNvSpPr>
            <a:spLocks noGrp="1"/>
          </p:cNvSpPr>
          <p:nvPr/>
        </p:nvSpPr>
        <p:spPr>
          <a:xfrm>
            <a:off x="6457950" y="3419475"/>
            <a:ext cx="4495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Fail dưới 3: thử lại bước tương ứng; đủ 3: dừng online và hướng dẫn hỗ trợ/quầy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E6D680-4E0C-43AE-BA36-C8DD37C16469}"/>
              </a:ext>
            </a:extLst>
          </p:cNvPr>
          <p:cNvSpPr>
            <a:spLocks noGrp="1"/>
          </p:cNvSpPr>
          <p:nvPr/>
        </p:nvSpPr>
        <p:spPr>
          <a:xfrm>
            <a:off x="6191250" y="4010025"/>
            <a:ext cx="228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D8C117-3F48-4317-8F8C-4CC59958CF20}"/>
              </a:ext>
            </a:extLst>
          </p:cNvPr>
          <p:cNvSpPr>
            <a:spLocks noGrp="1"/>
          </p:cNvSpPr>
          <p:nvPr/>
        </p:nvSpPr>
        <p:spPr>
          <a:xfrm>
            <a:off x="6457950" y="4010025"/>
            <a:ext cx="4495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Xác nhận thông tin OCR trước Face; khách hàng hiện hữu bị từ chối mở mới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45951E-8038-4DF5-A325-013C6560B48F}"/>
              </a:ext>
            </a:extLst>
          </p:cNvPr>
          <p:cNvSpPr>
            <a:spLocks noGrp="1"/>
          </p:cNvSpPr>
          <p:nvPr/>
        </p:nvSpPr>
        <p:spPr>
          <a:xfrm>
            <a:off x="6191250" y="4600575"/>
            <a:ext cx="228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5FACB87-4432-4B4D-B2AB-579C981BE1A1}"/>
              </a:ext>
            </a:extLst>
          </p:cNvPr>
          <p:cNvSpPr>
            <a:spLocks noGrp="1"/>
          </p:cNvSpPr>
          <p:nvPr/>
        </p:nvSpPr>
        <p:spPr>
          <a:xfrm>
            <a:off x="6457950" y="4600575"/>
            <a:ext cx="44958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Chỉ hoàn tất khi đã xác nhận lưu/kích hoạt eBanking và PIN thành công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E2E907-17C2-AF6E-3032-CB9E4A1964AA}"/>
              </a:ext>
            </a:extLst>
          </p:cNvPr>
          <p:cNvSpPr>
            <a:spLocks noGrp="1"/>
          </p:cNvSpPr>
          <p:nvPr/>
        </p:nvSpPr>
        <p:spPr>
          <a:xfrm>
            <a:off x="9694506" y="886408"/>
            <a:ext cx="1449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Link </a:t>
            </a:r>
            <a:r>
              <a:rPr dirty="0">
                <a:hlinkClick r:id="rId3"/>
              </a:rPr>
              <a:t>Draw.io</a:t>
            </a:r>
            <a:endParaRPr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0BE7C7-40A0-DFDD-6D76-318485E103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250" y="1323975"/>
            <a:ext cx="3223945" cy="540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2594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2F0A979-F9E0-4A3B-97BA-1DB1EDE01B1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CE86366-637A-4D4C-8B05-A5F99D33588C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2. QUY TRÌNH NGHIỆP VỤ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85519F6-A4E5-48CC-963F-B838065B4682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 i="0">
                <a:solidFill>
                  <a:srgbClr val="193B2B"/>
                </a:solidFill>
              </a:defRPr>
            </a:pPr>
            <a:r>
              <a:rPr sz="2850" b="1" i="0" dirty="0">
                <a:solidFill>
                  <a:srgbClr val="193B2B"/>
                </a:solidFill>
              </a:rPr>
              <a:t>Sequence Diagram </a:t>
            </a:r>
            <a:r>
              <a:rPr sz="2850" b="1" i="0" dirty="0" err="1">
                <a:solidFill>
                  <a:srgbClr val="193B2B"/>
                </a:solidFill>
              </a:rPr>
              <a:t>thống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nhất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lang="vi-VN" sz="2850" dirty="0"/>
              <a:t>tương tác giữa các thành phần</a:t>
            </a:r>
            <a:endParaRPr sz="2850" b="1" i="0" dirty="0">
              <a:solidFill>
                <a:srgbClr val="193B2B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6BE94C-83B2-4C9F-A84E-7304DA9B3095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F62295-93E3-4EB5-840F-FB5E29FC1F7F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2F9676-769C-43DE-8AC7-ED0180FF68C3}"/>
              </a:ext>
            </a:extLst>
          </p:cNvPr>
          <p:cNvSpPr>
            <a:spLocks noGrp="1"/>
          </p:cNvSpPr>
          <p:nvPr/>
        </p:nvSpPr>
        <p:spPr>
          <a:xfrm>
            <a:off x="5905500" y="3726435"/>
            <a:ext cx="581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0" i="1">
                <a:solidFill>
                  <a:srgbClr val="65756B"/>
                </a:solidFill>
              </a:defRPr>
            </a:pPr>
            <a:r>
              <a:rPr sz="1350" b="0" i="1">
                <a:solidFill>
                  <a:srgbClr val="65756B"/>
                </a:solidFill>
              </a:rPr>
              <a:t>4 lifeline: Khách hàng - Ứng dụng - Hệ thống ngân hàng - Hệ thống eKYC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147E66-4972-69C9-4CFB-F429CCF5F3D5}"/>
              </a:ext>
            </a:extLst>
          </p:cNvPr>
          <p:cNvSpPr>
            <a:spLocks noGrp="1"/>
          </p:cNvSpPr>
          <p:nvPr/>
        </p:nvSpPr>
        <p:spPr>
          <a:xfrm>
            <a:off x="6224447" y="1863561"/>
            <a:ext cx="14497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Link </a:t>
            </a:r>
            <a:r>
              <a:rPr dirty="0">
                <a:hlinkClick r:id="rId3"/>
              </a:rPr>
              <a:t>Draw.io</a:t>
            </a:r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0D49C64-F6F1-2AE9-DC34-09E09BCA3F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891" y="1323975"/>
            <a:ext cx="3186155" cy="5408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729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50BC54C-DEF7-4B6F-847A-3EC92DD239F5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5D4644-312E-4AEE-BCB7-EFE10BA3E6AE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8B9799-27FF-4E2B-A856-D74192E3EE21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ERD quản lý cả hồ sơ nháp và khách hàng chính thức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EBF74-85EE-40CE-B6C8-4B318998E287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FB3A52-B822-4A1B-81B2-F39CA33D73E0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4E62F63-69F8-4E9E-9C19-068635608C21}"/>
              </a:ext>
            </a:extLst>
          </p:cNvPr>
          <p:cNvSpPr>
            <a:spLocks noGrp="1"/>
          </p:cNvSpPr>
          <p:nvPr/>
        </p:nvSpPr>
        <p:spPr>
          <a:xfrm>
            <a:off x="571500" y="1428750"/>
            <a:ext cx="7524750" cy="4714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8D9C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BFCB45-8DC8-460C-9B08-FF0FE2567EE0}"/>
              </a:ext>
            </a:extLst>
          </p:cNvPr>
          <p:cNvSpPr>
            <a:spLocks noGrp="1"/>
          </p:cNvSpPr>
          <p:nvPr/>
        </p:nvSpPr>
        <p:spPr>
          <a:xfrm>
            <a:off x="8572500" y="1666875"/>
            <a:ext cx="247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75" b="1" i="0">
                <a:solidFill>
                  <a:srgbClr val="2E5B3A"/>
                </a:solidFill>
              </a:defRPr>
            </a:pPr>
            <a:r>
              <a:rPr sz="2175" b="1" i="0">
                <a:solidFill>
                  <a:srgbClr val="2E5B3A"/>
                </a:solidFill>
              </a:rPr>
              <a:t>7 bảng chính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8278C2-7A41-42CC-BF6C-453DFE7D57F4}"/>
              </a:ext>
            </a:extLst>
          </p:cNvPr>
          <p:cNvSpPr>
            <a:spLocks noGrp="1"/>
          </p:cNvSpPr>
          <p:nvPr/>
        </p:nvSpPr>
        <p:spPr>
          <a:xfrm>
            <a:off x="8572500" y="223837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CD3F77-514C-4A5B-A263-97B7AEC3E442}"/>
              </a:ext>
            </a:extLst>
          </p:cNvPr>
          <p:cNvSpPr>
            <a:spLocks noGrp="1"/>
          </p:cNvSpPr>
          <p:nvPr/>
        </p:nvSpPr>
        <p:spPr>
          <a:xfrm>
            <a:off x="8839200" y="223837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HoSoDangKy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36FC5D-A54C-4439-9185-432AE6B23E39}"/>
              </a:ext>
            </a:extLst>
          </p:cNvPr>
          <p:cNvSpPr>
            <a:spLocks noGrp="1"/>
          </p:cNvSpPr>
          <p:nvPr/>
        </p:nvSpPr>
        <p:spPr>
          <a:xfrm>
            <a:off x="8572500" y="267652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0E62CE-5BAF-4617-96C8-E8079525F450}"/>
              </a:ext>
            </a:extLst>
          </p:cNvPr>
          <p:cNvSpPr>
            <a:spLocks noGrp="1"/>
          </p:cNvSpPr>
          <p:nvPr/>
        </p:nvSpPr>
        <p:spPr>
          <a:xfrm>
            <a:off x="8839200" y="267652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LichSuOTP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2CD733-B60A-4B0E-BA00-40FCCBF8AE9A}"/>
              </a:ext>
            </a:extLst>
          </p:cNvPr>
          <p:cNvSpPr>
            <a:spLocks noGrp="1"/>
          </p:cNvSpPr>
          <p:nvPr/>
        </p:nvSpPr>
        <p:spPr>
          <a:xfrm>
            <a:off x="8572500" y="311467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ADC175-EC4F-4D80-8EEA-BA8110C4F106}"/>
              </a:ext>
            </a:extLst>
          </p:cNvPr>
          <p:cNvSpPr>
            <a:spLocks noGrp="1"/>
          </p:cNvSpPr>
          <p:nvPr/>
        </p:nvSpPr>
        <p:spPr>
          <a:xfrm>
            <a:off x="8839200" y="311467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LichSuXacThucEKYC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BD83EE-A231-4627-AB08-07B64023A3CF}"/>
              </a:ext>
            </a:extLst>
          </p:cNvPr>
          <p:cNvSpPr>
            <a:spLocks noGrp="1"/>
          </p:cNvSpPr>
          <p:nvPr/>
        </p:nvSpPr>
        <p:spPr>
          <a:xfrm>
            <a:off x="8572500" y="355282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A7D4AB-B244-46EA-8816-C8AA8870E70D}"/>
              </a:ext>
            </a:extLst>
          </p:cNvPr>
          <p:cNvSpPr>
            <a:spLocks noGrp="1"/>
          </p:cNvSpPr>
          <p:nvPr/>
        </p:nvSpPr>
        <p:spPr>
          <a:xfrm>
            <a:off x="8839200" y="355282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NhatKyKiemToan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28F87A-218A-4D21-8683-15BF7450B78B}"/>
              </a:ext>
            </a:extLst>
          </p:cNvPr>
          <p:cNvSpPr>
            <a:spLocks noGrp="1"/>
          </p:cNvSpPr>
          <p:nvPr/>
        </p:nvSpPr>
        <p:spPr>
          <a:xfrm>
            <a:off x="8572500" y="399097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0C68B27-5158-4D72-B941-C14070F36B18}"/>
              </a:ext>
            </a:extLst>
          </p:cNvPr>
          <p:cNvSpPr>
            <a:spLocks noGrp="1"/>
          </p:cNvSpPr>
          <p:nvPr/>
        </p:nvSpPr>
        <p:spPr>
          <a:xfrm>
            <a:off x="8839200" y="399097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KhachHang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725FC4-603A-431E-941D-62E73E19B433}"/>
              </a:ext>
            </a:extLst>
          </p:cNvPr>
          <p:cNvSpPr>
            <a:spLocks noGrp="1"/>
          </p:cNvSpPr>
          <p:nvPr/>
        </p:nvSpPr>
        <p:spPr>
          <a:xfrm>
            <a:off x="8572500" y="442912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2DFA8D-7717-4546-B12A-80DF1025BB65}"/>
              </a:ext>
            </a:extLst>
          </p:cNvPr>
          <p:cNvSpPr>
            <a:spLocks noGrp="1"/>
          </p:cNvSpPr>
          <p:nvPr/>
        </p:nvSpPr>
        <p:spPr>
          <a:xfrm>
            <a:off x="8839200" y="442912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TaiKhoan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24AC9F-A961-4346-BAE8-41BDF1600D2E}"/>
              </a:ext>
            </a:extLst>
          </p:cNvPr>
          <p:cNvSpPr>
            <a:spLocks noGrp="1"/>
          </p:cNvSpPr>
          <p:nvPr/>
        </p:nvSpPr>
        <p:spPr>
          <a:xfrm>
            <a:off x="8572500" y="4867275"/>
            <a:ext cx="228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6DAF93F-785D-449E-A909-CEE925112F6F}"/>
              </a:ext>
            </a:extLst>
          </p:cNvPr>
          <p:cNvSpPr>
            <a:spLocks noGrp="1"/>
          </p:cNvSpPr>
          <p:nvPr/>
        </p:nvSpPr>
        <p:spPr>
          <a:xfrm>
            <a:off x="8839200" y="4867275"/>
            <a:ext cx="2209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EBanking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79BE68-5EE5-4CE5-A877-D399D824F32E}"/>
              </a:ext>
            </a:extLst>
          </p:cNvPr>
          <p:cNvSpPr>
            <a:spLocks noGrp="1"/>
          </p:cNvSpPr>
          <p:nvPr/>
        </p:nvSpPr>
        <p:spPr>
          <a:xfrm>
            <a:off x="8334375" y="5572125"/>
            <a:ext cx="2952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 i="0">
                <a:solidFill>
                  <a:srgbClr val="294C64"/>
                </a:solidFill>
              </a:defRPr>
            </a:pPr>
            <a:endParaRPr sz="1350" b="1" i="0">
              <a:solidFill>
                <a:srgbClr val="294C64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6D19BF6-A132-511A-1CA6-2686447698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6923" y="1476375"/>
            <a:ext cx="5833903" cy="4643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992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06401B3-A97C-4226-B041-346F3AA6A503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430FC0-824A-4A6B-A5D4-C4EEB97CAC75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4374D5-2243-4F49-BE0E-84603A790AF5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 dirty="0">
                <a:solidFill>
                  <a:srgbClr val="193B2B"/>
                </a:solidFill>
              </a:rPr>
              <a:t>API, </a:t>
            </a:r>
            <a:r>
              <a:rPr sz="2850" b="1" i="0" dirty="0" err="1">
                <a:solidFill>
                  <a:srgbClr val="193B2B"/>
                </a:solidFill>
              </a:rPr>
              <a:t>dữ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liệu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được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thiết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kế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đồng</a:t>
            </a:r>
            <a:r>
              <a:rPr sz="2850" b="1" i="0" dirty="0">
                <a:solidFill>
                  <a:srgbClr val="193B2B"/>
                </a:solidFill>
              </a:rPr>
              <a:t> </a:t>
            </a:r>
            <a:r>
              <a:rPr sz="2850" b="1" i="0" dirty="0" err="1">
                <a:solidFill>
                  <a:srgbClr val="193B2B"/>
                </a:solidFill>
              </a:rPr>
              <a:t>bộ</a:t>
            </a:r>
            <a:endParaRPr sz="2850" b="1" i="0" dirty="0">
              <a:solidFill>
                <a:srgbClr val="193B2B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9BB611-B219-4C0D-A781-44F27169DFCD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506484-2DC7-4B49-B5BE-471E0E5B066B}"/>
              </a:ext>
            </a:extLst>
          </p:cNvPr>
          <p:cNvSpPr>
            <a:spLocks noGrp="1"/>
          </p:cNvSpPr>
          <p:nvPr/>
        </p:nvSpPr>
        <p:spPr>
          <a:xfrm>
            <a:off x="714375" y="157162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API CONTRACT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81E51C-FA7D-4764-A456-81F543FC077B}"/>
              </a:ext>
            </a:extLst>
          </p:cNvPr>
          <p:cNvSpPr>
            <a:spLocks noGrp="1"/>
          </p:cNvSpPr>
          <p:nvPr/>
        </p:nvSpPr>
        <p:spPr>
          <a:xfrm>
            <a:off x="714375" y="2000250"/>
            <a:ext cx="3143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75" b="1" i="0">
                <a:solidFill>
                  <a:srgbClr val="193B2B"/>
                </a:solidFill>
              </a:defRPr>
            </a:pPr>
            <a:r>
              <a:rPr sz="2175" b="1" i="0">
                <a:solidFill>
                  <a:srgbClr val="193B2B"/>
                </a:solidFill>
              </a:rPr>
              <a:t>8 API Bank Backend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E936A6-2465-4A2C-86B2-E4279F654A4E}"/>
              </a:ext>
            </a:extLst>
          </p:cNvPr>
          <p:cNvSpPr>
            <a:spLocks noGrp="1"/>
          </p:cNvSpPr>
          <p:nvPr/>
        </p:nvSpPr>
        <p:spPr>
          <a:xfrm>
            <a:off x="714374" y="2524125"/>
            <a:ext cx="3386285" cy="847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 i="0">
                <a:solidFill>
                  <a:srgbClr val="183127"/>
                </a:solidFill>
              </a:defRPr>
            </a:pPr>
            <a:r>
              <a:rPr lang="vi-VN" sz="1425" dirty="0"/>
              <a:t>Gửi/xác thực OTP, gửi ảnh CCCD và video khuôn mặt, tra cứu trạng thái, bổ sung thông tin, gửi hồ sơ và thiết lập eBanking.</a:t>
            </a:r>
            <a:endParaRPr sz="1425" i="0" dirty="0">
              <a:solidFill>
                <a:srgbClr val="183127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56B7B17-AC42-410F-8C98-4FB4198858D0}"/>
              </a:ext>
            </a:extLst>
          </p:cNvPr>
          <p:cNvSpPr>
            <a:spLocks noGrp="1"/>
          </p:cNvSpPr>
          <p:nvPr/>
        </p:nvSpPr>
        <p:spPr>
          <a:xfrm>
            <a:off x="714375" y="4191000"/>
            <a:ext cx="3143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75" b="1" i="0">
                <a:solidFill>
                  <a:srgbClr val="193B2B"/>
                </a:solidFill>
              </a:defRPr>
            </a:pPr>
            <a:r>
              <a:rPr sz="2175" b="1" i="0">
                <a:solidFill>
                  <a:srgbClr val="193B2B"/>
                </a:solidFill>
              </a:rPr>
              <a:t>2 API eKYC Vendor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BA27D-12B0-4A6F-9360-3DDB52FFA6D5}"/>
              </a:ext>
            </a:extLst>
          </p:cNvPr>
          <p:cNvSpPr>
            <a:spLocks noGrp="1"/>
          </p:cNvSpPr>
          <p:nvPr/>
        </p:nvSpPr>
        <p:spPr>
          <a:xfrm>
            <a:off x="714375" y="4714875"/>
            <a:ext cx="3238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0" i="0">
                <a:solidFill>
                  <a:srgbClr val="183127"/>
                </a:solidFill>
              </a:defRPr>
            </a:pPr>
            <a:r>
              <a:rPr sz="1425" b="0" i="0">
                <a:solidFill>
                  <a:srgbClr val="183127"/>
                </a:solidFill>
              </a:rPr>
              <a:t>OCR và Face Matching/Liveness - đặc tả contract để tích hợp, cần vendor xác nhận trước phát triển.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1609969A-73FB-4DCE-8DB3-E3D769DED49D}"/>
              </a:ext>
            </a:extLst>
          </p:cNvPr>
          <p:cNvSpPr>
            <a:spLocks noGrp="1"/>
          </p:cNvSpPr>
          <p:nvPr/>
        </p:nvSpPr>
        <p:spPr>
          <a:xfrm>
            <a:off x="4333875" y="1619250"/>
            <a:ext cx="9525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91C67C-77CC-4662-A6AC-1E35FB0B6127}"/>
              </a:ext>
            </a:extLst>
          </p:cNvPr>
          <p:cNvSpPr>
            <a:spLocks noGrp="1"/>
          </p:cNvSpPr>
          <p:nvPr/>
        </p:nvSpPr>
        <p:spPr>
          <a:xfrm>
            <a:off x="4762500" y="157162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 i="0">
                <a:solidFill>
                  <a:srgbClr val="6B9A6E"/>
                </a:solidFill>
              </a:defRPr>
            </a:pPr>
            <a:r>
              <a:rPr sz="1425" b="1" i="0">
                <a:solidFill>
                  <a:srgbClr val="6B9A6E"/>
                </a:solidFill>
              </a:rPr>
              <a:t>DỮ LIỆU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081E5D-4A09-48D1-B0D9-D090C8BDDA07}"/>
              </a:ext>
            </a:extLst>
          </p:cNvPr>
          <p:cNvSpPr>
            <a:spLocks noGrp="1"/>
          </p:cNvSpPr>
          <p:nvPr/>
        </p:nvSpPr>
        <p:spPr>
          <a:xfrm>
            <a:off x="4762500" y="2095500"/>
            <a:ext cx="2286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EDCC55-AC87-418A-91ED-D8E7F743DAFB}"/>
              </a:ext>
            </a:extLst>
          </p:cNvPr>
          <p:cNvSpPr>
            <a:spLocks noGrp="1"/>
          </p:cNvSpPr>
          <p:nvPr/>
        </p:nvSpPr>
        <p:spPr>
          <a:xfrm>
            <a:off x="5029200" y="2095500"/>
            <a:ext cx="2686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Hồ sơ nháp được tạo ngay từ SĐT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6A6CEC-4F49-4241-9AF3-CD54FDA07B3A}"/>
              </a:ext>
            </a:extLst>
          </p:cNvPr>
          <p:cNvSpPr>
            <a:spLocks noGrp="1"/>
          </p:cNvSpPr>
          <p:nvPr/>
        </p:nvSpPr>
        <p:spPr>
          <a:xfrm>
            <a:off x="4762500" y="2733675"/>
            <a:ext cx="2286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CEC32D9-206A-408E-A28E-CD9FA13F6484}"/>
              </a:ext>
            </a:extLst>
          </p:cNvPr>
          <p:cNvSpPr>
            <a:spLocks noGrp="1"/>
          </p:cNvSpPr>
          <p:nvPr/>
        </p:nvSpPr>
        <p:spPr>
          <a:xfrm>
            <a:off x="5029200" y="2733675"/>
            <a:ext cx="2686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>
                <a:solidFill>
                  <a:srgbClr val="183127"/>
                </a:solidFill>
              </a:rPr>
              <a:t>OCR tự điền thông tin CCCD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C024E22-7045-43AF-A0CB-4DAF75339B20}"/>
              </a:ext>
            </a:extLst>
          </p:cNvPr>
          <p:cNvSpPr>
            <a:spLocks noGrp="1"/>
          </p:cNvSpPr>
          <p:nvPr/>
        </p:nvSpPr>
        <p:spPr>
          <a:xfrm>
            <a:off x="4762500" y="3371850"/>
            <a:ext cx="2286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912574-44E1-422B-8650-BDBE100C45DF}"/>
              </a:ext>
            </a:extLst>
          </p:cNvPr>
          <p:cNvSpPr>
            <a:spLocks noGrp="1"/>
          </p:cNvSpPr>
          <p:nvPr/>
        </p:nvSpPr>
        <p:spPr>
          <a:xfrm>
            <a:off x="5029200" y="3371850"/>
            <a:ext cx="2686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 i="0">
                <a:solidFill>
                  <a:srgbClr val="183127"/>
                </a:solidFill>
              </a:defRPr>
            </a:pPr>
            <a:r>
              <a:rPr lang="vi-VN" sz="1350" dirty="0"/>
              <a:t>LanThu: số thứ tự từng yêu cầu eKYC</a:t>
            </a:r>
            <a:endParaRPr sz="1350" b="0" i="0" dirty="0">
              <a:solidFill>
                <a:srgbClr val="183127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AE4A17-5C99-4E38-BD36-DEBD41BF9E55}"/>
              </a:ext>
            </a:extLst>
          </p:cNvPr>
          <p:cNvSpPr>
            <a:spLocks noGrp="1"/>
          </p:cNvSpPr>
          <p:nvPr/>
        </p:nvSpPr>
        <p:spPr>
          <a:xfrm>
            <a:off x="4762500" y="4010025"/>
            <a:ext cx="2286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D004EE1-5C80-40D1-A63F-35C133A98C62}"/>
              </a:ext>
            </a:extLst>
          </p:cNvPr>
          <p:cNvSpPr>
            <a:spLocks noGrp="1"/>
          </p:cNvSpPr>
          <p:nvPr/>
        </p:nvSpPr>
        <p:spPr>
          <a:xfrm>
            <a:off x="5029200" y="4010025"/>
            <a:ext cx="2686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0" i="0">
                <a:solidFill>
                  <a:srgbClr val="183127"/>
                </a:solidFill>
              </a:defRPr>
            </a:pPr>
            <a:r>
              <a:rPr lang="vi-VN" sz="1350" dirty="0"/>
              <a:t>SoLanThatBaiEKYC: số Fail nghiệp vụ dùng chung OCR/Face-Liveness, tối đa 3</a:t>
            </a:r>
            <a:endParaRPr sz="1350" b="0" i="0" dirty="0">
              <a:solidFill>
                <a:srgbClr val="183127"/>
              </a:solidFill>
            </a:endParaRP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03F2FE2-9284-4FB8-B68E-3DC5E67C42AF}"/>
              </a:ext>
            </a:extLst>
          </p:cNvPr>
          <p:cNvSpPr>
            <a:spLocks noGrp="1"/>
          </p:cNvSpPr>
          <p:nvPr/>
        </p:nvSpPr>
        <p:spPr>
          <a:xfrm>
            <a:off x="7953375" y="1619250"/>
            <a:ext cx="9525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EBA6870-E35D-3401-AE31-306841CF4591}"/>
              </a:ext>
            </a:extLst>
          </p:cNvPr>
          <p:cNvSpPr>
            <a:spLocks noGrp="1"/>
          </p:cNvSpPr>
          <p:nvPr/>
        </p:nvSpPr>
        <p:spPr>
          <a:xfrm>
            <a:off x="4762500" y="4681538"/>
            <a:ext cx="22860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 i="0">
                <a:solidFill>
                  <a:srgbClr val="6B9A6E"/>
                </a:solidFill>
              </a:defRPr>
            </a:pPr>
            <a:r>
              <a:rPr sz="1350" b="1" i="0">
                <a:solidFill>
                  <a:srgbClr val="6B9A6E"/>
                </a:solidFill>
              </a:rPr>
              <a:t>•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D6E1ED-9651-8C63-7C7C-969857E6561A}"/>
              </a:ext>
            </a:extLst>
          </p:cNvPr>
          <p:cNvSpPr>
            <a:spLocks noGrp="1"/>
          </p:cNvSpPr>
          <p:nvPr/>
        </p:nvSpPr>
        <p:spPr>
          <a:xfrm>
            <a:off x="5029200" y="4681538"/>
            <a:ext cx="2686050" cy="638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 i="0">
                <a:solidFill>
                  <a:srgbClr val="183127"/>
                </a:solidFill>
              </a:defRPr>
            </a:pPr>
            <a:r>
              <a:rPr sz="1350" b="0" i="0" dirty="0">
                <a:solidFill>
                  <a:srgbClr val="183127"/>
                </a:solidFill>
              </a:rPr>
              <a:t>Audit log </a:t>
            </a:r>
            <a:r>
              <a:rPr sz="1350" b="0" i="0" dirty="0" err="1">
                <a:solidFill>
                  <a:srgbClr val="183127"/>
                </a:solidFill>
              </a:rPr>
              <a:t>theo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dõi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thay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đổi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quan</a:t>
            </a:r>
            <a:r>
              <a:rPr sz="1350" b="0" i="0" dirty="0">
                <a:solidFill>
                  <a:srgbClr val="183127"/>
                </a:solidFill>
              </a:rPr>
              <a:t> </a:t>
            </a:r>
            <a:r>
              <a:rPr sz="1350" b="0" i="0" dirty="0" err="1">
                <a:solidFill>
                  <a:srgbClr val="183127"/>
                </a:solidFill>
              </a:rPr>
              <a:t>trọng</a:t>
            </a:r>
            <a:endParaRPr sz="1350" b="0" i="0" dirty="0">
              <a:solidFill>
                <a:srgbClr val="1831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8296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E3DF8A5-595E-45E4-B7EC-90035693794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4E228B-9ABD-4265-A953-BBB76AFFCFCF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93EB37-4594-4809-B7BF-2D3261807CCB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Wireframe chuyển yêu cầu thành màn hình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59D40A-F370-47AD-81FC-231B33534FAD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14E16E-3EE3-4C1F-8775-7EAD44F989D0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0D66D3-7D47-49F3-8F03-554AEC810E30}"/>
              </a:ext>
            </a:extLst>
          </p:cNvPr>
          <p:cNvSpPr>
            <a:spLocks noGrp="1"/>
          </p:cNvSpPr>
          <p:nvPr/>
        </p:nvSpPr>
        <p:spPr>
          <a:xfrm>
            <a:off x="1824317" y="6172200"/>
            <a:ext cx="838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 i="1">
                <a:solidFill>
                  <a:srgbClr val="65756B"/>
                </a:solidFill>
              </a:defRPr>
            </a:pPr>
            <a:r>
              <a:rPr sz="1425" b="0" i="1">
                <a:solidFill>
                  <a:srgbClr val="65756B"/>
                </a:solidFill>
              </a:rPr>
              <a:t>Công cụ thiết kế: Figma</a:t>
            </a:r>
          </a:p>
        </p:txBody>
      </p:sp>
      <p:pic>
        <p:nvPicPr>
          <p:cNvPr id="26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045" y="1476375"/>
            <a:ext cx="2205006" cy="443524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7" name="Pictur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2814" y="1476375"/>
            <a:ext cx="2205006" cy="43900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8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7852" y="1498967"/>
            <a:ext cx="2212548" cy="43900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2FD39C3-1B99-D796-DECE-70703C627A6A}"/>
              </a:ext>
            </a:extLst>
          </p:cNvPr>
          <p:cNvSpPr>
            <a:spLocks noGrp="1"/>
          </p:cNvSpPr>
          <p:nvPr/>
        </p:nvSpPr>
        <p:spPr>
          <a:xfrm>
            <a:off x="8696131" y="820275"/>
            <a:ext cx="1632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Link </a:t>
            </a:r>
            <a:r>
              <a:rPr>
                <a:hlinkClick r:id="rId6"/>
              </a:rPr>
              <a:t>Prototype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33611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31B774-BE5D-FF81-132C-7B59F1941CD1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72393C-A192-2450-C637-594DCF5D67ED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18DEC9-AA6F-77E1-17A6-3F071388ECA4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Wireframe chuyển yêu cầu thành màn hình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4256EC-482F-713D-DE0E-4C7069D7354F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17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59AA9B-A407-88FA-6682-886302F11323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E6EE62-FDE3-6DA2-AB0C-D3B05F2EF82B}"/>
              </a:ext>
            </a:extLst>
          </p:cNvPr>
          <p:cNvSpPr>
            <a:spLocks noGrp="1"/>
          </p:cNvSpPr>
          <p:nvPr/>
        </p:nvSpPr>
        <p:spPr>
          <a:xfrm>
            <a:off x="1899892" y="6298824"/>
            <a:ext cx="838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 i="1">
                <a:solidFill>
                  <a:srgbClr val="65756B"/>
                </a:solidFill>
              </a:defRPr>
            </a:pPr>
            <a:r>
              <a:rPr sz="1425" b="0" i="1">
                <a:solidFill>
                  <a:srgbClr val="65756B"/>
                </a:solidFill>
              </a:rPr>
              <a:t>Công cụ thiết kế: Figma</a:t>
            </a:r>
          </a:p>
        </p:txBody>
      </p:sp>
      <p:pic>
        <p:nvPicPr>
          <p:cNvPr id="26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4213" y="1386727"/>
            <a:ext cx="2253357" cy="44862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7" name="Picture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7453" y="1386726"/>
            <a:ext cx="2240580" cy="44862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8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215" y="1386726"/>
            <a:ext cx="2283333" cy="45304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DF10ACE8-A0EA-B72F-5FC9-3AEB41B59162}"/>
              </a:ext>
            </a:extLst>
          </p:cNvPr>
          <p:cNvSpPr>
            <a:spLocks noGrp="1"/>
          </p:cNvSpPr>
          <p:nvPr/>
        </p:nvSpPr>
        <p:spPr>
          <a:xfrm>
            <a:off x="8696131" y="820275"/>
            <a:ext cx="1632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Link </a:t>
            </a:r>
            <a:r>
              <a:rPr>
                <a:hlinkClick r:id="rId6"/>
              </a:rPr>
              <a:t>Prototype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18886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C6AAC2A-540A-0C5C-7B8F-6D2AC14E2557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779102-8DCC-AE39-D905-EC7D7CCA5F9C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240AA9-1C34-D6E1-000C-731969DE8E31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Wireframe chuyển yêu cầu thành màn hình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3FBA61-ADA6-E8CB-2DC9-22F6FD360621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2055A7-D669-3797-0818-61EE50651E16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A2A644-8790-2869-078A-06AD47ADFA37}"/>
              </a:ext>
            </a:extLst>
          </p:cNvPr>
          <p:cNvSpPr>
            <a:spLocks noGrp="1"/>
          </p:cNvSpPr>
          <p:nvPr/>
        </p:nvSpPr>
        <p:spPr>
          <a:xfrm>
            <a:off x="1833282" y="6324600"/>
            <a:ext cx="838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 i="1">
                <a:solidFill>
                  <a:srgbClr val="65756B"/>
                </a:solidFill>
              </a:defRPr>
            </a:pPr>
            <a:r>
              <a:rPr sz="1425" b="0" i="1">
                <a:solidFill>
                  <a:srgbClr val="65756B"/>
                </a:solidFill>
              </a:rPr>
              <a:t>Công cụ thiết kế: Figma</a:t>
            </a:r>
          </a:p>
        </p:txBody>
      </p:sp>
      <p:pic>
        <p:nvPicPr>
          <p:cNvPr id="26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36" y="1528763"/>
            <a:ext cx="2297092" cy="45837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4C3C0C-6AE2-C014-3D9C-23C5B0454F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544" y="1474134"/>
            <a:ext cx="2270711" cy="45837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7E4C3FAB-CB0E-1BFA-FB01-2500E9FBC85B}"/>
              </a:ext>
            </a:extLst>
          </p:cNvPr>
          <p:cNvSpPr>
            <a:spLocks noGrp="1"/>
          </p:cNvSpPr>
          <p:nvPr/>
        </p:nvSpPr>
        <p:spPr>
          <a:xfrm>
            <a:off x="8696131" y="820275"/>
            <a:ext cx="1632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Link </a:t>
            </a:r>
            <a:r>
              <a:rPr>
                <a:hlinkClick r:id="rId5"/>
              </a:rPr>
              <a:t>Prototype</a:t>
            </a:r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273651F-E115-625A-65F1-DB3341C1D0C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7097" y="1474134"/>
            <a:ext cx="2253303" cy="460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483688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DF63051-8590-E4D0-B182-4036C1657E89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FC7817-4978-97F3-0B56-A11F87231862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966F2B-E625-A7D5-7468-C2293B43D7CF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Wireframe chuyển yêu cầu thành màn hình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229D6F-A155-02A6-13FD-6DEAC28D386F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 i="0">
                <a:solidFill>
                  <a:srgbClr val="65756B"/>
                </a:solidFill>
              </a:rPr>
              <a:t>19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BF1CAA-1932-D56A-2C01-97A1693C744C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901136-E48C-E054-9BD5-9E4B5965FF26}"/>
              </a:ext>
            </a:extLst>
          </p:cNvPr>
          <p:cNvSpPr>
            <a:spLocks noGrp="1"/>
          </p:cNvSpPr>
          <p:nvPr/>
        </p:nvSpPr>
        <p:spPr>
          <a:xfrm>
            <a:off x="1905000" y="6353175"/>
            <a:ext cx="838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 i="1">
                <a:solidFill>
                  <a:srgbClr val="65756B"/>
                </a:solidFill>
              </a:defRPr>
            </a:pPr>
            <a:r>
              <a:rPr sz="1425" b="0" i="1">
                <a:solidFill>
                  <a:srgbClr val="65756B"/>
                </a:solidFill>
              </a:rPr>
              <a:t>Công cụ thiết kế: Figma</a:t>
            </a:r>
          </a:p>
        </p:txBody>
      </p:sp>
      <p:pic>
        <p:nvPicPr>
          <p:cNvPr id="27" name="Picture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688" y="1479017"/>
            <a:ext cx="2239409" cy="4509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8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7011" y="1501936"/>
            <a:ext cx="2254783" cy="44840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8AD2334C-013D-DF5A-FA9B-F7661DDDE1CE}"/>
              </a:ext>
            </a:extLst>
          </p:cNvPr>
          <p:cNvSpPr>
            <a:spLocks noGrp="1"/>
          </p:cNvSpPr>
          <p:nvPr/>
        </p:nvSpPr>
        <p:spPr>
          <a:xfrm>
            <a:off x="8696131" y="820275"/>
            <a:ext cx="1632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Link </a:t>
            </a:r>
            <a:r>
              <a:rPr>
                <a:hlinkClick r:id="rId5"/>
              </a:rPr>
              <a:t>Prototype</a:t>
            </a: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B313E6-7343-0333-57A9-9FF6FB0FF85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109" y="1501936"/>
            <a:ext cx="2170665" cy="44840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8640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062DAC0-1288-946D-A91C-78733E437382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E6388B5-D805-496F-0046-B55390EAF282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71E5E4-0019-EA3B-7372-F9CF67040D26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Wireframe chuyển yêu cầu thành màn hình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F4DCD7B-4A72-E32B-CB17-3B9ACB0C9DB8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>
                <a:solidFill>
                  <a:srgbClr val="65756B"/>
                </a:solidFill>
              </a:rPr>
              <a:t>20</a:t>
            </a:r>
            <a:endParaRPr sz="1050" b="1" i="0">
              <a:solidFill>
                <a:srgbClr val="65756B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D47EB-AF4F-8D0D-206C-88B6B0F211B0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75A91F-E336-361F-8E46-CD48E8CFBA15}"/>
              </a:ext>
            </a:extLst>
          </p:cNvPr>
          <p:cNvSpPr>
            <a:spLocks noGrp="1"/>
          </p:cNvSpPr>
          <p:nvPr/>
        </p:nvSpPr>
        <p:spPr>
          <a:xfrm>
            <a:off x="1905000" y="6348130"/>
            <a:ext cx="838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 i="1">
                <a:solidFill>
                  <a:srgbClr val="65756B"/>
                </a:solidFill>
              </a:defRPr>
            </a:pPr>
            <a:r>
              <a:rPr sz="1425" b="0" i="1">
                <a:solidFill>
                  <a:srgbClr val="65756B"/>
                </a:solidFill>
              </a:rPr>
              <a:t>Công cụ thiết kế: Figma</a:t>
            </a:r>
          </a:p>
        </p:txBody>
      </p:sp>
      <p:pic>
        <p:nvPicPr>
          <p:cNvPr id="26" name="Picture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808" y="1476375"/>
            <a:ext cx="2258433" cy="44913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7" name="Picture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639" y="1476375"/>
            <a:ext cx="2261040" cy="44913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8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2253" y="1476374"/>
            <a:ext cx="2240544" cy="4491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94901D6A-E7E4-D477-33EC-D325DADA8A5E}"/>
              </a:ext>
            </a:extLst>
          </p:cNvPr>
          <p:cNvSpPr>
            <a:spLocks noGrp="1"/>
          </p:cNvSpPr>
          <p:nvPr/>
        </p:nvSpPr>
        <p:spPr>
          <a:xfrm>
            <a:off x="8696131" y="820275"/>
            <a:ext cx="1632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Link </a:t>
            </a:r>
            <a:r>
              <a:rPr>
                <a:hlinkClick r:id="rId6"/>
              </a:rPr>
              <a:t>Prototype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13470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2E19894-BE8A-F58B-B540-431930C86B00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30444-15FF-7D76-E3EF-97C6D5AA6940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5AF0FE-1E1F-BEA8-38E5-5B4A46EA90AC}"/>
              </a:ext>
            </a:extLst>
          </p:cNvPr>
          <p:cNvSpPr>
            <a:spLocks noGrp="1"/>
          </p:cNvSpPr>
          <p:nvPr/>
        </p:nvSpPr>
        <p:spPr>
          <a:xfrm>
            <a:off x="533400" y="800100"/>
            <a:ext cx="10287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sz="2850" b="1" i="0">
                <a:solidFill>
                  <a:srgbClr val="193B2B"/>
                </a:solidFill>
              </a:rPr>
              <a:t>Wireframe chuyển yêu cầu thành màn hình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62718B-AB92-3368-764E-ACAAD736D131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sz="1050" b="1">
                <a:solidFill>
                  <a:srgbClr val="65756B"/>
                </a:solidFill>
              </a:rPr>
              <a:t>21</a:t>
            </a:r>
            <a:endParaRPr sz="1050" b="1" i="0">
              <a:solidFill>
                <a:srgbClr val="65756B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E70D28-D63D-18BC-AB71-756CC29D734E}"/>
              </a:ext>
            </a:extLst>
          </p:cNvPr>
          <p:cNvSpPr>
            <a:spLocks noGrp="1"/>
          </p:cNvSpPr>
          <p:nvPr/>
        </p:nvSpPr>
        <p:spPr>
          <a:xfrm>
            <a:off x="10572750" y="614362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875" b="1" i="1">
                <a:solidFill>
                  <a:srgbClr val="DDE8DA"/>
                </a:solidFill>
              </a:defRPr>
            </a:pPr>
            <a:r>
              <a:rPr sz="1875" b="1" i="1">
                <a:solidFill>
                  <a:srgbClr val="DDE8DA"/>
                </a:solidFill>
              </a:rPr>
              <a:t>eKYC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2AAA152-A475-2336-365A-9707AB5D8B9B}"/>
              </a:ext>
            </a:extLst>
          </p:cNvPr>
          <p:cNvSpPr>
            <a:spLocks noGrp="1"/>
          </p:cNvSpPr>
          <p:nvPr/>
        </p:nvSpPr>
        <p:spPr>
          <a:xfrm>
            <a:off x="1905000" y="6348130"/>
            <a:ext cx="8382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425" b="0" i="1">
                <a:solidFill>
                  <a:srgbClr val="65756B"/>
                </a:solidFill>
              </a:defRPr>
            </a:pPr>
            <a:r>
              <a:rPr sz="1425" b="0" i="1">
                <a:solidFill>
                  <a:srgbClr val="65756B"/>
                </a:solidFill>
              </a:rPr>
              <a:t>Công cụ thiết kế: Figma</a:t>
            </a:r>
          </a:p>
        </p:txBody>
      </p:sp>
      <p:pic>
        <p:nvPicPr>
          <p:cNvPr id="25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3356" y="1466449"/>
            <a:ext cx="2346588" cy="46771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297299-74ED-E79B-82A2-14768BB7DB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9705" y="1428969"/>
            <a:ext cx="2346588" cy="47146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83CAE074-6BAE-EAFE-A5B7-839A38A8B3E9}"/>
              </a:ext>
            </a:extLst>
          </p:cNvPr>
          <p:cNvSpPr>
            <a:spLocks noGrp="1"/>
          </p:cNvSpPr>
          <p:nvPr/>
        </p:nvSpPr>
        <p:spPr>
          <a:xfrm>
            <a:off x="8696131" y="820275"/>
            <a:ext cx="16328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Link </a:t>
            </a:r>
            <a:r>
              <a:rPr>
                <a:hlinkClick r:id="rId5"/>
              </a:rPr>
              <a:t>Prototype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60814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416A9-CE40-CE8F-4313-455DB53F5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01801CE-2BDA-B6C5-97D5-B6B4792EC5EE}"/>
              </a:ext>
            </a:extLst>
          </p:cNvPr>
          <p:cNvSpPr>
            <a:spLocks noGrp="1"/>
          </p:cNvSpPr>
          <p:nvPr/>
        </p:nvSpPr>
        <p:spPr>
          <a:xfrm>
            <a:off x="533400" y="323850"/>
            <a:ext cx="3143250" cy="323850"/>
          </a:xfrm>
          <a:prstGeom prst="roundRect">
            <a:avLst>
              <a:gd name="adj" fmla="val 50000"/>
            </a:avLst>
          </a:prstGeom>
          <a:solidFill>
            <a:srgbClr val="2E5B3A"/>
          </a:solidFill>
          <a:ln w="9525">
            <a:solidFill>
              <a:srgbClr val="2E5B3A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F62FCC-16C0-E47B-CB1E-614FEE8A8B15}"/>
              </a:ext>
            </a:extLst>
          </p:cNvPr>
          <p:cNvSpPr>
            <a:spLocks noGrp="1"/>
          </p:cNvSpPr>
          <p:nvPr/>
        </p:nvSpPr>
        <p:spPr>
          <a:xfrm>
            <a:off x="666750" y="371475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3. PHÂN TÍCH VÀ THIẾT KẾ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73B206-4EA9-6FBC-920E-CD7FE7F1980C}"/>
              </a:ext>
            </a:extLst>
          </p:cNvPr>
          <p:cNvSpPr>
            <a:spLocks noGrp="1"/>
          </p:cNvSpPr>
          <p:nvPr/>
        </p:nvSpPr>
        <p:spPr>
          <a:xfrm>
            <a:off x="563806" y="1093130"/>
            <a:ext cx="29908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193B2B"/>
                </a:solidFill>
              </a:defRPr>
            </a:pPr>
            <a:r>
              <a:rPr lang="en-US" sz="2850" b="1" i="0" dirty="0">
                <a:solidFill>
                  <a:srgbClr val="193B2B"/>
                </a:solidFill>
              </a:rPr>
              <a:t>Danh </a:t>
            </a:r>
            <a:r>
              <a:rPr lang="en-US" sz="2850" b="1" i="0" dirty="0" err="1">
                <a:solidFill>
                  <a:srgbClr val="193B2B"/>
                </a:solidFill>
              </a:rPr>
              <a:t>mục</a:t>
            </a:r>
            <a:r>
              <a:rPr lang="en-US" sz="2850" b="1" i="0" dirty="0">
                <a:solidFill>
                  <a:srgbClr val="193B2B"/>
                </a:solidFill>
              </a:rPr>
              <a:t> </a:t>
            </a:r>
            <a:r>
              <a:rPr lang="en-US" sz="2850" b="1" i="0" dirty="0" err="1">
                <a:solidFill>
                  <a:srgbClr val="193B2B"/>
                </a:solidFill>
              </a:rPr>
              <a:t>tài</a:t>
            </a:r>
            <a:r>
              <a:rPr lang="en-US" sz="2850" b="1" i="0" dirty="0">
                <a:solidFill>
                  <a:srgbClr val="193B2B"/>
                </a:solidFill>
              </a:rPr>
              <a:t> </a:t>
            </a:r>
            <a:r>
              <a:rPr lang="en-US" sz="2850" b="1" i="0" dirty="0" err="1">
                <a:solidFill>
                  <a:srgbClr val="193B2B"/>
                </a:solidFill>
              </a:rPr>
              <a:t>liệu</a:t>
            </a:r>
            <a:endParaRPr sz="2850" b="1" i="0" dirty="0">
              <a:solidFill>
                <a:srgbClr val="193B2B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FC9C17-B8EB-0D5A-CD9E-AA4EAC605594}"/>
              </a:ext>
            </a:extLst>
          </p:cNvPr>
          <p:cNvSpPr>
            <a:spLocks noGrp="1"/>
          </p:cNvSpPr>
          <p:nvPr/>
        </p:nvSpPr>
        <p:spPr>
          <a:xfrm>
            <a:off x="11144250" y="3810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050" b="1" i="0">
                <a:solidFill>
                  <a:srgbClr val="65756B"/>
                </a:solidFill>
              </a:defRPr>
            </a:pPr>
            <a:r>
              <a:rPr lang="en-US" sz="1050" b="1" dirty="0">
                <a:solidFill>
                  <a:srgbClr val="65756B"/>
                </a:solidFill>
              </a:rPr>
              <a:t>22</a:t>
            </a:r>
            <a:endParaRPr sz="1050" b="1" i="0" dirty="0">
              <a:solidFill>
                <a:srgbClr val="65756B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62795A-623A-BEF6-E79A-FA2295B7BBDC}"/>
              </a:ext>
            </a:extLst>
          </p:cNvPr>
          <p:cNvSpPr>
            <a:spLocks noGrp="1"/>
          </p:cNvSpPr>
          <p:nvPr/>
        </p:nvSpPr>
        <p:spPr>
          <a:xfrm>
            <a:off x="5064253" y="1109804"/>
            <a:ext cx="2848533" cy="4639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 i="0">
                <a:solidFill>
                  <a:srgbClr val="65756B"/>
                </a:solidFill>
              </a:defRPr>
            </a:pPr>
            <a:r>
              <a:rPr lang="vi-VN" sz="2800" dirty="0"/>
              <a:t>LIÊN KẾT TÀI LIỆU</a:t>
            </a:r>
            <a:endParaRPr sz="2800" b="1" i="0" dirty="0">
              <a:solidFill>
                <a:srgbClr val="65756B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E63564-EE8A-B37E-CB93-FDB084C4A920}"/>
              </a:ext>
            </a:extLst>
          </p:cNvPr>
          <p:cNvSpPr>
            <a:spLocks noGrp="1"/>
          </p:cNvSpPr>
          <p:nvPr/>
        </p:nvSpPr>
        <p:spPr>
          <a:xfrm>
            <a:off x="762000" y="1750213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lang="en-US" sz="1575" b="1" i="0" dirty="0">
                <a:solidFill>
                  <a:srgbClr val="2E5B3A"/>
                </a:solidFill>
              </a:rPr>
              <a:t>Tài </a:t>
            </a:r>
            <a:r>
              <a:rPr lang="en-US" sz="1575" b="1" i="0" dirty="0" err="1">
                <a:solidFill>
                  <a:srgbClr val="2E5B3A"/>
                </a:solidFill>
              </a:rPr>
              <a:t>liệu</a:t>
            </a:r>
            <a:r>
              <a:rPr lang="en-US" sz="1575" b="1" i="0" dirty="0">
                <a:solidFill>
                  <a:srgbClr val="2E5B3A"/>
                </a:solidFill>
              </a:rPr>
              <a:t> SRS</a:t>
            </a:r>
            <a:endParaRPr sz="1575" b="1" i="0" dirty="0">
              <a:solidFill>
                <a:srgbClr val="2E5B3A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84F539-3300-E313-C17C-00AE52285541}"/>
              </a:ext>
            </a:extLst>
          </p:cNvPr>
          <p:cNvSpPr>
            <a:spLocks noGrp="1"/>
          </p:cNvSpPr>
          <p:nvPr/>
        </p:nvSpPr>
        <p:spPr>
          <a:xfrm>
            <a:off x="5757813" y="1714500"/>
            <a:ext cx="157106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lang="en-US" sz="1425" dirty="0">
                <a:hlinkClick r:id="rId3"/>
              </a:rPr>
              <a:t>Link </a:t>
            </a:r>
            <a:r>
              <a:rPr lang="en-US" sz="1425" dirty="0" err="1">
                <a:hlinkClick r:id="rId3"/>
              </a:rPr>
              <a:t>tài</a:t>
            </a:r>
            <a:r>
              <a:rPr lang="en-US" sz="1425" dirty="0">
                <a:hlinkClick r:id="rId3"/>
              </a:rPr>
              <a:t> </a:t>
            </a:r>
            <a:r>
              <a:rPr lang="en-US" sz="1425" dirty="0" err="1">
                <a:hlinkClick r:id="rId3"/>
              </a:rPr>
              <a:t>liệu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1147C215-BC7C-3560-8B66-EFE722F9982E}"/>
              </a:ext>
            </a:extLst>
          </p:cNvPr>
          <p:cNvSpPr>
            <a:spLocks noGrp="1"/>
          </p:cNvSpPr>
          <p:nvPr/>
        </p:nvSpPr>
        <p:spPr>
          <a:xfrm>
            <a:off x="762000" y="2206438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72A13C-30DD-C8C6-588F-A4D9BC5382F2}"/>
              </a:ext>
            </a:extLst>
          </p:cNvPr>
          <p:cNvSpPr>
            <a:spLocks noGrp="1"/>
          </p:cNvSpPr>
          <p:nvPr/>
        </p:nvSpPr>
        <p:spPr>
          <a:xfrm>
            <a:off x="762000" y="2389513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lang="en-US" sz="1575" b="1" i="0" dirty="0">
                <a:solidFill>
                  <a:srgbClr val="2E5B3A"/>
                </a:solidFill>
              </a:rPr>
              <a:t>Tài </a:t>
            </a:r>
            <a:r>
              <a:rPr lang="en-US" sz="1575" b="1" i="0" dirty="0" err="1">
                <a:solidFill>
                  <a:srgbClr val="2E5B3A"/>
                </a:solidFill>
              </a:rPr>
              <a:t>liệu</a:t>
            </a:r>
            <a:r>
              <a:rPr lang="en-US" sz="1575" b="1" i="0" dirty="0">
                <a:solidFill>
                  <a:srgbClr val="2E5B3A"/>
                </a:solidFill>
              </a:rPr>
              <a:t> </a:t>
            </a:r>
            <a:r>
              <a:rPr lang="en-US" sz="1575" b="1" i="0" dirty="0" err="1">
                <a:solidFill>
                  <a:srgbClr val="2E5B3A"/>
                </a:solidFill>
              </a:rPr>
              <a:t>đặc</a:t>
            </a:r>
            <a:r>
              <a:rPr lang="en-US" sz="1575" b="1" i="0" dirty="0">
                <a:solidFill>
                  <a:srgbClr val="2E5B3A"/>
                </a:solidFill>
              </a:rPr>
              <a:t> </a:t>
            </a:r>
            <a:r>
              <a:rPr lang="en-US" sz="1575" b="1" i="0" dirty="0" err="1">
                <a:solidFill>
                  <a:srgbClr val="2E5B3A"/>
                </a:solidFill>
              </a:rPr>
              <a:t>tả</a:t>
            </a:r>
            <a:r>
              <a:rPr lang="en-US" sz="1575" b="1" i="0" dirty="0">
                <a:solidFill>
                  <a:srgbClr val="2E5B3A"/>
                </a:solidFill>
              </a:rPr>
              <a:t> API</a:t>
            </a:r>
            <a:endParaRPr sz="1575" b="1" i="0" dirty="0">
              <a:solidFill>
                <a:srgbClr val="2E5B3A"/>
              </a:solidFill>
            </a:endParaRP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06F25D8-5AE5-A50C-F148-F4DC6DE697AC}"/>
              </a:ext>
            </a:extLst>
          </p:cNvPr>
          <p:cNvSpPr>
            <a:spLocks noGrp="1"/>
          </p:cNvSpPr>
          <p:nvPr/>
        </p:nvSpPr>
        <p:spPr>
          <a:xfrm>
            <a:off x="762000" y="2872629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3BA4B97-96AA-CFED-2CB4-F236474A2646}"/>
              </a:ext>
            </a:extLst>
          </p:cNvPr>
          <p:cNvSpPr>
            <a:spLocks noGrp="1"/>
          </p:cNvSpPr>
          <p:nvPr/>
        </p:nvSpPr>
        <p:spPr>
          <a:xfrm>
            <a:off x="762000" y="3100387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lang="en-US" sz="1575" b="1" i="0" dirty="0">
                <a:solidFill>
                  <a:srgbClr val="2E5B3A"/>
                </a:solidFill>
              </a:rPr>
              <a:t>Tài </a:t>
            </a:r>
            <a:r>
              <a:rPr lang="en-US" sz="1575" b="1" i="0" dirty="0" err="1">
                <a:solidFill>
                  <a:srgbClr val="2E5B3A"/>
                </a:solidFill>
              </a:rPr>
              <a:t>liệu</a:t>
            </a:r>
            <a:r>
              <a:rPr lang="en-US" sz="1575" b="1" i="0" dirty="0">
                <a:solidFill>
                  <a:srgbClr val="2E5B3A"/>
                </a:solidFill>
              </a:rPr>
              <a:t> </a:t>
            </a:r>
            <a:r>
              <a:rPr lang="en-US" sz="1575" b="1" i="0" dirty="0" err="1">
                <a:solidFill>
                  <a:srgbClr val="2E5B3A"/>
                </a:solidFill>
              </a:rPr>
              <a:t>đặc</a:t>
            </a:r>
            <a:r>
              <a:rPr lang="en-US" sz="1575" b="1" i="0" dirty="0">
                <a:solidFill>
                  <a:srgbClr val="2E5B3A"/>
                </a:solidFill>
              </a:rPr>
              <a:t> </a:t>
            </a:r>
            <a:r>
              <a:rPr lang="en-US" sz="1575" b="1" i="0" dirty="0" err="1">
                <a:solidFill>
                  <a:srgbClr val="2E5B3A"/>
                </a:solidFill>
              </a:rPr>
              <a:t>tả</a:t>
            </a:r>
            <a:r>
              <a:rPr lang="en-US" sz="1575" b="1" i="0" dirty="0">
                <a:solidFill>
                  <a:srgbClr val="2E5B3A"/>
                </a:solidFill>
              </a:rPr>
              <a:t> Database</a:t>
            </a:r>
            <a:endParaRPr sz="1575" b="1" i="0" dirty="0">
              <a:solidFill>
                <a:srgbClr val="2E5B3A"/>
              </a:solidFill>
            </a:endParaRP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CEABA785-D4C1-1F69-C462-059D054E0F7A}"/>
              </a:ext>
            </a:extLst>
          </p:cNvPr>
          <p:cNvSpPr>
            <a:spLocks noGrp="1"/>
          </p:cNvSpPr>
          <p:nvPr/>
        </p:nvSpPr>
        <p:spPr>
          <a:xfrm>
            <a:off x="762000" y="3637147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E6D567-8D1E-7073-434D-F36E5B10D7EB}"/>
              </a:ext>
            </a:extLst>
          </p:cNvPr>
          <p:cNvSpPr>
            <a:spLocks noGrp="1"/>
          </p:cNvSpPr>
          <p:nvPr/>
        </p:nvSpPr>
        <p:spPr>
          <a:xfrm>
            <a:off x="762000" y="3855793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 i="0">
                <a:solidFill>
                  <a:srgbClr val="2E5B3A"/>
                </a:solidFill>
              </a:defRPr>
            </a:pPr>
            <a:r>
              <a:rPr lang="en-US" sz="1575" b="1" i="0" dirty="0">
                <a:solidFill>
                  <a:srgbClr val="2E5B3A"/>
                </a:solidFill>
              </a:rPr>
              <a:t>Tài </a:t>
            </a:r>
            <a:r>
              <a:rPr lang="en-US" sz="1575" b="1" i="0" dirty="0" err="1">
                <a:solidFill>
                  <a:srgbClr val="2E5B3A"/>
                </a:solidFill>
              </a:rPr>
              <a:t>liệu</a:t>
            </a:r>
            <a:r>
              <a:rPr lang="en-US" sz="1575" b="1" i="0" dirty="0">
                <a:solidFill>
                  <a:srgbClr val="2E5B3A"/>
                </a:solidFill>
              </a:rPr>
              <a:t> BRD</a:t>
            </a:r>
            <a:endParaRPr sz="1575" b="1" i="0" dirty="0">
              <a:solidFill>
                <a:srgbClr val="2E5B3A"/>
              </a:solidFill>
            </a:endParaRP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95B7C00B-C07C-C98E-B308-B0CDEAC7FFF9}"/>
              </a:ext>
            </a:extLst>
          </p:cNvPr>
          <p:cNvSpPr>
            <a:spLocks noGrp="1"/>
          </p:cNvSpPr>
          <p:nvPr/>
        </p:nvSpPr>
        <p:spPr>
          <a:xfrm>
            <a:off x="762000" y="4429122"/>
            <a:ext cx="10191750" cy="9525"/>
          </a:xfrm>
          <a:prstGeom prst="line">
            <a:avLst/>
          </a:prstGeom>
          <a:noFill/>
          <a:ln w="9525">
            <a:solidFill>
              <a:srgbClr val="C8D9C5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4BAA32-2C73-D65E-185B-29346BC52C32}"/>
              </a:ext>
            </a:extLst>
          </p:cNvPr>
          <p:cNvSpPr>
            <a:spLocks noGrp="1"/>
          </p:cNvSpPr>
          <p:nvPr/>
        </p:nvSpPr>
        <p:spPr>
          <a:xfrm>
            <a:off x="5757813" y="2419371"/>
            <a:ext cx="1091451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lang="en-US" sz="1425" dirty="0">
                <a:hlinkClick r:id="rId4"/>
              </a:rPr>
              <a:t>Link </a:t>
            </a:r>
            <a:r>
              <a:rPr lang="en-US" sz="1425" dirty="0" err="1">
                <a:hlinkClick r:id="rId4"/>
              </a:rPr>
              <a:t>tài</a:t>
            </a:r>
            <a:r>
              <a:rPr lang="en-US" sz="1425" dirty="0">
                <a:hlinkClick r:id="rId4"/>
              </a:rPr>
              <a:t> </a:t>
            </a:r>
            <a:r>
              <a:rPr lang="en-US" sz="1425" dirty="0" err="1">
                <a:hlinkClick r:id="rId4"/>
              </a:rPr>
              <a:t>liệu</a:t>
            </a:r>
            <a:endParaRPr lang="en-US" sz="1425" b="0" i="0" dirty="0">
              <a:solidFill>
                <a:srgbClr val="18312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83896B3-4A62-1820-6AF3-E0988B92482D}"/>
              </a:ext>
            </a:extLst>
          </p:cNvPr>
          <p:cNvSpPr>
            <a:spLocks noGrp="1"/>
          </p:cNvSpPr>
          <p:nvPr/>
        </p:nvSpPr>
        <p:spPr>
          <a:xfrm>
            <a:off x="5764098" y="3100387"/>
            <a:ext cx="1199168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lang="en-US" sz="1425" dirty="0">
                <a:hlinkClick r:id="rId5"/>
              </a:rPr>
              <a:t>Link </a:t>
            </a:r>
            <a:r>
              <a:rPr lang="en-US" sz="1425" dirty="0" err="1">
                <a:hlinkClick r:id="rId5"/>
              </a:rPr>
              <a:t>tài</a:t>
            </a:r>
            <a:r>
              <a:rPr lang="en-US" sz="1425" dirty="0">
                <a:hlinkClick r:id="rId5"/>
              </a:rPr>
              <a:t> </a:t>
            </a:r>
            <a:r>
              <a:rPr lang="en-US" sz="1425" dirty="0" err="1">
                <a:hlinkClick r:id="rId5"/>
              </a:rPr>
              <a:t>liệu</a:t>
            </a:r>
            <a:endParaRPr sz="1425" b="0" i="0" dirty="0">
              <a:solidFill>
                <a:srgbClr val="183127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03E6052-F718-F769-C08A-2622BCB63B7E}"/>
              </a:ext>
            </a:extLst>
          </p:cNvPr>
          <p:cNvSpPr>
            <a:spLocks noGrp="1"/>
          </p:cNvSpPr>
          <p:nvPr/>
        </p:nvSpPr>
        <p:spPr>
          <a:xfrm>
            <a:off x="5757813" y="3914772"/>
            <a:ext cx="1185719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0" i="0">
                <a:solidFill>
                  <a:srgbClr val="183127"/>
                </a:solidFill>
              </a:defRPr>
            </a:pPr>
            <a:r>
              <a:rPr lang="en-US" sz="1425" dirty="0">
                <a:hlinkClick r:id="rId6"/>
              </a:rPr>
              <a:t>Link </a:t>
            </a:r>
            <a:r>
              <a:rPr lang="en-US" sz="1425" dirty="0" err="1">
                <a:hlinkClick r:id="rId6"/>
              </a:rPr>
              <a:t>tài</a:t>
            </a:r>
            <a:r>
              <a:rPr lang="en-US" sz="1425" dirty="0">
                <a:hlinkClick r:id="rId6"/>
              </a:rPr>
              <a:t> </a:t>
            </a:r>
            <a:r>
              <a:rPr lang="en-US" sz="1425" dirty="0" err="1">
                <a:hlinkClick r:id="rId6"/>
              </a:rPr>
              <a:t>liệu</a:t>
            </a:r>
            <a:endParaRPr sz="1425" b="0" i="0" dirty="0">
              <a:solidFill>
                <a:srgbClr val="18312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226570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>
            <a:extLst>
              <a:ext uri="{FF2B5EF4-FFF2-40B4-BE49-F238E27FC236}">
                <a16:creationId xmlns:a16="http://schemas.microsoft.com/office/drawing/2014/main" id="{4A04B5C4-032E-4485-9613-BA2116DCE3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3429000" cy="4095750"/>
          </a:xfrm>
          <a:prstGeom prst="ellipse">
            <a:avLst/>
          </a:prstGeom>
          <a:solidFill>
            <a:srgbClr val="EAF3E7"/>
          </a:solidFill>
          <a:ln w="0">
            <a:solidFill>
              <a:srgbClr val="EAF3E7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88F29B-731C-4C58-B5E2-61A03F481F8C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2476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 i="0">
                <a:solidFill>
                  <a:srgbClr val="6B9A6E"/>
                </a:solidFill>
              </a:defRPr>
            </a:pPr>
            <a:r>
              <a:rPr sz="1800" b="1" i="0">
                <a:solidFill>
                  <a:srgbClr val="6B9A6E"/>
                </a:solidFill>
              </a:rPr>
              <a:t>Kết luận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7070EA-5E4C-4591-A37B-E1D1C491F321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685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600" b="1" i="0">
                <a:solidFill>
                  <a:srgbClr val="193B2B"/>
                </a:solidFill>
              </a:defRPr>
            </a:pPr>
            <a:r>
              <a:rPr sz="3600" b="1" i="0">
                <a:solidFill>
                  <a:srgbClr val="193B2B"/>
                </a:solidFill>
              </a:rPr>
              <a:t>Giải pháp kết nối</a:t>
            </a:r>
          </a:p>
          <a:p>
            <a:pPr algn="l">
              <a:buNone/>
              <a:defRPr sz="3600" b="1" i="0">
                <a:solidFill>
                  <a:srgbClr val="193B2B"/>
                </a:solidFill>
              </a:defRPr>
            </a:pPr>
            <a:r>
              <a:rPr sz="3600" b="1" i="0">
                <a:solidFill>
                  <a:srgbClr val="193B2B"/>
                </a:solidFill>
              </a:rPr>
              <a:t>nhu cầu - quy trình - dữ liệu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E14ECD-D313-41B8-864A-EC17D058DAB7}"/>
              </a:ext>
            </a:extLst>
          </p:cNvPr>
          <p:cNvSpPr>
            <a:spLocks noGrp="1"/>
          </p:cNvSpPr>
          <p:nvPr/>
        </p:nvSpPr>
        <p:spPr>
          <a:xfrm>
            <a:off x="809625" y="3095625"/>
            <a:ext cx="628650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 i="0">
                <a:solidFill>
                  <a:srgbClr val="183127"/>
                </a:solidFill>
              </a:defRPr>
            </a:pPr>
            <a:r>
              <a:rPr sz="1725" b="0" i="0" dirty="0">
                <a:solidFill>
                  <a:srgbClr val="183127"/>
                </a:solidFill>
              </a:rPr>
              <a:t>Project </a:t>
            </a:r>
            <a:r>
              <a:rPr sz="1725" b="0" i="0" dirty="0" err="1">
                <a:solidFill>
                  <a:srgbClr val="183127"/>
                </a:solidFill>
              </a:rPr>
              <a:t>mô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phỏng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cách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một</a:t>
            </a:r>
            <a:r>
              <a:rPr sz="1725" b="0" i="0" dirty="0">
                <a:solidFill>
                  <a:srgbClr val="183127"/>
                </a:solidFill>
              </a:rPr>
              <a:t> Business Analyst </a:t>
            </a:r>
            <a:r>
              <a:rPr sz="1725" b="0" i="0" dirty="0" err="1">
                <a:solidFill>
                  <a:srgbClr val="183127"/>
                </a:solidFill>
              </a:rPr>
              <a:t>chuyển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bài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toán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mở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tài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khoản</a:t>
            </a:r>
            <a:r>
              <a:rPr sz="1725" b="0" i="0" dirty="0">
                <a:solidFill>
                  <a:srgbClr val="183127"/>
                </a:solidFill>
              </a:rPr>
              <a:t> online </a:t>
            </a:r>
            <a:r>
              <a:rPr sz="1725" b="0" i="0" dirty="0" err="1">
                <a:solidFill>
                  <a:srgbClr val="183127"/>
                </a:solidFill>
              </a:rPr>
              <a:t>thành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yêu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cầu</a:t>
            </a:r>
            <a:r>
              <a:rPr sz="1725" b="0" i="0" dirty="0">
                <a:solidFill>
                  <a:srgbClr val="183127"/>
                </a:solidFill>
              </a:rPr>
              <a:t>, </a:t>
            </a:r>
            <a:r>
              <a:rPr sz="1725" b="0" i="0" dirty="0" err="1">
                <a:solidFill>
                  <a:srgbClr val="183127"/>
                </a:solidFill>
              </a:rPr>
              <a:t>luồng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nghiệp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vụ</a:t>
            </a:r>
            <a:r>
              <a:rPr sz="1725" b="0" i="0" dirty="0">
                <a:solidFill>
                  <a:srgbClr val="183127"/>
                </a:solidFill>
              </a:rPr>
              <a:t>, </a:t>
            </a:r>
            <a:r>
              <a:rPr sz="1725" b="0" i="0" dirty="0" err="1">
                <a:solidFill>
                  <a:srgbClr val="183127"/>
                </a:solidFill>
              </a:rPr>
              <a:t>mô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hình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dữ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liệu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và</a:t>
            </a:r>
            <a:r>
              <a:rPr sz="1725" b="0" i="0" dirty="0">
                <a:solidFill>
                  <a:srgbClr val="183127"/>
                </a:solidFill>
              </a:rPr>
              <a:t> contract </a:t>
            </a:r>
            <a:r>
              <a:rPr sz="1725" b="0" i="0" dirty="0" err="1">
                <a:solidFill>
                  <a:srgbClr val="183127"/>
                </a:solidFill>
              </a:rPr>
              <a:t>tích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hợp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có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thể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bàn</a:t>
            </a:r>
            <a:r>
              <a:rPr sz="1725" b="0" i="0" dirty="0">
                <a:solidFill>
                  <a:srgbClr val="183127"/>
                </a:solidFill>
              </a:rPr>
              <a:t> </a:t>
            </a:r>
            <a:r>
              <a:rPr sz="1725" b="0" i="0" dirty="0" err="1">
                <a:solidFill>
                  <a:srgbClr val="183127"/>
                </a:solidFill>
              </a:rPr>
              <a:t>giao</a:t>
            </a:r>
            <a:r>
              <a:rPr sz="1725" b="0" i="0" dirty="0">
                <a:solidFill>
                  <a:srgbClr val="183127"/>
                </a:solidFill>
              </a:rPr>
              <a:t>.</a:t>
            </a:r>
            <a:r>
              <a:rPr lang="en-US" sz="1725" b="0" i="0" dirty="0">
                <a:solidFill>
                  <a:srgbClr val="183127"/>
                </a:solidFill>
              </a:rPr>
              <a:t> </a:t>
            </a:r>
            <a:endParaRPr sz="1725" b="0" i="0" dirty="0">
              <a:solidFill>
                <a:srgbClr val="183127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5753BC-81D4-4483-8BE5-2EE2D58802E2}"/>
              </a:ext>
            </a:extLst>
          </p:cNvPr>
          <p:cNvSpPr>
            <a:spLocks noGrp="1"/>
          </p:cNvSpPr>
          <p:nvPr/>
        </p:nvSpPr>
        <p:spPr>
          <a:xfrm>
            <a:off x="762000" y="5048250"/>
            <a:ext cx="571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850" b="1" i="0">
                <a:solidFill>
                  <a:srgbClr val="2E5B3A"/>
                </a:solidFill>
              </a:defRPr>
            </a:pPr>
            <a:r>
              <a:rPr sz="2850" b="1" i="0">
                <a:solidFill>
                  <a:srgbClr val="2E5B3A"/>
                </a:solidFill>
              </a:rPr>
              <a:t>Thanks for watching!</a:t>
            </a:r>
          </a:p>
        </p:txBody>
      </p:sp>
    </p:spTree>
    <p:extLst>
      <p:ext uri="{BB962C8B-B14F-4D97-AF65-F5344CB8AC3E}">
        <p14:creationId xmlns:p14="http://schemas.microsoft.com/office/powerpoint/2010/main" val="92159601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1534</Words>
  <Application>Microsoft Office PowerPoint</Application>
  <DocSecurity>0</DocSecurity>
  <PresentationFormat>Widescreen</PresentationFormat>
  <Paragraphs>273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5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Trung Đình</cp:lastModifiedBy>
  <cp:revision>36</cp:revision>
  <dcterms:created xsi:type="dcterms:W3CDTF">2026-08-09T17:50:45Z</dcterms:created>
  <dcterms:modified xsi:type="dcterms:W3CDTF">2026-10-27T14:58:03Z</dcterms:modified>
</cp:coreProperties>
</file>