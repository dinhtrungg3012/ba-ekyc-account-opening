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7" r:id="rId24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808CF-AC5F-AC60-5A6E-518DBFD5B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0FF3C7-E332-2F48-701C-DAF760139D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F884A9-92E7-C9D8-2F26-CFDB4A71BB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7668C7-8594-7B96-4DD8-C926B24D0B9A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861795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figma.com/board/WWco4Uxf8Be3RF0R4dkbQP/ITBA---%C4%90%C3%ACnh-Trung?node-id=107-34&amp;t=DyHpndfatVqbKXDa-1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7AG1KHvEbw7pk9Iw2Naz0fZJ-L0PaNXA/view?usp=sharing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7AG1KHvEbw7pk9Iw2Naz0fZJ-L0PaNXA/view?usp=sharing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7AG1KHvEbw7pk9Iw2Naz0fZJ-L0PaNXA/view?usp=sharing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7AG1KHvEbw7pk9Iw2Naz0fZJ-L0PaNXA/view?usp=sharing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rive.google.com/file/d/17AG1KHvEbw7pk9Iw2Naz0fZJ-L0PaNXA/view?usp=sharing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figma.com/proto/zj0eHJI9i0ked7dSZaLMmR/&#272;&#236;nh-Trung-K29?node-id=21-5&amp;viewport=294%2C186%2C0.17&amp;t=w0ywKWRqqhRrkOOo-1&amp;scaling=scale-down&amp;content-scaling=fixed&amp;starting-point-node-id=21%3A5&amp;page-id=0%3A1" TargetMode="Externa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document/d/1Uf6Fp7F80Eu-zmo32ola32WN0PTY_0W0oClw_52ke8Y/edit?usp=sharing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cs.google.com/document/d/1J75iRMMRtyfEBVGepPsLPLdYQjsNQUNbOHkhi2EkdYc/edit?usp=sharing" TargetMode="External"/><Relationship Id="rId5" Type="http://schemas.openxmlformats.org/officeDocument/2006/relationships/hyperlink" Target="https://docs.google.com/document/d/1vx2cXFYoA3GacfYBOeG8zfG-2N7cCV_Gz5uTZsyH7nU/edit?usp=sharing" TargetMode="External"/><Relationship Id="rId4" Type="http://schemas.openxmlformats.org/officeDocument/2006/relationships/hyperlink" Target="https://docs.google.com/document/d/1JQHaHvmvFKfVanXak6WxBAIVAxyjkup-cJFKFuFE4V0/edit?usp=sharing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D76EA75-04FC-4500-B847-243A837FBAF6}"/>
              </a:ext>
            </a:extLst>
          </p:cNvPr>
          <p:cNvSpPr>
            <a:spLocks noGrp="1"/>
          </p:cNvSpPr>
          <p:nvPr/>
        </p:nvSpPr>
        <p:spPr>
          <a:xfrm>
            <a:off x="685800" y="685800"/>
            <a:ext cx="5334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65756B"/>
                </a:solidFill>
              </a:defRPr>
            </a:pPr>
            <a:r>
              <a:rPr sz="1350" b="1" i="0">
                <a:solidFill>
                  <a:srgbClr val="65756B"/>
                </a:solidFill>
              </a:rPr>
              <a:t>PHÂN TÍCH NGHIỆP VỤ HỆ THỐNG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A4C6F8-EB95-43E6-9239-41E4C3EC8957}"/>
              </a:ext>
            </a:extLst>
          </p:cNvPr>
          <p:cNvSpPr>
            <a:spLocks noGrp="1"/>
          </p:cNvSpPr>
          <p:nvPr/>
        </p:nvSpPr>
        <p:spPr>
          <a:xfrm>
            <a:off x="685800" y="1257300"/>
            <a:ext cx="65722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4050" b="1" i="0">
                <a:solidFill>
                  <a:srgbClr val="193B2B"/>
                </a:solidFill>
              </a:defRPr>
            </a:pPr>
            <a:r>
              <a:rPr sz="4050" b="1" i="0">
                <a:solidFill>
                  <a:srgbClr val="193B2B"/>
                </a:solidFill>
              </a:rPr>
              <a:t>Digital Account</a:t>
            </a:r>
          </a:p>
          <a:p>
            <a:pPr algn="l">
              <a:buNone/>
              <a:defRPr sz="4050" b="1" i="0">
                <a:solidFill>
                  <a:srgbClr val="193B2B"/>
                </a:solidFill>
              </a:defRPr>
            </a:pPr>
            <a:r>
              <a:rPr sz="4050" b="1" i="0">
                <a:solidFill>
                  <a:srgbClr val="193B2B"/>
                </a:solidFill>
              </a:rPr>
              <a:t>Opening with eKYC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8A57DD-62FC-43AA-BEAA-0DBCEFE80932}"/>
              </a:ext>
            </a:extLst>
          </p:cNvPr>
          <p:cNvSpPr>
            <a:spLocks noGrp="1"/>
          </p:cNvSpPr>
          <p:nvPr/>
        </p:nvSpPr>
        <p:spPr>
          <a:xfrm>
            <a:off x="723900" y="2857500"/>
            <a:ext cx="59055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0" i="0">
                <a:solidFill>
                  <a:srgbClr val="2E5B3A"/>
                </a:solidFill>
              </a:defRPr>
            </a:pPr>
            <a:r>
              <a:rPr sz="1800" b="0" i="0" dirty="0" err="1">
                <a:solidFill>
                  <a:srgbClr val="2E5B3A"/>
                </a:solidFill>
              </a:rPr>
              <a:t>Mở</a:t>
            </a:r>
            <a:r>
              <a:rPr sz="1800" b="0" i="0" dirty="0">
                <a:solidFill>
                  <a:srgbClr val="2E5B3A"/>
                </a:solidFill>
              </a:rPr>
              <a:t> </a:t>
            </a:r>
            <a:r>
              <a:rPr sz="1800" b="0" i="0" dirty="0" err="1">
                <a:solidFill>
                  <a:srgbClr val="2E5B3A"/>
                </a:solidFill>
              </a:rPr>
              <a:t>tài</a:t>
            </a:r>
            <a:r>
              <a:rPr sz="1800" b="0" i="0" dirty="0">
                <a:solidFill>
                  <a:srgbClr val="2E5B3A"/>
                </a:solidFill>
              </a:rPr>
              <a:t> </a:t>
            </a:r>
            <a:r>
              <a:rPr sz="1800" b="0" i="0" dirty="0" err="1">
                <a:solidFill>
                  <a:srgbClr val="2E5B3A"/>
                </a:solidFill>
              </a:rPr>
              <a:t>khoản</a:t>
            </a:r>
            <a:r>
              <a:rPr sz="1800" b="0" i="0" dirty="0">
                <a:solidFill>
                  <a:srgbClr val="2E5B3A"/>
                </a:solidFill>
              </a:rPr>
              <a:t> </a:t>
            </a:r>
            <a:r>
              <a:rPr sz="1800" b="0" i="0" dirty="0" err="1">
                <a:solidFill>
                  <a:srgbClr val="2E5B3A"/>
                </a:solidFill>
              </a:rPr>
              <a:t>ngân</a:t>
            </a:r>
            <a:r>
              <a:rPr sz="1800" b="0" i="0" dirty="0">
                <a:solidFill>
                  <a:srgbClr val="2E5B3A"/>
                </a:solidFill>
              </a:rPr>
              <a:t> </a:t>
            </a:r>
            <a:r>
              <a:rPr sz="1800" b="0" i="0" dirty="0" err="1">
                <a:solidFill>
                  <a:srgbClr val="2E5B3A"/>
                </a:solidFill>
              </a:rPr>
              <a:t>hàng</a:t>
            </a:r>
            <a:r>
              <a:rPr sz="1800" b="0" i="0" dirty="0">
                <a:solidFill>
                  <a:srgbClr val="2E5B3A"/>
                </a:solidFill>
              </a:rPr>
              <a:t> online </a:t>
            </a:r>
            <a:r>
              <a:rPr sz="1800" b="0" i="0" dirty="0" err="1">
                <a:solidFill>
                  <a:srgbClr val="2E5B3A"/>
                </a:solidFill>
              </a:rPr>
              <a:t>có</a:t>
            </a:r>
            <a:r>
              <a:rPr sz="1800" b="0" i="0" dirty="0">
                <a:solidFill>
                  <a:srgbClr val="2E5B3A"/>
                </a:solidFill>
              </a:rPr>
              <a:t> </a:t>
            </a:r>
            <a:r>
              <a:rPr sz="1800" b="0" i="0" dirty="0" err="1">
                <a:solidFill>
                  <a:srgbClr val="2E5B3A"/>
                </a:solidFill>
              </a:rPr>
              <a:t>xác</a:t>
            </a:r>
            <a:r>
              <a:rPr sz="1800" b="0" i="0" dirty="0">
                <a:solidFill>
                  <a:srgbClr val="2E5B3A"/>
                </a:solidFill>
              </a:rPr>
              <a:t> </a:t>
            </a:r>
            <a:r>
              <a:rPr sz="1800" b="0" i="0" dirty="0" err="1">
                <a:solidFill>
                  <a:srgbClr val="2E5B3A"/>
                </a:solidFill>
              </a:rPr>
              <a:t>thực</a:t>
            </a:r>
            <a:r>
              <a:rPr sz="1800" b="0" i="0" dirty="0">
                <a:solidFill>
                  <a:srgbClr val="2E5B3A"/>
                </a:solidFill>
              </a:rPr>
              <a:t> </a:t>
            </a:r>
            <a:r>
              <a:rPr sz="1800" b="0" i="0" dirty="0" err="1">
                <a:solidFill>
                  <a:srgbClr val="2E5B3A"/>
                </a:solidFill>
              </a:rPr>
              <a:t>eKYC</a:t>
            </a:r>
            <a:endParaRPr sz="1800" b="0" i="0" dirty="0">
              <a:solidFill>
                <a:srgbClr val="2E5B3A"/>
              </a:solidFill>
            </a:endParaRPr>
          </a:p>
        </p:txBody>
      </p:sp>
      <p:sp>
        <p:nvSpPr>
          <p:cNvPr id="5" name="Straight Connector 4">
            <a:extLst>
              <a:ext uri="{FF2B5EF4-FFF2-40B4-BE49-F238E27FC236}">
                <a16:creationId xmlns:a16="http://schemas.microsoft.com/office/drawing/2014/main" id="{FBE6C504-9902-4EAC-A7B1-8719C2FE2942}"/>
              </a:ext>
            </a:extLst>
          </p:cNvPr>
          <p:cNvSpPr>
            <a:spLocks noGrp="1"/>
          </p:cNvSpPr>
          <p:nvPr/>
        </p:nvSpPr>
        <p:spPr>
          <a:xfrm>
            <a:off x="723900" y="3638550"/>
            <a:ext cx="3143250" cy="9525"/>
          </a:xfrm>
          <a:prstGeom prst="line">
            <a:avLst/>
          </a:prstGeom>
          <a:noFill/>
          <a:ln w="9525">
            <a:solidFill>
              <a:srgbClr val="6B9A6E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29CB6C-0D44-4D0D-8DAF-9554C3F87C61}"/>
              </a:ext>
            </a:extLst>
          </p:cNvPr>
          <p:cNvSpPr>
            <a:spLocks noGrp="1"/>
          </p:cNvSpPr>
          <p:nvPr/>
        </p:nvSpPr>
        <p:spPr>
          <a:xfrm>
            <a:off x="723900" y="384810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6B9A6E"/>
                </a:solidFill>
              </a:defRPr>
            </a:pPr>
            <a:r>
              <a:rPr sz="1350" b="1" i="0" dirty="0">
                <a:solidFill>
                  <a:srgbClr val="6B9A6E"/>
                </a:solidFill>
              </a:rPr>
              <a:t>IT BUSINESS ANALYST PORTFOLIO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7A7DD1-EE74-41CF-8AB7-32FF81944241}"/>
              </a:ext>
            </a:extLst>
          </p:cNvPr>
          <p:cNvSpPr>
            <a:spLocks noGrp="1"/>
          </p:cNvSpPr>
          <p:nvPr/>
        </p:nvSpPr>
        <p:spPr>
          <a:xfrm>
            <a:off x="8743950" y="1600200"/>
            <a:ext cx="25146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00" b="1" i="0">
                <a:solidFill>
                  <a:srgbClr val="735B14"/>
                </a:solidFill>
              </a:defRPr>
            </a:pPr>
            <a:endParaRPr sz="1500" b="1" i="0">
              <a:solidFill>
                <a:srgbClr val="735B14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1EB9CE-0524-477E-9F1C-8EBA18899BF0}"/>
              </a:ext>
            </a:extLst>
          </p:cNvPr>
          <p:cNvSpPr>
            <a:spLocks noGrp="1"/>
          </p:cNvSpPr>
          <p:nvPr/>
        </p:nvSpPr>
        <p:spPr>
          <a:xfrm>
            <a:off x="8820150" y="1981200"/>
            <a:ext cx="2362200" cy="2400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0" i="0">
                <a:solidFill>
                  <a:srgbClr val="735B14"/>
                </a:solidFill>
              </a:defRPr>
            </a:pPr>
            <a:endParaRPr sz="1200" b="0" i="0">
              <a:solidFill>
                <a:srgbClr val="735B14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D497F6-01FD-4628-8EC7-A15DB0C4047F}"/>
              </a:ext>
            </a:extLst>
          </p:cNvPr>
          <p:cNvSpPr>
            <a:spLocks noGrp="1"/>
          </p:cNvSpPr>
          <p:nvPr/>
        </p:nvSpPr>
        <p:spPr>
          <a:xfrm>
            <a:off x="723900" y="561975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 i="0">
                <a:solidFill>
                  <a:srgbClr val="183127"/>
                </a:solidFill>
              </a:defRPr>
            </a:pPr>
            <a:r>
              <a:rPr sz="1500" b="1" i="0">
                <a:solidFill>
                  <a:srgbClr val="183127"/>
                </a:solidFill>
              </a:rPr>
              <a:t>Thực hiện bởi: Đào Đình Trung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590BDBA-9E76-4DB7-A129-A131177B89D8}"/>
              </a:ext>
            </a:extLst>
          </p:cNvPr>
          <p:cNvSpPr>
            <a:spLocks noGrp="1"/>
          </p:cNvSpPr>
          <p:nvPr/>
        </p:nvSpPr>
        <p:spPr>
          <a:xfrm>
            <a:off x="723900" y="6038850"/>
            <a:ext cx="3269602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0" i="0">
                <a:solidFill>
                  <a:srgbClr val="65756B"/>
                </a:solidFill>
              </a:defRPr>
            </a:pPr>
            <a:r>
              <a:rPr sz="1200">
                <a:solidFill>
                  <a:srgbClr val="65756B"/>
                </a:solidFill>
              </a:rPr>
              <a:t>dinhtrungg3012@gmail.com</a:t>
            </a:r>
            <a:r>
              <a:rPr sz="1200" b="0" i="0">
                <a:solidFill>
                  <a:srgbClr val="65756B"/>
                </a:solidFill>
              </a:rPr>
              <a:t>  |  0982970875</a:t>
            </a:r>
          </a:p>
        </p:txBody>
      </p:sp>
      <p:pic>
        <p:nvPicPr>
          <p:cNvPr id="22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8319" y="310037"/>
            <a:ext cx="3061996" cy="6237926"/>
          </a:xfrm>
          <a:prstGeom prst="roundRect">
            <a:avLst/>
          </a:prstGeom>
          <a:ln w="88900" cap="sq">
            <a:solidFill>
              <a:srgbClr val="FFFFFF"/>
            </a:solidFill>
            <a:miter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00004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BF43AB53-6DDE-452D-B86E-18DC891F2CF5}"/>
              </a:ext>
            </a:extLst>
          </p:cNvPr>
          <p:cNvSpPr>
            <a:spLocks noGrp="1"/>
          </p:cNvSpPr>
          <p:nvPr/>
        </p:nvSpPr>
        <p:spPr>
          <a:xfrm>
            <a:off x="666750" y="571500"/>
            <a:ext cx="4000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600" b="1" i="0">
                <a:solidFill>
                  <a:srgbClr val="193B2B"/>
                </a:solidFill>
              </a:defRPr>
            </a:pPr>
            <a:r>
              <a:rPr sz="3600" b="1" i="0">
                <a:solidFill>
                  <a:srgbClr val="193B2B"/>
                </a:solidFill>
              </a:rPr>
              <a:t>Nội dung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5C1170-570E-4CD4-9685-68AE8CD78936}"/>
              </a:ext>
            </a:extLst>
          </p:cNvPr>
          <p:cNvSpPr>
            <a:spLocks noGrp="1"/>
          </p:cNvSpPr>
          <p:nvPr/>
        </p:nvSpPr>
        <p:spPr>
          <a:xfrm>
            <a:off x="762000" y="1714500"/>
            <a:ext cx="95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900" b="1" i="0">
                <a:solidFill>
                  <a:srgbClr val="A7C7A4"/>
                </a:solidFill>
              </a:defRPr>
            </a:pPr>
            <a:r>
              <a:rPr sz="3900" b="1" i="0">
                <a:solidFill>
                  <a:srgbClr val="A7C7A4"/>
                </a:solidFill>
              </a:rPr>
              <a:t>01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841AA8-22A4-4A94-830E-2FF6202FA088}"/>
              </a:ext>
            </a:extLst>
          </p:cNvPr>
          <p:cNvSpPr>
            <a:spLocks noGrp="1"/>
          </p:cNvSpPr>
          <p:nvPr/>
        </p:nvSpPr>
        <p:spPr>
          <a:xfrm>
            <a:off x="762000" y="2381250"/>
            <a:ext cx="2667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 i="0">
                <a:solidFill>
                  <a:srgbClr val="2E5B3A"/>
                </a:solidFill>
              </a:defRPr>
            </a:pPr>
            <a:r>
              <a:rPr sz="1950" b="1" i="0">
                <a:solidFill>
                  <a:srgbClr val="2E5B3A"/>
                </a:solidFill>
              </a:rPr>
              <a:t>Xác định nhu cầu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943B0C-A79B-405A-8E47-B889C9B3AE62}"/>
              </a:ext>
            </a:extLst>
          </p:cNvPr>
          <p:cNvSpPr>
            <a:spLocks noGrp="1"/>
          </p:cNvSpPr>
          <p:nvPr/>
        </p:nvSpPr>
        <p:spPr>
          <a:xfrm>
            <a:off x="762000" y="2905125"/>
            <a:ext cx="228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 i="0">
                <a:solidFill>
                  <a:srgbClr val="6B9A6E"/>
                </a:solidFill>
              </a:defRPr>
            </a:pPr>
            <a:r>
              <a:rPr sz="1275" b="1" i="0">
                <a:solidFill>
                  <a:srgbClr val="6B9A6E"/>
                </a:solidFill>
              </a:rPr>
              <a:t>•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292B8F-08D5-49A8-9859-2BC94B33C972}"/>
              </a:ext>
            </a:extLst>
          </p:cNvPr>
          <p:cNvSpPr>
            <a:spLocks noGrp="1"/>
          </p:cNvSpPr>
          <p:nvPr/>
        </p:nvSpPr>
        <p:spPr>
          <a:xfrm>
            <a:off x="1028700" y="2905125"/>
            <a:ext cx="2590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 i="0">
                <a:solidFill>
                  <a:srgbClr val="183127"/>
                </a:solidFill>
              </a:defRPr>
            </a:pPr>
            <a:r>
              <a:rPr sz="1275" b="0" i="0">
                <a:solidFill>
                  <a:srgbClr val="183127"/>
                </a:solidFill>
              </a:rPr>
              <a:t>Bối cảnh và vấn đề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542B38-B4A2-4201-98BD-78927EA98B8D}"/>
              </a:ext>
            </a:extLst>
          </p:cNvPr>
          <p:cNvSpPr>
            <a:spLocks noGrp="1"/>
          </p:cNvSpPr>
          <p:nvPr/>
        </p:nvSpPr>
        <p:spPr>
          <a:xfrm>
            <a:off x="762000" y="3267075"/>
            <a:ext cx="228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 i="0">
                <a:solidFill>
                  <a:srgbClr val="6B9A6E"/>
                </a:solidFill>
              </a:defRPr>
            </a:pPr>
            <a:r>
              <a:rPr sz="1275" b="1" i="0">
                <a:solidFill>
                  <a:srgbClr val="6B9A6E"/>
                </a:solidFill>
              </a:rPr>
              <a:t>•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34F76F-1895-4DEC-A87B-7D85711C771A}"/>
              </a:ext>
            </a:extLst>
          </p:cNvPr>
          <p:cNvSpPr>
            <a:spLocks noGrp="1"/>
          </p:cNvSpPr>
          <p:nvPr/>
        </p:nvSpPr>
        <p:spPr>
          <a:xfrm>
            <a:off x="1028700" y="3267075"/>
            <a:ext cx="2590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 i="0">
                <a:solidFill>
                  <a:srgbClr val="183127"/>
                </a:solidFill>
              </a:defRPr>
            </a:pPr>
            <a:r>
              <a:rPr sz="1275" b="0" i="0">
                <a:solidFill>
                  <a:srgbClr val="183127"/>
                </a:solidFill>
              </a:rPr>
              <a:t>BACCM, Stakeholder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D994AD8-4801-4A9C-BDD2-5FBFB44DC5BE}"/>
              </a:ext>
            </a:extLst>
          </p:cNvPr>
          <p:cNvSpPr>
            <a:spLocks noGrp="1"/>
          </p:cNvSpPr>
          <p:nvPr/>
        </p:nvSpPr>
        <p:spPr>
          <a:xfrm>
            <a:off x="762000" y="3629025"/>
            <a:ext cx="228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 i="0">
                <a:solidFill>
                  <a:srgbClr val="6B9A6E"/>
                </a:solidFill>
              </a:defRPr>
            </a:pPr>
            <a:r>
              <a:rPr sz="1275" b="1" i="0">
                <a:solidFill>
                  <a:srgbClr val="6B9A6E"/>
                </a:solidFill>
              </a:rPr>
              <a:t>•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B65C069-C364-4CDC-AA3B-87B141C59411}"/>
              </a:ext>
            </a:extLst>
          </p:cNvPr>
          <p:cNvSpPr>
            <a:spLocks noGrp="1"/>
          </p:cNvSpPr>
          <p:nvPr/>
        </p:nvSpPr>
        <p:spPr>
          <a:xfrm>
            <a:off x="1028700" y="3629025"/>
            <a:ext cx="2590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 i="0">
                <a:solidFill>
                  <a:srgbClr val="183127"/>
                </a:solidFill>
              </a:defRPr>
            </a:pPr>
            <a:r>
              <a:rPr sz="1275" b="0" i="0">
                <a:solidFill>
                  <a:srgbClr val="183127"/>
                </a:solidFill>
              </a:rPr>
              <a:t>Scope và Business Rules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BB7BE30-351A-48D5-BF28-8BA836C60E1B}"/>
              </a:ext>
            </a:extLst>
          </p:cNvPr>
          <p:cNvSpPr>
            <a:spLocks noGrp="1"/>
          </p:cNvSpPr>
          <p:nvPr/>
        </p:nvSpPr>
        <p:spPr>
          <a:xfrm>
            <a:off x="762000" y="3990975"/>
            <a:ext cx="228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 i="0">
                <a:solidFill>
                  <a:srgbClr val="6B9A6E"/>
                </a:solidFill>
              </a:defRPr>
            </a:pPr>
            <a:r>
              <a:rPr sz="1275" b="1" i="0">
                <a:solidFill>
                  <a:srgbClr val="6B9A6E"/>
                </a:solidFill>
              </a:rPr>
              <a:t>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4365B66-F8C7-439B-ADB1-3D1644B2A455}"/>
              </a:ext>
            </a:extLst>
          </p:cNvPr>
          <p:cNvSpPr>
            <a:spLocks noGrp="1"/>
          </p:cNvSpPr>
          <p:nvPr/>
        </p:nvSpPr>
        <p:spPr>
          <a:xfrm>
            <a:off x="1028700" y="3990975"/>
            <a:ext cx="2590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 i="0">
                <a:solidFill>
                  <a:srgbClr val="183127"/>
                </a:solidFill>
              </a:defRPr>
            </a:pPr>
            <a:r>
              <a:rPr sz="1275" b="0" i="0">
                <a:solidFill>
                  <a:srgbClr val="183127"/>
                </a:solidFill>
              </a:rPr>
              <a:t>User Story Map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44E55D-C2E6-49BA-8EB8-30824C31B5F1}"/>
              </a:ext>
            </a:extLst>
          </p:cNvPr>
          <p:cNvSpPr>
            <a:spLocks noGrp="1"/>
          </p:cNvSpPr>
          <p:nvPr/>
        </p:nvSpPr>
        <p:spPr>
          <a:xfrm>
            <a:off x="4381500" y="1714500"/>
            <a:ext cx="95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900" b="1" i="0">
                <a:solidFill>
                  <a:srgbClr val="A7C7A4"/>
                </a:solidFill>
              </a:defRPr>
            </a:pPr>
            <a:r>
              <a:rPr sz="3900" b="1" i="0">
                <a:solidFill>
                  <a:srgbClr val="A7C7A4"/>
                </a:solidFill>
              </a:rPr>
              <a:t>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0246879-2C4A-44CF-9E2D-CB4C4C5A7D16}"/>
              </a:ext>
            </a:extLst>
          </p:cNvPr>
          <p:cNvSpPr>
            <a:spLocks noGrp="1"/>
          </p:cNvSpPr>
          <p:nvPr/>
        </p:nvSpPr>
        <p:spPr>
          <a:xfrm>
            <a:off x="4381500" y="2381250"/>
            <a:ext cx="2952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 i="0">
                <a:solidFill>
                  <a:srgbClr val="2E5B3A"/>
                </a:solidFill>
              </a:defRPr>
            </a:pPr>
            <a:r>
              <a:rPr sz="1950" b="1" i="0">
                <a:solidFill>
                  <a:srgbClr val="2E5B3A"/>
                </a:solidFill>
              </a:rPr>
              <a:t>Quy trình nghiệp vụ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0E7E00-C023-443E-ABA3-ADEC686EC0EA}"/>
              </a:ext>
            </a:extLst>
          </p:cNvPr>
          <p:cNvSpPr>
            <a:spLocks noGrp="1"/>
          </p:cNvSpPr>
          <p:nvPr/>
        </p:nvSpPr>
        <p:spPr>
          <a:xfrm>
            <a:off x="4381500" y="2905125"/>
            <a:ext cx="228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 i="0">
                <a:solidFill>
                  <a:srgbClr val="6B9A6E"/>
                </a:solidFill>
              </a:defRPr>
            </a:pPr>
            <a:r>
              <a:rPr sz="1275" b="1" i="0">
                <a:solidFill>
                  <a:srgbClr val="6B9A6E"/>
                </a:solidFill>
              </a:rPr>
              <a:t>•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72392FD-7E90-46A0-81E9-48D4175138CC}"/>
              </a:ext>
            </a:extLst>
          </p:cNvPr>
          <p:cNvSpPr>
            <a:spLocks noGrp="1"/>
          </p:cNvSpPr>
          <p:nvPr/>
        </p:nvSpPr>
        <p:spPr>
          <a:xfrm>
            <a:off x="4648200" y="2905125"/>
            <a:ext cx="2590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 i="0">
                <a:solidFill>
                  <a:srgbClr val="183127"/>
                </a:solidFill>
              </a:defRPr>
            </a:pPr>
            <a:r>
              <a:rPr sz="1275" b="0" i="0">
                <a:solidFill>
                  <a:srgbClr val="183127"/>
                </a:solidFill>
              </a:rPr>
              <a:t>BPMN To-Be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1B34A5-F986-4CAB-AE13-9812841776DA}"/>
              </a:ext>
            </a:extLst>
          </p:cNvPr>
          <p:cNvSpPr>
            <a:spLocks noGrp="1"/>
          </p:cNvSpPr>
          <p:nvPr/>
        </p:nvSpPr>
        <p:spPr>
          <a:xfrm>
            <a:off x="4381500" y="3267075"/>
            <a:ext cx="228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 i="0">
                <a:solidFill>
                  <a:srgbClr val="6B9A6E"/>
                </a:solidFill>
              </a:defRPr>
            </a:pPr>
            <a:r>
              <a:rPr sz="1275" b="1" i="0">
                <a:solidFill>
                  <a:srgbClr val="6B9A6E"/>
                </a:solidFill>
              </a:rPr>
              <a:t>•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D1FA1B0-0E9F-44DD-95BB-CA688C9829A5}"/>
              </a:ext>
            </a:extLst>
          </p:cNvPr>
          <p:cNvSpPr>
            <a:spLocks noGrp="1"/>
          </p:cNvSpPr>
          <p:nvPr/>
        </p:nvSpPr>
        <p:spPr>
          <a:xfrm>
            <a:off x="4648200" y="3267075"/>
            <a:ext cx="2590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 i="0">
                <a:solidFill>
                  <a:srgbClr val="183127"/>
                </a:solidFill>
              </a:defRPr>
            </a:pPr>
            <a:r>
              <a:rPr sz="1275" b="0" i="0">
                <a:solidFill>
                  <a:srgbClr val="183127"/>
                </a:solidFill>
              </a:rPr>
              <a:t>BFD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CB7AA0-1E4B-401A-B57C-2526D0601526}"/>
              </a:ext>
            </a:extLst>
          </p:cNvPr>
          <p:cNvSpPr>
            <a:spLocks noGrp="1"/>
          </p:cNvSpPr>
          <p:nvPr/>
        </p:nvSpPr>
        <p:spPr>
          <a:xfrm>
            <a:off x="4381500" y="3629025"/>
            <a:ext cx="228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 i="0">
                <a:solidFill>
                  <a:srgbClr val="6B9A6E"/>
                </a:solidFill>
              </a:defRPr>
            </a:pPr>
            <a:r>
              <a:rPr sz="1275" b="1" i="0">
                <a:solidFill>
                  <a:srgbClr val="6B9A6E"/>
                </a:solidFill>
              </a:rPr>
              <a:t>•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F6ED054-5953-43AD-9D6D-260ECF1A2C5C}"/>
              </a:ext>
            </a:extLst>
          </p:cNvPr>
          <p:cNvSpPr>
            <a:spLocks noGrp="1"/>
          </p:cNvSpPr>
          <p:nvPr/>
        </p:nvSpPr>
        <p:spPr>
          <a:xfrm>
            <a:off x="4648200" y="3629025"/>
            <a:ext cx="2590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 i="0">
                <a:solidFill>
                  <a:srgbClr val="183127"/>
                </a:solidFill>
              </a:defRPr>
            </a:pPr>
            <a:r>
              <a:rPr sz="1275" b="0" i="0">
                <a:solidFill>
                  <a:srgbClr val="183127"/>
                </a:solidFill>
              </a:rPr>
              <a:t>Use Case Diagram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6DA0624-1ECF-4512-AC7E-AE779073573F}"/>
              </a:ext>
            </a:extLst>
          </p:cNvPr>
          <p:cNvSpPr>
            <a:spLocks noGrp="1"/>
          </p:cNvSpPr>
          <p:nvPr/>
        </p:nvSpPr>
        <p:spPr>
          <a:xfrm>
            <a:off x="4381500" y="3990975"/>
            <a:ext cx="228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 i="0">
                <a:solidFill>
                  <a:srgbClr val="6B9A6E"/>
                </a:solidFill>
              </a:defRPr>
            </a:pPr>
            <a:r>
              <a:rPr sz="1275" b="1" i="0">
                <a:solidFill>
                  <a:srgbClr val="6B9A6E"/>
                </a:solidFill>
              </a:rPr>
              <a:t>•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6DA76BA-A286-410F-9814-40BD575C9518}"/>
              </a:ext>
            </a:extLst>
          </p:cNvPr>
          <p:cNvSpPr>
            <a:spLocks noGrp="1"/>
          </p:cNvSpPr>
          <p:nvPr/>
        </p:nvSpPr>
        <p:spPr>
          <a:xfrm>
            <a:off x="4648200" y="3990975"/>
            <a:ext cx="2590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 i="0">
                <a:solidFill>
                  <a:srgbClr val="183127"/>
                </a:solidFill>
              </a:defRPr>
            </a:pPr>
            <a:r>
              <a:rPr sz="1275" b="0" i="0">
                <a:solidFill>
                  <a:srgbClr val="183127"/>
                </a:solidFill>
              </a:rPr>
              <a:t>Activity &amp; Sequence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AEA9D30-D9F3-41E8-B9D1-CEC21D8F9BD4}"/>
              </a:ext>
            </a:extLst>
          </p:cNvPr>
          <p:cNvSpPr>
            <a:spLocks noGrp="1"/>
          </p:cNvSpPr>
          <p:nvPr/>
        </p:nvSpPr>
        <p:spPr>
          <a:xfrm>
            <a:off x="8001000" y="1714500"/>
            <a:ext cx="952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900" b="1" i="0">
                <a:solidFill>
                  <a:srgbClr val="A7C7A4"/>
                </a:solidFill>
              </a:defRPr>
            </a:pPr>
            <a:r>
              <a:rPr sz="3900" b="1" i="0">
                <a:solidFill>
                  <a:srgbClr val="A7C7A4"/>
                </a:solidFill>
              </a:rPr>
              <a:t>03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7A78A6-B971-40AB-9DDF-3146F49E2F2B}"/>
              </a:ext>
            </a:extLst>
          </p:cNvPr>
          <p:cNvSpPr>
            <a:spLocks noGrp="1"/>
          </p:cNvSpPr>
          <p:nvPr/>
        </p:nvSpPr>
        <p:spPr>
          <a:xfrm>
            <a:off x="8001000" y="238125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950" b="1" i="0">
                <a:solidFill>
                  <a:srgbClr val="2E5B3A"/>
                </a:solidFill>
              </a:defRPr>
            </a:pPr>
            <a:r>
              <a:rPr sz="1950" b="1" i="0">
                <a:solidFill>
                  <a:srgbClr val="2E5B3A"/>
                </a:solidFill>
              </a:rPr>
              <a:t>Phân tích và thiết kế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DA59580-4EAD-438E-BCF9-0F3E6CFED8EC}"/>
              </a:ext>
            </a:extLst>
          </p:cNvPr>
          <p:cNvSpPr>
            <a:spLocks noGrp="1"/>
          </p:cNvSpPr>
          <p:nvPr/>
        </p:nvSpPr>
        <p:spPr>
          <a:xfrm>
            <a:off x="8001000" y="2905125"/>
            <a:ext cx="228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 i="0">
                <a:solidFill>
                  <a:srgbClr val="6B9A6E"/>
                </a:solidFill>
              </a:defRPr>
            </a:pPr>
            <a:r>
              <a:rPr sz="1275" b="1" i="0">
                <a:solidFill>
                  <a:srgbClr val="6B9A6E"/>
                </a:solidFill>
              </a:rPr>
              <a:t>•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BBF6AD9-A576-4736-A107-143597A66F38}"/>
              </a:ext>
            </a:extLst>
          </p:cNvPr>
          <p:cNvSpPr>
            <a:spLocks noGrp="1"/>
          </p:cNvSpPr>
          <p:nvPr/>
        </p:nvSpPr>
        <p:spPr>
          <a:xfrm>
            <a:off x="8267700" y="2905125"/>
            <a:ext cx="2876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 i="0">
                <a:solidFill>
                  <a:srgbClr val="183127"/>
                </a:solidFill>
              </a:defRPr>
            </a:pPr>
            <a:r>
              <a:rPr sz="1275" b="0" i="0">
                <a:solidFill>
                  <a:srgbClr val="183127"/>
                </a:solidFill>
              </a:rPr>
              <a:t>ERD và dữ liệu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50E0348-53C7-4920-9358-3C085518B585}"/>
              </a:ext>
            </a:extLst>
          </p:cNvPr>
          <p:cNvSpPr>
            <a:spLocks noGrp="1"/>
          </p:cNvSpPr>
          <p:nvPr/>
        </p:nvSpPr>
        <p:spPr>
          <a:xfrm>
            <a:off x="8001000" y="3267075"/>
            <a:ext cx="228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 i="0">
                <a:solidFill>
                  <a:srgbClr val="6B9A6E"/>
                </a:solidFill>
              </a:defRPr>
            </a:pPr>
            <a:r>
              <a:rPr sz="1275" b="1" i="0">
                <a:solidFill>
                  <a:srgbClr val="6B9A6E"/>
                </a:solidFill>
              </a:rPr>
              <a:t>•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877D086-C8B6-44A9-BDBC-DC622C3BD203}"/>
              </a:ext>
            </a:extLst>
          </p:cNvPr>
          <p:cNvSpPr>
            <a:spLocks noGrp="1"/>
          </p:cNvSpPr>
          <p:nvPr/>
        </p:nvSpPr>
        <p:spPr>
          <a:xfrm>
            <a:off x="8267700" y="3267075"/>
            <a:ext cx="2876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 i="0">
                <a:solidFill>
                  <a:srgbClr val="183127"/>
                </a:solidFill>
              </a:defRPr>
            </a:pPr>
            <a:r>
              <a:rPr sz="1275" b="0" i="0">
                <a:solidFill>
                  <a:srgbClr val="183127"/>
                </a:solidFill>
              </a:rPr>
              <a:t>API &amp; mã lỗi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D398780-BB0B-464F-89C1-D59E2780ED80}"/>
              </a:ext>
            </a:extLst>
          </p:cNvPr>
          <p:cNvSpPr>
            <a:spLocks noGrp="1"/>
          </p:cNvSpPr>
          <p:nvPr/>
        </p:nvSpPr>
        <p:spPr>
          <a:xfrm>
            <a:off x="8001000" y="3629025"/>
            <a:ext cx="228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 i="0">
                <a:solidFill>
                  <a:srgbClr val="6B9A6E"/>
                </a:solidFill>
              </a:defRPr>
            </a:pPr>
            <a:r>
              <a:rPr sz="1275" b="1" i="0">
                <a:solidFill>
                  <a:srgbClr val="6B9A6E"/>
                </a:solidFill>
              </a:rPr>
              <a:t>•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B9D20EF-9402-46D5-9264-0E2035E85153}"/>
              </a:ext>
            </a:extLst>
          </p:cNvPr>
          <p:cNvSpPr>
            <a:spLocks noGrp="1"/>
          </p:cNvSpPr>
          <p:nvPr/>
        </p:nvSpPr>
        <p:spPr>
          <a:xfrm>
            <a:off x="8267700" y="3629025"/>
            <a:ext cx="2876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0" i="0">
                <a:solidFill>
                  <a:srgbClr val="183127"/>
                </a:solidFill>
              </a:defRPr>
            </a:pPr>
            <a:r>
              <a:rPr sz="1275" b="0" i="0">
                <a:solidFill>
                  <a:srgbClr val="183127"/>
                </a:solidFill>
              </a:rPr>
              <a:t>Wireframe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6F872BC-A115-47B5-B6B3-CDE76166E422}"/>
              </a:ext>
            </a:extLst>
          </p:cNvPr>
          <p:cNvSpPr>
            <a:spLocks noGrp="1"/>
          </p:cNvSpPr>
          <p:nvPr/>
        </p:nvSpPr>
        <p:spPr>
          <a:xfrm>
            <a:off x="8001000" y="3990975"/>
            <a:ext cx="2286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 i="0">
                <a:solidFill>
                  <a:srgbClr val="6B9A6E"/>
                </a:solidFill>
              </a:defRPr>
            </a:pPr>
            <a:r>
              <a:rPr sz="1275" b="1" i="0">
                <a:solidFill>
                  <a:srgbClr val="6B9A6E"/>
                </a:solidFill>
              </a:rPr>
              <a:t>•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B9F6E8F-FB91-49FB-A59A-122BD60C8507}"/>
              </a:ext>
            </a:extLst>
          </p:cNvPr>
          <p:cNvSpPr>
            <a:spLocks noGrp="1"/>
          </p:cNvSpPr>
          <p:nvPr/>
        </p:nvSpPr>
        <p:spPr>
          <a:xfrm>
            <a:off x="8267700" y="3990975"/>
            <a:ext cx="28765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0" i="0">
                <a:solidFill>
                  <a:srgbClr val="183127"/>
                </a:solidFill>
              </a:defRPr>
            </a:pPr>
            <a:r>
              <a:rPr lang="vi-VN" sz="1275" dirty="0"/>
              <a:t>Tài liệu bàn giao và kết luận</a:t>
            </a:r>
            <a:endParaRPr sz="1275" b="0" i="0" dirty="0">
              <a:solidFill>
                <a:srgbClr val="183127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BE02ABF-75F0-4BE7-AC4D-CA5EA8024286}"/>
              </a:ext>
            </a:extLst>
          </p:cNvPr>
          <p:cNvSpPr>
            <a:spLocks noGrp="1"/>
          </p:cNvSpPr>
          <p:nvPr/>
        </p:nvSpPr>
        <p:spPr>
          <a:xfrm>
            <a:off x="762000" y="5715000"/>
            <a:ext cx="1009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575" b="0" i="1">
                <a:solidFill>
                  <a:srgbClr val="65756B"/>
                </a:solidFill>
              </a:defRPr>
            </a:pPr>
            <a:r>
              <a:rPr sz="1575" b="0" i="1">
                <a:solidFill>
                  <a:srgbClr val="65756B"/>
                </a:solidFill>
              </a:rPr>
              <a:t>Mạch trình bày đi từ nhu cầu kinh doanh đến giải pháp và các artifact bàn giao.</a:t>
            </a:r>
          </a:p>
        </p:txBody>
      </p:sp>
    </p:spTree>
    <p:extLst>
      <p:ext uri="{BB962C8B-B14F-4D97-AF65-F5344CB8AC3E}">
        <p14:creationId xmlns:p14="http://schemas.microsoft.com/office/powerpoint/2010/main" val="956901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37DC2D0-4C76-4D2B-BA79-6907C2292FED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3143250" cy="323850"/>
          </a:xfrm>
          <a:prstGeom prst="roundRect">
            <a:avLst>
              <a:gd name="adj" fmla="val 50000"/>
            </a:avLst>
          </a:prstGeom>
          <a:solidFill>
            <a:srgbClr val="2E5B3A"/>
          </a:solidFill>
          <a:ln w="9525">
            <a:solidFill>
              <a:srgbClr val="2E5B3A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C29A3DE-4357-426C-B187-8E701EE92626}"/>
              </a:ext>
            </a:extLst>
          </p:cNvPr>
          <p:cNvSpPr>
            <a:spLocks noGrp="1"/>
          </p:cNvSpPr>
          <p:nvPr/>
        </p:nvSpPr>
        <p:spPr>
          <a:xfrm>
            <a:off x="666750" y="37147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1. XÁC ĐỊNH NHU CẦU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109E4A4-3AA8-4B13-A5B7-CE2F9F583EA5}"/>
              </a:ext>
            </a:extLst>
          </p:cNvPr>
          <p:cNvSpPr>
            <a:spLocks noGrp="1"/>
          </p:cNvSpPr>
          <p:nvPr/>
        </p:nvSpPr>
        <p:spPr>
          <a:xfrm>
            <a:off x="533400" y="800100"/>
            <a:ext cx="10287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 i="0">
                <a:solidFill>
                  <a:srgbClr val="193B2B"/>
                </a:solidFill>
              </a:defRPr>
            </a:pPr>
            <a:r>
              <a:rPr sz="2850" b="1" i="0">
                <a:solidFill>
                  <a:srgbClr val="193B2B"/>
                </a:solidFill>
              </a:rPr>
              <a:t>Mở tài khoản tại quầy tạo ra nhiều điểm nghẽn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C395F2-EAEA-44A0-94B8-E3E2D75FA2C2}"/>
              </a:ext>
            </a:extLst>
          </p:cNvPr>
          <p:cNvSpPr>
            <a:spLocks noGrp="1"/>
          </p:cNvSpPr>
          <p:nvPr/>
        </p:nvSpPr>
        <p:spPr>
          <a:xfrm>
            <a:off x="11144250" y="3810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 i="0">
                <a:solidFill>
                  <a:srgbClr val="65756B"/>
                </a:solidFill>
              </a:defRPr>
            </a:pPr>
            <a:r>
              <a:rPr sz="1050" b="1" i="0">
                <a:solidFill>
                  <a:srgbClr val="65756B"/>
                </a:solidFill>
              </a:rPr>
              <a:t>03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D4D150-A1C2-41CC-9C8B-36C2E57289B7}"/>
              </a:ext>
            </a:extLst>
          </p:cNvPr>
          <p:cNvSpPr>
            <a:spLocks noGrp="1"/>
          </p:cNvSpPr>
          <p:nvPr/>
        </p:nvSpPr>
        <p:spPr>
          <a:xfrm>
            <a:off x="10572750" y="614362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875" b="1" i="1">
                <a:solidFill>
                  <a:srgbClr val="DDE8DA"/>
                </a:solidFill>
              </a:defRPr>
            </a:pPr>
            <a:r>
              <a:rPr sz="1875" b="1" i="1">
                <a:solidFill>
                  <a:srgbClr val="DDE8DA"/>
                </a:solidFill>
              </a:rPr>
              <a:t>eKYC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997ED0-6C8C-4B02-8A23-07FFA8F57286}"/>
              </a:ext>
            </a:extLst>
          </p:cNvPr>
          <p:cNvSpPr>
            <a:spLocks noGrp="1"/>
          </p:cNvSpPr>
          <p:nvPr/>
        </p:nvSpPr>
        <p:spPr>
          <a:xfrm>
            <a:off x="666750" y="16192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 i="0">
                <a:solidFill>
                  <a:srgbClr val="2E5B3A"/>
                </a:solidFill>
              </a:defRPr>
            </a:pPr>
            <a:r>
              <a:rPr sz="1800" b="1" i="0">
                <a:solidFill>
                  <a:srgbClr val="2E5B3A"/>
                </a:solidFill>
              </a:rPr>
              <a:t>Bối cảnh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36DD13-D605-4CF3-BE99-7CB7413C3F70}"/>
              </a:ext>
            </a:extLst>
          </p:cNvPr>
          <p:cNvSpPr>
            <a:spLocks noGrp="1"/>
          </p:cNvSpPr>
          <p:nvPr/>
        </p:nvSpPr>
        <p:spPr>
          <a:xfrm>
            <a:off x="666750" y="2095500"/>
            <a:ext cx="2286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 i="0">
                <a:solidFill>
                  <a:srgbClr val="6B9A6E"/>
                </a:solidFill>
              </a:defRPr>
            </a:pPr>
            <a:r>
              <a:rPr sz="1425" b="1" i="0">
                <a:solidFill>
                  <a:srgbClr val="6B9A6E"/>
                </a:solidFill>
              </a:rPr>
              <a:t>•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825BD4-7ECB-48A8-8DD5-AB660CEC780F}"/>
              </a:ext>
            </a:extLst>
          </p:cNvPr>
          <p:cNvSpPr>
            <a:spLocks noGrp="1"/>
          </p:cNvSpPr>
          <p:nvPr/>
        </p:nvSpPr>
        <p:spPr>
          <a:xfrm>
            <a:off x="933450" y="2095500"/>
            <a:ext cx="50673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 i="0">
                <a:solidFill>
                  <a:srgbClr val="183127"/>
                </a:solidFill>
              </a:defRPr>
            </a:pPr>
            <a:r>
              <a:rPr sz="1425" b="0" i="0" dirty="0" err="1">
                <a:solidFill>
                  <a:srgbClr val="183127"/>
                </a:solidFill>
              </a:rPr>
              <a:t>Khách</a:t>
            </a:r>
            <a:r>
              <a:rPr sz="1425" b="0" i="0" dirty="0">
                <a:solidFill>
                  <a:srgbClr val="183127"/>
                </a:solidFill>
              </a:rPr>
              <a:t> </a:t>
            </a:r>
            <a:r>
              <a:rPr sz="1425" b="0" i="0" dirty="0" err="1">
                <a:solidFill>
                  <a:srgbClr val="183127"/>
                </a:solidFill>
              </a:rPr>
              <a:t>hàng</a:t>
            </a:r>
            <a:r>
              <a:rPr sz="1425" b="0" i="0" dirty="0">
                <a:solidFill>
                  <a:srgbClr val="183127"/>
                </a:solidFill>
              </a:rPr>
              <a:t> </a:t>
            </a:r>
            <a:r>
              <a:rPr sz="1425" b="0" i="0" dirty="0" err="1">
                <a:solidFill>
                  <a:srgbClr val="183127"/>
                </a:solidFill>
              </a:rPr>
              <a:t>phải</a:t>
            </a:r>
            <a:r>
              <a:rPr sz="1425" b="0" i="0" dirty="0">
                <a:solidFill>
                  <a:srgbClr val="183127"/>
                </a:solidFill>
              </a:rPr>
              <a:t> </a:t>
            </a:r>
            <a:r>
              <a:rPr sz="1425" b="0" i="0" dirty="0" err="1">
                <a:solidFill>
                  <a:srgbClr val="183127"/>
                </a:solidFill>
              </a:rPr>
              <a:t>đến</a:t>
            </a:r>
            <a:r>
              <a:rPr sz="1425" b="0" i="0" dirty="0">
                <a:solidFill>
                  <a:srgbClr val="183127"/>
                </a:solidFill>
              </a:rPr>
              <a:t> </a:t>
            </a:r>
            <a:r>
              <a:rPr sz="1425" b="0" i="0" dirty="0" err="1">
                <a:solidFill>
                  <a:srgbClr val="183127"/>
                </a:solidFill>
              </a:rPr>
              <a:t>điểm</a:t>
            </a:r>
            <a:r>
              <a:rPr sz="1425" b="0" i="0" dirty="0">
                <a:solidFill>
                  <a:srgbClr val="183127"/>
                </a:solidFill>
              </a:rPr>
              <a:t> </a:t>
            </a:r>
            <a:r>
              <a:rPr sz="1425" b="0" i="0" dirty="0" err="1">
                <a:solidFill>
                  <a:srgbClr val="183127"/>
                </a:solidFill>
              </a:rPr>
              <a:t>giao</a:t>
            </a:r>
            <a:r>
              <a:rPr sz="1425" b="0" i="0" dirty="0">
                <a:solidFill>
                  <a:srgbClr val="183127"/>
                </a:solidFill>
              </a:rPr>
              <a:t> </a:t>
            </a:r>
            <a:r>
              <a:rPr sz="1425" b="0" i="0" dirty="0" err="1">
                <a:solidFill>
                  <a:srgbClr val="183127"/>
                </a:solidFill>
              </a:rPr>
              <a:t>dịch</a:t>
            </a:r>
            <a:r>
              <a:rPr sz="1425" b="0" i="0" dirty="0">
                <a:solidFill>
                  <a:srgbClr val="183127"/>
                </a:solidFill>
              </a:rPr>
              <a:t> </a:t>
            </a:r>
            <a:r>
              <a:rPr sz="1425" b="0" i="0" dirty="0" err="1">
                <a:solidFill>
                  <a:srgbClr val="183127"/>
                </a:solidFill>
              </a:rPr>
              <a:t>và</a:t>
            </a:r>
            <a:r>
              <a:rPr sz="1425" b="0" i="0" dirty="0">
                <a:solidFill>
                  <a:srgbClr val="183127"/>
                </a:solidFill>
              </a:rPr>
              <a:t> </a:t>
            </a:r>
            <a:r>
              <a:rPr sz="1425" b="0" i="0" dirty="0" err="1">
                <a:solidFill>
                  <a:srgbClr val="183127"/>
                </a:solidFill>
              </a:rPr>
              <a:t>phụ</a:t>
            </a:r>
            <a:r>
              <a:rPr sz="1425" b="0" i="0" dirty="0">
                <a:solidFill>
                  <a:srgbClr val="183127"/>
                </a:solidFill>
              </a:rPr>
              <a:t> </a:t>
            </a:r>
            <a:r>
              <a:rPr sz="1425" b="0" i="0" dirty="0" err="1">
                <a:solidFill>
                  <a:srgbClr val="183127"/>
                </a:solidFill>
              </a:rPr>
              <a:t>thuộc</a:t>
            </a:r>
            <a:r>
              <a:rPr sz="1425" b="0" i="0" dirty="0">
                <a:solidFill>
                  <a:srgbClr val="183127"/>
                </a:solidFill>
              </a:rPr>
              <a:t> </a:t>
            </a:r>
            <a:r>
              <a:rPr sz="1425" b="0" i="0" dirty="0" err="1">
                <a:solidFill>
                  <a:srgbClr val="183127"/>
                </a:solidFill>
              </a:rPr>
              <a:t>thời</a:t>
            </a:r>
            <a:r>
              <a:rPr sz="1425" b="0" i="0" dirty="0">
                <a:solidFill>
                  <a:srgbClr val="183127"/>
                </a:solidFill>
              </a:rPr>
              <a:t> </a:t>
            </a:r>
            <a:r>
              <a:rPr sz="1425" b="0" i="0" dirty="0" err="1">
                <a:solidFill>
                  <a:srgbClr val="183127"/>
                </a:solidFill>
              </a:rPr>
              <a:t>gian</a:t>
            </a:r>
            <a:r>
              <a:rPr sz="1425" b="0" i="0" dirty="0">
                <a:solidFill>
                  <a:srgbClr val="183127"/>
                </a:solidFill>
              </a:rPr>
              <a:t> </a:t>
            </a:r>
            <a:r>
              <a:rPr sz="1425" b="0" i="0" dirty="0" err="1">
                <a:solidFill>
                  <a:srgbClr val="183127"/>
                </a:solidFill>
              </a:rPr>
              <a:t>làm</a:t>
            </a:r>
            <a:r>
              <a:rPr sz="1425" b="0" i="0" dirty="0">
                <a:solidFill>
                  <a:srgbClr val="183127"/>
                </a:solidFill>
              </a:rPr>
              <a:t> </a:t>
            </a:r>
            <a:r>
              <a:rPr sz="1425" b="0" i="0" dirty="0" err="1">
                <a:solidFill>
                  <a:srgbClr val="183127"/>
                </a:solidFill>
              </a:rPr>
              <a:t>việc</a:t>
            </a:r>
            <a:r>
              <a:rPr sz="1425" b="0" i="0" dirty="0">
                <a:solidFill>
                  <a:srgbClr val="183127"/>
                </a:solidFill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C494412-ED8C-4FD5-9FE3-B263BD568A60}"/>
              </a:ext>
            </a:extLst>
          </p:cNvPr>
          <p:cNvSpPr>
            <a:spLocks noGrp="1"/>
          </p:cNvSpPr>
          <p:nvPr/>
        </p:nvSpPr>
        <p:spPr>
          <a:xfrm>
            <a:off x="666750" y="2838450"/>
            <a:ext cx="2286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 i="0">
                <a:solidFill>
                  <a:srgbClr val="6B9A6E"/>
                </a:solidFill>
              </a:defRPr>
            </a:pPr>
            <a:r>
              <a:rPr sz="1425" b="1" i="0">
                <a:solidFill>
                  <a:srgbClr val="6B9A6E"/>
                </a:solidFill>
              </a:rPr>
              <a:t>•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06A9A5-C07F-4343-8372-117DB033966A}"/>
              </a:ext>
            </a:extLst>
          </p:cNvPr>
          <p:cNvSpPr>
            <a:spLocks noGrp="1"/>
          </p:cNvSpPr>
          <p:nvPr/>
        </p:nvSpPr>
        <p:spPr>
          <a:xfrm>
            <a:off x="933450" y="2838450"/>
            <a:ext cx="50673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 i="0">
                <a:solidFill>
                  <a:srgbClr val="183127"/>
                </a:solidFill>
              </a:defRPr>
            </a:pPr>
            <a:r>
              <a:rPr sz="1425" b="0" i="0">
                <a:solidFill>
                  <a:srgbClr val="183127"/>
                </a:solidFill>
              </a:rPr>
              <a:t>Nhân viên thực hiện nhiều bước kiểm tra giấy tờ và nhập liệu thủ công.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22C1ED2-3549-4903-BC40-C2F8FA2579D4}"/>
              </a:ext>
            </a:extLst>
          </p:cNvPr>
          <p:cNvSpPr>
            <a:spLocks noGrp="1"/>
          </p:cNvSpPr>
          <p:nvPr/>
        </p:nvSpPr>
        <p:spPr>
          <a:xfrm>
            <a:off x="666750" y="3581400"/>
            <a:ext cx="2286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 i="0">
                <a:solidFill>
                  <a:srgbClr val="6B9A6E"/>
                </a:solidFill>
              </a:defRPr>
            </a:pPr>
            <a:r>
              <a:rPr sz="1425" b="1" i="0">
                <a:solidFill>
                  <a:srgbClr val="6B9A6E"/>
                </a:solidFill>
              </a:rPr>
              <a:t>•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D3B7A0-4512-46DF-A273-1D180D21CD28}"/>
              </a:ext>
            </a:extLst>
          </p:cNvPr>
          <p:cNvSpPr>
            <a:spLocks noGrp="1"/>
          </p:cNvSpPr>
          <p:nvPr/>
        </p:nvSpPr>
        <p:spPr>
          <a:xfrm>
            <a:off x="933450" y="3581400"/>
            <a:ext cx="50673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 i="0">
                <a:solidFill>
                  <a:srgbClr val="183127"/>
                </a:solidFill>
              </a:defRPr>
            </a:pPr>
            <a:r>
              <a:rPr sz="1425" b="0" i="0">
                <a:solidFill>
                  <a:srgbClr val="183127"/>
                </a:solidFill>
              </a:rPr>
              <a:t>Ngân hàng khó tiếp cận khách hàng ở xa hoặc cần mở tài khoản nhanh.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507856-9332-4E49-A93B-8A6264AD5213}"/>
              </a:ext>
            </a:extLst>
          </p:cNvPr>
          <p:cNvSpPr>
            <a:spLocks noGrp="1"/>
          </p:cNvSpPr>
          <p:nvPr/>
        </p:nvSpPr>
        <p:spPr>
          <a:xfrm>
            <a:off x="666750" y="461962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 i="0">
                <a:solidFill>
                  <a:srgbClr val="2E5B3A"/>
                </a:solidFill>
              </a:defRPr>
            </a:pPr>
            <a:r>
              <a:rPr sz="1800" b="1" i="0">
                <a:solidFill>
                  <a:srgbClr val="2E5B3A"/>
                </a:solidFill>
              </a:rPr>
              <a:t>Câu hỏi trung tâm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FA8A56-D5A4-413D-ACBB-C6A2F1FDDEAD}"/>
              </a:ext>
            </a:extLst>
          </p:cNvPr>
          <p:cNvSpPr>
            <a:spLocks noGrp="1"/>
          </p:cNvSpPr>
          <p:nvPr/>
        </p:nvSpPr>
        <p:spPr>
          <a:xfrm>
            <a:off x="666750" y="5048250"/>
            <a:ext cx="5334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 i="0">
                <a:solidFill>
                  <a:srgbClr val="193B2B"/>
                </a:solidFill>
              </a:defRPr>
            </a:pPr>
            <a:r>
              <a:rPr sz="1875" b="1" i="0">
                <a:solidFill>
                  <a:srgbClr val="193B2B"/>
                </a:solidFill>
              </a:rPr>
              <a:t>Làm thế nào để khách hàng đủ điều kiện có thể mở tài khoản an toàn, nhanh chóng và hoàn toàn online?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B9FB7C-0946-4D8B-91AA-9668605EAA25}"/>
              </a:ext>
            </a:extLst>
          </p:cNvPr>
          <p:cNvSpPr>
            <a:spLocks noGrp="1"/>
          </p:cNvSpPr>
          <p:nvPr/>
        </p:nvSpPr>
        <p:spPr>
          <a:xfrm>
            <a:off x="6667500" y="1857375"/>
            <a:ext cx="2095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4050" b="1" i="0">
                <a:solidFill>
                  <a:srgbClr val="2E5B3A"/>
                </a:solidFill>
              </a:defRPr>
            </a:pPr>
            <a:r>
              <a:rPr sz="4050" b="1" i="0">
                <a:solidFill>
                  <a:srgbClr val="2E5B3A"/>
                </a:solidFill>
              </a:rPr>
              <a:t>&lt;10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C5AA896-DB6B-4068-8992-45EC12E52C1D}"/>
              </a:ext>
            </a:extLst>
          </p:cNvPr>
          <p:cNvSpPr>
            <a:spLocks noGrp="1"/>
          </p:cNvSpPr>
          <p:nvPr/>
        </p:nvSpPr>
        <p:spPr>
          <a:xfrm>
            <a:off x="6762750" y="2543175"/>
            <a:ext cx="1905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0" i="0">
                <a:solidFill>
                  <a:srgbClr val="65756B"/>
                </a:solidFill>
              </a:defRPr>
            </a:pPr>
            <a:r>
              <a:rPr lang="vi-VN" sz="1275" dirty="0"/>
              <a:t>Mục tiêu trải nghiệm cho luồng thành công</a:t>
            </a:r>
            <a:endParaRPr sz="1275" b="0" i="0" dirty="0">
              <a:solidFill>
                <a:srgbClr val="65756B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DE0F73F-2B6E-4C62-B131-2FF17A34E9EF}"/>
              </a:ext>
            </a:extLst>
          </p:cNvPr>
          <p:cNvSpPr>
            <a:spLocks noGrp="1"/>
          </p:cNvSpPr>
          <p:nvPr/>
        </p:nvSpPr>
        <p:spPr>
          <a:xfrm>
            <a:off x="9048750" y="1857375"/>
            <a:ext cx="2095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4050" b="1" i="0">
                <a:solidFill>
                  <a:srgbClr val="6B9A6E"/>
                </a:solidFill>
              </a:defRPr>
            </a:pPr>
            <a:r>
              <a:rPr lang="en-US" sz="4050" dirty="0"/>
              <a:t>70%</a:t>
            </a:r>
            <a:endParaRPr sz="4050" b="1" i="0" dirty="0">
              <a:solidFill>
                <a:srgbClr val="6B9A6E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B1E428D-F676-4EDB-892A-DEB23BE530B4}"/>
              </a:ext>
            </a:extLst>
          </p:cNvPr>
          <p:cNvSpPr>
            <a:spLocks noGrp="1"/>
          </p:cNvSpPr>
          <p:nvPr/>
        </p:nvSpPr>
        <p:spPr>
          <a:xfrm>
            <a:off x="9144000" y="2543175"/>
            <a:ext cx="1905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0" i="0">
                <a:solidFill>
                  <a:srgbClr val="65756B"/>
                </a:solidFill>
              </a:defRPr>
            </a:pPr>
            <a:r>
              <a:rPr lang="vi-VN" sz="1275" dirty="0"/>
              <a:t>Giảm nhập liệu thủ công</a:t>
            </a:r>
            <a:endParaRPr sz="1275" b="0" i="0" dirty="0">
              <a:solidFill>
                <a:srgbClr val="65756B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705103F-AE00-4969-B48E-52016DFA7275}"/>
              </a:ext>
            </a:extLst>
          </p:cNvPr>
          <p:cNvSpPr>
            <a:spLocks noGrp="1"/>
          </p:cNvSpPr>
          <p:nvPr/>
        </p:nvSpPr>
        <p:spPr>
          <a:xfrm>
            <a:off x="7858125" y="36195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4050" b="1" i="0">
                <a:solidFill>
                  <a:srgbClr val="294C64"/>
                </a:solidFill>
              </a:defRPr>
            </a:pPr>
            <a:r>
              <a:rPr lang="en-US" sz="4050" dirty="0"/>
              <a:t>40-50%</a:t>
            </a:r>
            <a:endParaRPr sz="4050" b="1" i="0" dirty="0">
              <a:solidFill>
                <a:srgbClr val="294C64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060DB37-1D2C-4EDC-914A-B1A403737E1B}"/>
              </a:ext>
            </a:extLst>
          </p:cNvPr>
          <p:cNvSpPr>
            <a:spLocks noGrp="1"/>
          </p:cNvSpPr>
          <p:nvPr/>
        </p:nvSpPr>
        <p:spPr>
          <a:xfrm>
            <a:off x="7953375" y="4305300"/>
            <a:ext cx="2190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0" i="0">
                <a:solidFill>
                  <a:srgbClr val="65756B"/>
                </a:solidFill>
              </a:defRPr>
            </a:pPr>
            <a:r>
              <a:rPr lang="vi-VN" sz="1275" dirty="0"/>
              <a:t>Giảm chi phí xử lý/hồ sơ </a:t>
            </a:r>
            <a:endParaRPr sz="1275" b="0" i="0" dirty="0">
              <a:solidFill>
                <a:srgbClr val="65756B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8842C91-421F-CF4B-B0F2-7C256E67DAE0}"/>
              </a:ext>
            </a:extLst>
          </p:cNvPr>
          <p:cNvSpPr>
            <a:spLocks noGrp="1"/>
          </p:cNvSpPr>
          <p:nvPr/>
        </p:nvSpPr>
        <p:spPr>
          <a:xfrm>
            <a:off x="6762750" y="5114925"/>
            <a:ext cx="50673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0" i="0">
                <a:solidFill>
                  <a:srgbClr val="183127"/>
                </a:solidFill>
              </a:defRPr>
            </a:pPr>
            <a:r>
              <a:rPr lang="en-US" sz="1425" dirty="0"/>
              <a:t>B</a:t>
            </a:r>
            <a:r>
              <a:rPr lang="vi-VN" sz="1425" dirty="0"/>
              <a:t>aseline và mục tiêu giả định phục vụ đồ án; chưa đo thực tế</a:t>
            </a:r>
            <a:endParaRPr sz="1425" b="0" i="0" dirty="0">
              <a:solidFill>
                <a:srgbClr val="18312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6288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173BEAA-1827-425C-A32C-2A6656314E77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3143250" cy="323850"/>
          </a:xfrm>
          <a:prstGeom prst="roundRect">
            <a:avLst>
              <a:gd name="adj" fmla="val 50000"/>
            </a:avLst>
          </a:prstGeom>
          <a:solidFill>
            <a:srgbClr val="2E5B3A"/>
          </a:solidFill>
          <a:ln w="9525">
            <a:solidFill>
              <a:srgbClr val="2E5B3A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F86CE07-B240-47CD-ABB1-9F729935351F}"/>
              </a:ext>
            </a:extLst>
          </p:cNvPr>
          <p:cNvSpPr>
            <a:spLocks noGrp="1"/>
          </p:cNvSpPr>
          <p:nvPr/>
        </p:nvSpPr>
        <p:spPr>
          <a:xfrm>
            <a:off x="666750" y="37147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1. XÁC ĐỊNH NHU CẦU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F88821-38DB-4A99-BE6D-92E854804F63}"/>
              </a:ext>
            </a:extLst>
          </p:cNvPr>
          <p:cNvSpPr>
            <a:spLocks noGrp="1"/>
          </p:cNvSpPr>
          <p:nvPr/>
        </p:nvSpPr>
        <p:spPr>
          <a:xfrm>
            <a:off x="533400" y="800100"/>
            <a:ext cx="10287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 i="0">
                <a:solidFill>
                  <a:srgbClr val="193B2B"/>
                </a:solidFill>
              </a:defRPr>
            </a:pPr>
            <a:r>
              <a:rPr sz="2850" b="1" i="0">
                <a:solidFill>
                  <a:srgbClr val="193B2B"/>
                </a:solidFill>
              </a:rPr>
              <a:t>Phạm vi MVP tập trung vào một hành trình rõ ràng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26F55EC-E0AB-422E-8FD6-FB2900583A1B}"/>
              </a:ext>
            </a:extLst>
          </p:cNvPr>
          <p:cNvSpPr>
            <a:spLocks noGrp="1"/>
          </p:cNvSpPr>
          <p:nvPr/>
        </p:nvSpPr>
        <p:spPr>
          <a:xfrm>
            <a:off x="11144250" y="3810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 i="0">
                <a:solidFill>
                  <a:srgbClr val="65756B"/>
                </a:solidFill>
              </a:defRPr>
            </a:pPr>
            <a:r>
              <a:rPr sz="1050" b="1" i="0">
                <a:solidFill>
                  <a:srgbClr val="65756B"/>
                </a:solidFill>
              </a:rPr>
              <a:t>04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895C833-414B-480D-962D-987E8F55E41B}"/>
              </a:ext>
            </a:extLst>
          </p:cNvPr>
          <p:cNvSpPr>
            <a:spLocks noGrp="1"/>
          </p:cNvSpPr>
          <p:nvPr/>
        </p:nvSpPr>
        <p:spPr>
          <a:xfrm>
            <a:off x="10572750" y="614362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875" b="1" i="1">
                <a:solidFill>
                  <a:srgbClr val="DDE8DA"/>
                </a:solidFill>
              </a:defRPr>
            </a:pPr>
            <a:r>
              <a:rPr sz="1875" b="1" i="1">
                <a:solidFill>
                  <a:srgbClr val="DDE8DA"/>
                </a:solidFill>
              </a:rPr>
              <a:t>eKYC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46B7C5D-2EC4-42CC-8BFF-BD2AF850E095}"/>
              </a:ext>
            </a:extLst>
          </p:cNvPr>
          <p:cNvSpPr>
            <a:spLocks noGrp="1"/>
          </p:cNvSpPr>
          <p:nvPr/>
        </p:nvSpPr>
        <p:spPr>
          <a:xfrm>
            <a:off x="666750" y="1571625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 i="0">
                <a:solidFill>
                  <a:srgbClr val="2E5B3A"/>
                </a:solidFill>
              </a:defRPr>
            </a:pPr>
            <a:r>
              <a:rPr sz="1800" b="1" i="0">
                <a:solidFill>
                  <a:srgbClr val="2E5B3A"/>
                </a:solidFill>
              </a:rPr>
              <a:t>Đối tượng chính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B025D3-A1CD-48C7-B51D-ED85D2969E66}"/>
              </a:ext>
            </a:extLst>
          </p:cNvPr>
          <p:cNvSpPr>
            <a:spLocks noGrp="1"/>
          </p:cNvSpPr>
          <p:nvPr/>
        </p:nvSpPr>
        <p:spPr>
          <a:xfrm>
            <a:off x="666750" y="2047875"/>
            <a:ext cx="4762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325" b="1" i="0">
                <a:solidFill>
                  <a:srgbClr val="193B2B"/>
                </a:solidFill>
              </a:defRPr>
            </a:pPr>
            <a:r>
              <a:rPr sz="2325" b="1" i="0">
                <a:solidFill>
                  <a:srgbClr val="193B2B"/>
                </a:solidFill>
              </a:rPr>
              <a:t>Khách hàng cá nhân Việt Nam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8B3AE4-D58F-412E-8C57-9EE8FF6EFD0D}"/>
              </a:ext>
            </a:extLst>
          </p:cNvPr>
          <p:cNvSpPr>
            <a:spLocks noGrp="1"/>
          </p:cNvSpPr>
          <p:nvPr/>
        </p:nvSpPr>
        <p:spPr>
          <a:xfrm>
            <a:off x="666750" y="2571750"/>
            <a:ext cx="4953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0" i="0">
                <a:solidFill>
                  <a:srgbClr val="65756B"/>
                </a:solidFill>
              </a:defRPr>
            </a:pPr>
            <a:r>
              <a:rPr lang="en-US" sz="1575" dirty="0"/>
              <a:t>T</a:t>
            </a:r>
            <a:r>
              <a:rPr lang="vi-VN" sz="1575" dirty="0"/>
              <a:t>ừ đủ 18 tuổi, CCCD còn hiệu lực và chưa có CIF tại ngân hàng</a:t>
            </a:r>
            <a:endParaRPr sz="1575" b="0" i="0" dirty="0">
              <a:solidFill>
                <a:srgbClr val="65756B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88DD922-0D04-4013-8DEB-F87AD93D4F76}"/>
              </a:ext>
            </a:extLst>
          </p:cNvPr>
          <p:cNvSpPr>
            <a:spLocks noGrp="1"/>
          </p:cNvSpPr>
          <p:nvPr/>
        </p:nvSpPr>
        <p:spPr>
          <a:xfrm>
            <a:off x="666750" y="3333750"/>
            <a:ext cx="4857750" cy="2724150"/>
          </a:xfrm>
          <a:prstGeom prst="roundRect">
            <a:avLst>
              <a:gd name="adj" fmla="val 5217"/>
            </a:avLst>
          </a:prstGeom>
          <a:solidFill>
            <a:srgbClr val="E4F1E2"/>
          </a:solidFill>
          <a:ln w="9525">
            <a:solidFill>
              <a:srgbClr val="A7C7A4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58D261-646F-424E-B1FE-28E7D822FFB1}"/>
              </a:ext>
            </a:extLst>
          </p:cNvPr>
          <p:cNvSpPr>
            <a:spLocks noGrp="1"/>
          </p:cNvSpPr>
          <p:nvPr/>
        </p:nvSpPr>
        <p:spPr>
          <a:xfrm>
            <a:off x="904875" y="3571875"/>
            <a:ext cx="438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 i="0">
                <a:solidFill>
                  <a:srgbClr val="2E5B3A"/>
                </a:solidFill>
              </a:defRPr>
            </a:pPr>
            <a:r>
              <a:rPr sz="1500" b="1" i="0">
                <a:solidFill>
                  <a:srgbClr val="2E5B3A"/>
                </a:solidFill>
              </a:rPr>
              <a:t>TRONG PHẠM VI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31B66AE-0B7A-4058-A6A7-3273EB4CA92B}"/>
              </a:ext>
            </a:extLst>
          </p:cNvPr>
          <p:cNvSpPr>
            <a:spLocks noGrp="1"/>
          </p:cNvSpPr>
          <p:nvPr/>
        </p:nvSpPr>
        <p:spPr>
          <a:xfrm>
            <a:off x="904875" y="4000500"/>
            <a:ext cx="228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6B9A6E"/>
                </a:solidFill>
              </a:defRPr>
            </a:pPr>
            <a:r>
              <a:rPr sz="1350" b="1" i="0">
                <a:solidFill>
                  <a:srgbClr val="6B9A6E"/>
                </a:solidFill>
              </a:rPr>
              <a:t>•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14F320-BE46-4D61-BB17-CDFAE551A405}"/>
              </a:ext>
            </a:extLst>
          </p:cNvPr>
          <p:cNvSpPr>
            <a:spLocks noGrp="1"/>
          </p:cNvSpPr>
          <p:nvPr/>
        </p:nvSpPr>
        <p:spPr>
          <a:xfrm>
            <a:off x="1171574" y="4000500"/>
            <a:ext cx="44481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0">
                <a:solidFill>
                  <a:srgbClr val="183127"/>
                </a:solidFill>
              </a:defRPr>
            </a:pPr>
            <a:r>
              <a:rPr sz="1350" b="0" i="0" dirty="0" err="1">
                <a:solidFill>
                  <a:srgbClr val="183127"/>
                </a:solidFill>
              </a:rPr>
              <a:t>Xác</a:t>
            </a:r>
            <a:r>
              <a:rPr sz="1350" b="0" i="0" dirty="0">
                <a:solidFill>
                  <a:srgbClr val="183127"/>
                </a:solidFill>
              </a:rPr>
              <a:t> </a:t>
            </a:r>
            <a:r>
              <a:rPr sz="1350" b="0" i="0" dirty="0" err="1">
                <a:solidFill>
                  <a:srgbClr val="183127"/>
                </a:solidFill>
              </a:rPr>
              <a:t>thực</a:t>
            </a:r>
            <a:r>
              <a:rPr sz="1350" b="0" i="0" dirty="0">
                <a:solidFill>
                  <a:srgbClr val="183127"/>
                </a:solidFill>
              </a:rPr>
              <a:t> </a:t>
            </a:r>
            <a:r>
              <a:rPr sz="1350" b="0" i="0" dirty="0" err="1">
                <a:solidFill>
                  <a:srgbClr val="183127"/>
                </a:solidFill>
              </a:rPr>
              <a:t>số</a:t>
            </a:r>
            <a:r>
              <a:rPr sz="1350" b="0" i="0" dirty="0">
                <a:solidFill>
                  <a:srgbClr val="183127"/>
                </a:solidFill>
              </a:rPr>
              <a:t> </a:t>
            </a:r>
            <a:r>
              <a:rPr sz="1350" b="0" i="0" dirty="0" err="1">
                <a:solidFill>
                  <a:srgbClr val="183127"/>
                </a:solidFill>
              </a:rPr>
              <a:t>điện</a:t>
            </a:r>
            <a:r>
              <a:rPr sz="1350" b="0" i="0" dirty="0">
                <a:solidFill>
                  <a:srgbClr val="183127"/>
                </a:solidFill>
              </a:rPr>
              <a:t> </a:t>
            </a:r>
            <a:r>
              <a:rPr sz="1350" b="0" i="0" dirty="0" err="1">
                <a:solidFill>
                  <a:srgbClr val="183127"/>
                </a:solidFill>
              </a:rPr>
              <a:t>thoại</a:t>
            </a:r>
            <a:r>
              <a:rPr sz="1350" b="0" i="0" dirty="0">
                <a:solidFill>
                  <a:srgbClr val="183127"/>
                </a:solidFill>
              </a:rPr>
              <a:t> </a:t>
            </a:r>
            <a:r>
              <a:rPr sz="1350" b="0" i="0" dirty="0" err="1">
                <a:solidFill>
                  <a:srgbClr val="183127"/>
                </a:solidFill>
              </a:rPr>
              <a:t>bằng</a:t>
            </a:r>
            <a:r>
              <a:rPr sz="1350" b="0" i="0" dirty="0">
                <a:solidFill>
                  <a:srgbClr val="183127"/>
                </a:solidFill>
              </a:rPr>
              <a:t> OTP</a:t>
            </a:r>
            <a:r>
              <a:rPr lang="en-US" sz="1350" b="0" i="0" dirty="0">
                <a:solidFill>
                  <a:srgbClr val="183127"/>
                </a:solidFill>
              </a:rPr>
              <a:t> t</a:t>
            </a:r>
            <a:r>
              <a:rPr lang="vi-VN" sz="1350" dirty="0"/>
              <a:t>heo giới hạn đã định nghĩa</a:t>
            </a:r>
            <a:endParaRPr sz="1350" b="0" i="0" dirty="0">
              <a:solidFill>
                <a:srgbClr val="183127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52BB6E4-8686-40A8-8CAA-2D8F96E8C176}"/>
              </a:ext>
            </a:extLst>
          </p:cNvPr>
          <p:cNvSpPr>
            <a:spLocks noGrp="1"/>
          </p:cNvSpPr>
          <p:nvPr/>
        </p:nvSpPr>
        <p:spPr>
          <a:xfrm>
            <a:off x="904875" y="4381500"/>
            <a:ext cx="228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6B9A6E"/>
                </a:solidFill>
              </a:defRPr>
            </a:pPr>
            <a:r>
              <a:rPr sz="1350" b="1" i="0" dirty="0">
                <a:solidFill>
                  <a:srgbClr val="6B9A6E"/>
                </a:solidFill>
              </a:rPr>
              <a:t>•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88B08BA-5C61-4559-8CEC-14E8364D4B6A}"/>
              </a:ext>
            </a:extLst>
          </p:cNvPr>
          <p:cNvSpPr>
            <a:spLocks noGrp="1"/>
          </p:cNvSpPr>
          <p:nvPr/>
        </p:nvSpPr>
        <p:spPr>
          <a:xfrm>
            <a:off x="1171575" y="4381500"/>
            <a:ext cx="3924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 i="0">
                <a:solidFill>
                  <a:srgbClr val="183127"/>
                </a:solidFill>
              </a:defRPr>
            </a:pPr>
            <a:r>
              <a:rPr sz="1350" b="0" i="0" dirty="0">
                <a:solidFill>
                  <a:srgbClr val="183127"/>
                </a:solidFill>
              </a:rPr>
              <a:t>OCR CCCD, Face Matching, Liveness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8756708-39BA-437E-B5C6-023601D0D91D}"/>
              </a:ext>
            </a:extLst>
          </p:cNvPr>
          <p:cNvSpPr>
            <a:spLocks noGrp="1"/>
          </p:cNvSpPr>
          <p:nvPr/>
        </p:nvSpPr>
        <p:spPr>
          <a:xfrm>
            <a:off x="904875" y="4762500"/>
            <a:ext cx="228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6B9A6E"/>
                </a:solidFill>
              </a:defRPr>
            </a:pPr>
            <a:r>
              <a:rPr sz="1350" b="1" i="0">
                <a:solidFill>
                  <a:srgbClr val="6B9A6E"/>
                </a:solidFill>
              </a:rPr>
              <a:t>•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AC4EDA-A750-463E-96E1-A3FB1F3E17F9}"/>
              </a:ext>
            </a:extLst>
          </p:cNvPr>
          <p:cNvSpPr>
            <a:spLocks noGrp="1"/>
          </p:cNvSpPr>
          <p:nvPr/>
        </p:nvSpPr>
        <p:spPr>
          <a:xfrm>
            <a:off x="1171575" y="4762500"/>
            <a:ext cx="3924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0">
                <a:solidFill>
                  <a:srgbClr val="183127"/>
                </a:solidFill>
              </a:defRPr>
            </a:pPr>
            <a:r>
              <a:rPr lang="en-US" sz="1350" dirty="0"/>
              <a:t>G</a:t>
            </a:r>
            <a:r>
              <a:rPr lang="vi-VN" sz="1350" dirty="0"/>
              <a:t>ửi hồ sơ, kiểm tra CIF/CCCD trùng, tạo CIF/tài khoản và thông báo App/SMS</a:t>
            </a:r>
            <a:endParaRPr sz="1350" b="0" i="0" dirty="0">
              <a:solidFill>
                <a:srgbClr val="183127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3D3733-F82B-4547-AFDC-EB6CC1601C0E}"/>
              </a:ext>
            </a:extLst>
          </p:cNvPr>
          <p:cNvSpPr>
            <a:spLocks noGrp="1"/>
          </p:cNvSpPr>
          <p:nvPr/>
        </p:nvSpPr>
        <p:spPr>
          <a:xfrm>
            <a:off x="895350" y="5334000"/>
            <a:ext cx="228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6B9A6E"/>
                </a:solidFill>
              </a:defRPr>
            </a:pPr>
            <a:r>
              <a:rPr sz="1350" b="1" i="0" dirty="0">
                <a:solidFill>
                  <a:srgbClr val="6B9A6E"/>
                </a:solidFill>
              </a:rPr>
              <a:t>•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695861-E1FF-4B95-9D46-E677EDA9A13A}"/>
              </a:ext>
            </a:extLst>
          </p:cNvPr>
          <p:cNvSpPr>
            <a:spLocks noGrp="1"/>
          </p:cNvSpPr>
          <p:nvPr/>
        </p:nvSpPr>
        <p:spPr>
          <a:xfrm>
            <a:off x="1143000" y="5334393"/>
            <a:ext cx="3924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0">
                <a:solidFill>
                  <a:srgbClr val="183127"/>
                </a:solidFill>
              </a:defRPr>
            </a:pPr>
            <a:r>
              <a:rPr lang="vi-VN" sz="1350" dirty="0"/>
              <a:t>Thiết lập username, mật khẩu và PIN; xác nhận thành công và tiếp tục sau gián đoạn</a:t>
            </a:r>
            <a:endParaRPr sz="1350" b="0" i="0" dirty="0">
              <a:solidFill>
                <a:srgbClr val="183127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4FFD232-E347-4B79-BEB1-1527AC60CC30}"/>
              </a:ext>
            </a:extLst>
          </p:cNvPr>
          <p:cNvSpPr>
            <a:spLocks noGrp="1"/>
          </p:cNvSpPr>
          <p:nvPr/>
        </p:nvSpPr>
        <p:spPr>
          <a:xfrm>
            <a:off x="6191250" y="3333750"/>
            <a:ext cx="4857750" cy="2190750"/>
          </a:xfrm>
          <a:prstGeom prst="roundRect">
            <a:avLst>
              <a:gd name="adj" fmla="val 5217"/>
            </a:avLst>
          </a:prstGeom>
          <a:solidFill>
            <a:srgbClr val="F7E7E5"/>
          </a:solidFill>
          <a:ln w="9525">
            <a:solidFill>
              <a:srgbClr val="D9A19C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DC9A588-944B-453B-BEEE-70E26A776E3B}"/>
              </a:ext>
            </a:extLst>
          </p:cNvPr>
          <p:cNvSpPr>
            <a:spLocks noGrp="1"/>
          </p:cNvSpPr>
          <p:nvPr/>
        </p:nvSpPr>
        <p:spPr>
          <a:xfrm>
            <a:off x="6429375" y="3571875"/>
            <a:ext cx="438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00" b="1" i="0">
                <a:solidFill>
                  <a:srgbClr val="8A3B35"/>
                </a:solidFill>
              </a:defRPr>
            </a:pPr>
            <a:r>
              <a:rPr sz="1500" b="1" i="0">
                <a:solidFill>
                  <a:srgbClr val="8A3B35"/>
                </a:solidFill>
              </a:rPr>
              <a:t>NGOÀI PHẠM VI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18960A7-CEC8-40C0-978A-49144F0BF6AE}"/>
              </a:ext>
            </a:extLst>
          </p:cNvPr>
          <p:cNvSpPr>
            <a:spLocks noGrp="1"/>
          </p:cNvSpPr>
          <p:nvPr/>
        </p:nvSpPr>
        <p:spPr>
          <a:xfrm>
            <a:off x="6429375" y="4000500"/>
            <a:ext cx="228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C96A60"/>
                </a:solidFill>
              </a:defRPr>
            </a:pPr>
            <a:r>
              <a:rPr sz="1350" b="1" i="0">
                <a:solidFill>
                  <a:srgbClr val="C96A60"/>
                </a:solidFill>
              </a:rPr>
              <a:t>•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0E57C71-D17A-4E12-8383-DAFEFF658E39}"/>
              </a:ext>
            </a:extLst>
          </p:cNvPr>
          <p:cNvSpPr>
            <a:spLocks noGrp="1"/>
          </p:cNvSpPr>
          <p:nvPr/>
        </p:nvSpPr>
        <p:spPr>
          <a:xfrm>
            <a:off x="6696075" y="4000500"/>
            <a:ext cx="4324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0">
                <a:solidFill>
                  <a:srgbClr val="183127"/>
                </a:solidFill>
              </a:defRPr>
            </a:pPr>
            <a:r>
              <a:rPr sz="1350" b="0" i="0" dirty="0" err="1">
                <a:solidFill>
                  <a:srgbClr val="183127"/>
                </a:solidFill>
              </a:rPr>
              <a:t>Khách</a:t>
            </a:r>
            <a:r>
              <a:rPr sz="1350" b="0" i="0" dirty="0">
                <a:solidFill>
                  <a:srgbClr val="183127"/>
                </a:solidFill>
              </a:rPr>
              <a:t> </a:t>
            </a:r>
            <a:r>
              <a:rPr sz="1350" b="0" i="0" dirty="0" err="1">
                <a:solidFill>
                  <a:srgbClr val="183127"/>
                </a:solidFill>
              </a:rPr>
              <a:t>hàng</a:t>
            </a:r>
            <a:r>
              <a:rPr lang="en-US" sz="1350" b="0" i="0" dirty="0">
                <a:solidFill>
                  <a:srgbClr val="183127"/>
                </a:solidFill>
              </a:rPr>
              <a:t> </a:t>
            </a:r>
            <a:r>
              <a:rPr lang="vi-VN" sz="1350" dirty="0"/>
              <a:t>hiện hữu mở thêm tài khoản,</a:t>
            </a:r>
            <a:r>
              <a:rPr lang="en-US" sz="1350" dirty="0"/>
              <a:t> </a:t>
            </a:r>
            <a:r>
              <a:rPr sz="1350" b="0" i="0" dirty="0">
                <a:solidFill>
                  <a:srgbClr val="183127"/>
                </a:solidFill>
              </a:rPr>
              <a:t> </a:t>
            </a:r>
            <a:r>
              <a:rPr sz="1350" b="0" i="0" dirty="0" err="1">
                <a:solidFill>
                  <a:srgbClr val="183127"/>
                </a:solidFill>
              </a:rPr>
              <a:t>doanh</a:t>
            </a:r>
            <a:r>
              <a:rPr sz="1350" b="0" i="0" dirty="0">
                <a:solidFill>
                  <a:srgbClr val="183127"/>
                </a:solidFill>
              </a:rPr>
              <a:t> </a:t>
            </a:r>
            <a:r>
              <a:rPr sz="1350" b="0" i="0" dirty="0" err="1">
                <a:solidFill>
                  <a:srgbClr val="183127"/>
                </a:solidFill>
              </a:rPr>
              <a:t>nghiệp</a:t>
            </a:r>
            <a:endParaRPr sz="1350" b="0" i="0" dirty="0">
              <a:solidFill>
                <a:srgbClr val="183127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37E2A09-739D-46D8-A4BD-78CD6993CED4}"/>
              </a:ext>
            </a:extLst>
          </p:cNvPr>
          <p:cNvSpPr>
            <a:spLocks noGrp="1"/>
          </p:cNvSpPr>
          <p:nvPr/>
        </p:nvSpPr>
        <p:spPr>
          <a:xfrm>
            <a:off x="6429375" y="4381500"/>
            <a:ext cx="228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C96A60"/>
                </a:solidFill>
              </a:defRPr>
            </a:pPr>
            <a:r>
              <a:rPr sz="1350" b="1" i="0">
                <a:solidFill>
                  <a:srgbClr val="C96A60"/>
                </a:solidFill>
              </a:rPr>
              <a:t>•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012E76C-82E5-4962-BAF3-2405EB841EC0}"/>
              </a:ext>
            </a:extLst>
          </p:cNvPr>
          <p:cNvSpPr>
            <a:spLocks noGrp="1"/>
          </p:cNvSpPr>
          <p:nvPr/>
        </p:nvSpPr>
        <p:spPr>
          <a:xfrm>
            <a:off x="6696075" y="4381500"/>
            <a:ext cx="3924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 i="0">
                <a:solidFill>
                  <a:srgbClr val="183127"/>
                </a:solidFill>
              </a:defRPr>
            </a:pPr>
            <a:r>
              <a:rPr sz="1350" b="0" i="0">
                <a:solidFill>
                  <a:srgbClr val="183127"/>
                </a:solidFill>
              </a:rPr>
              <a:t>Người nước ngoài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1F92078-2873-4CDF-AB88-DC8AAF071B77}"/>
              </a:ext>
            </a:extLst>
          </p:cNvPr>
          <p:cNvSpPr>
            <a:spLocks noGrp="1"/>
          </p:cNvSpPr>
          <p:nvPr/>
        </p:nvSpPr>
        <p:spPr>
          <a:xfrm>
            <a:off x="6429375" y="4762500"/>
            <a:ext cx="228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C96A60"/>
                </a:solidFill>
              </a:defRPr>
            </a:pPr>
            <a:r>
              <a:rPr sz="1350" b="1" i="0">
                <a:solidFill>
                  <a:srgbClr val="C96A60"/>
                </a:solidFill>
              </a:rPr>
              <a:t>•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8005F9B-D85A-436D-A458-83A286B7BB91}"/>
              </a:ext>
            </a:extLst>
          </p:cNvPr>
          <p:cNvSpPr>
            <a:spLocks noGrp="1"/>
          </p:cNvSpPr>
          <p:nvPr/>
        </p:nvSpPr>
        <p:spPr>
          <a:xfrm>
            <a:off x="6696075" y="4762500"/>
            <a:ext cx="3924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 i="0">
                <a:solidFill>
                  <a:srgbClr val="183127"/>
                </a:solidFill>
              </a:defRPr>
            </a:pPr>
            <a:r>
              <a:rPr sz="1350" b="0" i="0">
                <a:solidFill>
                  <a:srgbClr val="183127"/>
                </a:solidFill>
              </a:rPr>
              <a:t>Phát hành và giao thẻ vật lý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855FFCD-B820-4136-B947-86CD728AC191}"/>
              </a:ext>
            </a:extLst>
          </p:cNvPr>
          <p:cNvSpPr>
            <a:spLocks noGrp="1"/>
          </p:cNvSpPr>
          <p:nvPr/>
        </p:nvSpPr>
        <p:spPr>
          <a:xfrm>
            <a:off x="6429375" y="5143500"/>
            <a:ext cx="228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C96A60"/>
                </a:solidFill>
              </a:defRPr>
            </a:pPr>
            <a:r>
              <a:rPr sz="1350" b="1" i="0">
                <a:solidFill>
                  <a:srgbClr val="C96A60"/>
                </a:solidFill>
              </a:rPr>
              <a:t>•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3B95D3D-81AB-4162-A944-8D715C9F4030}"/>
              </a:ext>
            </a:extLst>
          </p:cNvPr>
          <p:cNvSpPr>
            <a:spLocks noGrp="1"/>
          </p:cNvSpPr>
          <p:nvPr/>
        </p:nvSpPr>
        <p:spPr>
          <a:xfrm>
            <a:off x="6696075" y="5143500"/>
            <a:ext cx="39243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 i="0">
                <a:solidFill>
                  <a:srgbClr val="183127"/>
                </a:solidFill>
              </a:defRPr>
            </a:pPr>
            <a:r>
              <a:rPr sz="1350" b="0" i="0">
                <a:solidFill>
                  <a:srgbClr val="183127"/>
                </a:solidFill>
              </a:rPr>
              <a:t>Các sản phẩm tín dụng hoặc đầu tư</a:t>
            </a:r>
          </a:p>
        </p:txBody>
      </p:sp>
    </p:spTree>
    <p:extLst>
      <p:ext uri="{BB962C8B-B14F-4D97-AF65-F5344CB8AC3E}">
        <p14:creationId xmlns:p14="http://schemas.microsoft.com/office/powerpoint/2010/main" val="492152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B69A72A7-1448-4267-9D95-1E7108EFE023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3143250" cy="323850"/>
          </a:xfrm>
          <a:prstGeom prst="roundRect">
            <a:avLst>
              <a:gd name="adj" fmla="val 50000"/>
            </a:avLst>
          </a:prstGeom>
          <a:solidFill>
            <a:srgbClr val="2E5B3A"/>
          </a:solidFill>
          <a:ln w="9525">
            <a:solidFill>
              <a:srgbClr val="2E5B3A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BBDD84-E4F9-4915-973E-BF1277C6AE52}"/>
              </a:ext>
            </a:extLst>
          </p:cNvPr>
          <p:cNvSpPr>
            <a:spLocks noGrp="1"/>
          </p:cNvSpPr>
          <p:nvPr/>
        </p:nvSpPr>
        <p:spPr>
          <a:xfrm>
            <a:off x="666750" y="37147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1. XÁC ĐỊNH NHU CẦU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8252C1-DCF7-4140-9B71-C3C7BB9DB991}"/>
              </a:ext>
            </a:extLst>
          </p:cNvPr>
          <p:cNvSpPr>
            <a:spLocks noGrp="1"/>
          </p:cNvSpPr>
          <p:nvPr/>
        </p:nvSpPr>
        <p:spPr>
          <a:xfrm>
            <a:off x="533400" y="800100"/>
            <a:ext cx="7657781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 i="0">
                <a:solidFill>
                  <a:srgbClr val="193B2B"/>
                </a:solidFill>
              </a:defRPr>
            </a:pPr>
            <a:r>
              <a:rPr sz="2850" b="1" i="0" dirty="0">
                <a:solidFill>
                  <a:srgbClr val="193B2B"/>
                </a:solidFill>
              </a:rPr>
              <a:t>BACCM </a:t>
            </a:r>
            <a:r>
              <a:rPr sz="2850" b="1" i="0" dirty="0" err="1">
                <a:solidFill>
                  <a:srgbClr val="193B2B"/>
                </a:solidFill>
              </a:rPr>
              <a:t>kết</a:t>
            </a:r>
            <a:r>
              <a:rPr sz="2850" b="1" i="0" dirty="0">
                <a:solidFill>
                  <a:srgbClr val="193B2B"/>
                </a:solidFill>
              </a:rPr>
              <a:t> </a:t>
            </a:r>
            <a:r>
              <a:rPr sz="2850" b="1" i="0" dirty="0" err="1">
                <a:solidFill>
                  <a:srgbClr val="193B2B"/>
                </a:solidFill>
              </a:rPr>
              <a:t>nối</a:t>
            </a:r>
            <a:r>
              <a:rPr sz="2850" b="1" i="0" dirty="0">
                <a:solidFill>
                  <a:srgbClr val="193B2B"/>
                </a:solidFill>
              </a:rPr>
              <a:t> </a:t>
            </a:r>
            <a:r>
              <a:rPr sz="2850" b="1" i="0" dirty="0" err="1">
                <a:solidFill>
                  <a:srgbClr val="193B2B"/>
                </a:solidFill>
              </a:rPr>
              <a:t>nhu</a:t>
            </a:r>
            <a:r>
              <a:rPr sz="2850" b="1" i="0" dirty="0">
                <a:solidFill>
                  <a:srgbClr val="193B2B"/>
                </a:solidFill>
              </a:rPr>
              <a:t> </a:t>
            </a:r>
            <a:r>
              <a:rPr sz="2850" b="1" i="0" dirty="0" err="1">
                <a:solidFill>
                  <a:srgbClr val="193B2B"/>
                </a:solidFill>
              </a:rPr>
              <a:t>cầu</a:t>
            </a:r>
            <a:r>
              <a:rPr sz="2850" b="1" i="0" dirty="0">
                <a:solidFill>
                  <a:srgbClr val="193B2B"/>
                </a:solidFill>
              </a:rPr>
              <a:t> </a:t>
            </a:r>
            <a:r>
              <a:rPr sz="2850" b="1" i="0" dirty="0" err="1">
                <a:solidFill>
                  <a:srgbClr val="193B2B"/>
                </a:solidFill>
              </a:rPr>
              <a:t>kinh</a:t>
            </a:r>
            <a:r>
              <a:rPr sz="2850" b="1" i="0" dirty="0">
                <a:solidFill>
                  <a:srgbClr val="193B2B"/>
                </a:solidFill>
              </a:rPr>
              <a:t> </a:t>
            </a:r>
            <a:r>
              <a:rPr sz="2850" b="1" i="0" dirty="0" err="1">
                <a:solidFill>
                  <a:srgbClr val="193B2B"/>
                </a:solidFill>
              </a:rPr>
              <a:t>doanh</a:t>
            </a:r>
            <a:r>
              <a:rPr sz="2850" b="1" i="0" dirty="0">
                <a:solidFill>
                  <a:srgbClr val="193B2B"/>
                </a:solidFill>
              </a:rPr>
              <a:t> </a:t>
            </a:r>
            <a:r>
              <a:rPr sz="2850" b="1" i="0" dirty="0" err="1">
                <a:solidFill>
                  <a:srgbClr val="193B2B"/>
                </a:solidFill>
              </a:rPr>
              <a:t>với</a:t>
            </a:r>
            <a:r>
              <a:rPr sz="2850" b="1" i="0" dirty="0">
                <a:solidFill>
                  <a:srgbClr val="193B2B"/>
                </a:solidFill>
              </a:rPr>
              <a:t> </a:t>
            </a:r>
            <a:r>
              <a:rPr sz="2850" b="1" i="0" dirty="0" err="1">
                <a:solidFill>
                  <a:srgbClr val="193B2B"/>
                </a:solidFill>
              </a:rPr>
              <a:t>giải</a:t>
            </a:r>
            <a:r>
              <a:rPr sz="2850" b="1" i="0" dirty="0">
                <a:solidFill>
                  <a:srgbClr val="193B2B"/>
                </a:solidFill>
              </a:rPr>
              <a:t> </a:t>
            </a:r>
            <a:r>
              <a:rPr sz="2850" b="1" i="0" dirty="0" err="1">
                <a:solidFill>
                  <a:srgbClr val="193B2B"/>
                </a:solidFill>
              </a:rPr>
              <a:t>pháp</a:t>
            </a:r>
            <a:endParaRPr sz="2850" b="1" i="0" dirty="0">
              <a:solidFill>
                <a:srgbClr val="193B2B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14DA2E6-6C15-45D5-A6D2-4BBDBB51145D}"/>
              </a:ext>
            </a:extLst>
          </p:cNvPr>
          <p:cNvSpPr>
            <a:spLocks noGrp="1"/>
          </p:cNvSpPr>
          <p:nvPr/>
        </p:nvSpPr>
        <p:spPr>
          <a:xfrm>
            <a:off x="11144250" y="3810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 i="0">
                <a:solidFill>
                  <a:srgbClr val="65756B"/>
                </a:solidFill>
              </a:defRPr>
            </a:pPr>
            <a:r>
              <a:rPr sz="1050" b="1" i="0">
                <a:solidFill>
                  <a:srgbClr val="65756B"/>
                </a:solidFill>
              </a:rPr>
              <a:t>05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97F0C5-46F4-43B9-B3B9-19879928E022}"/>
              </a:ext>
            </a:extLst>
          </p:cNvPr>
          <p:cNvSpPr>
            <a:spLocks noGrp="1"/>
          </p:cNvSpPr>
          <p:nvPr/>
        </p:nvSpPr>
        <p:spPr>
          <a:xfrm>
            <a:off x="10572750" y="614362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875" b="1" i="1">
                <a:solidFill>
                  <a:srgbClr val="DDE8DA"/>
                </a:solidFill>
              </a:defRPr>
            </a:pPr>
            <a:r>
              <a:rPr sz="1875" b="1" i="1">
                <a:solidFill>
                  <a:srgbClr val="DDE8DA"/>
                </a:solidFill>
              </a:rPr>
              <a:t>eKYC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A4453E1B-7F96-D508-1479-7704092DFC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85" t="5143" r="2795" b="169"/>
          <a:stretch>
            <a:fillRect/>
          </a:stretch>
        </p:blipFill>
        <p:spPr>
          <a:xfrm>
            <a:off x="2267110" y="1359932"/>
            <a:ext cx="7657780" cy="5247108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0D0B4F14-86BE-D97A-AF4C-5D177146B140}"/>
              </a:ext>
            </a:extLst>
          </p:cNvPr>
          <p:cNvSpPr txBox="1"/>
          <p:nvPr/>
        </p:nvSpPr>
        <p:spPr>
          <a:xfrm>
            <a:off x="9710858" y="800100"/>
            <a:ext cx="1433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Link </a:t>
            </a:r>
            <a:r>
              <a:rPr lang="en-US" dirty="0">
                <a:hlinkClick r:id="rId4"/>
              </a:rPr>
              <a:t>Figma</a:t>
            </a:r>
            <a:endParaRPr lang="vi-VN" dirty="0"/>
          </a:p>
        </p:txBody>
      </p:sp>
    </p:spTree>
    <p:extLst>
      <p:ext uri="{BB962C8B-B14F-4D97-AF65-F5344CB8AC3E}">
        <p14:creationId xmlns:p14="http://schemas.microsoft.com/office/powerpoint/2010/main" val="8588365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65F11FA-D727-42D2-AE15-B96CD21BB3A2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3143250" cy="323850"/>
          </a:xfrm>
          <a:prstGeom prst="roundRect">
            <a:avLst>
              <a:gd name="adj" fmla="val 50000"/>
            </a:avLst>
          </a:prstGeom>
          <a:solidFill>
            <a:srgbClr val="2E5B3A"/>
          </a:solidFill>
          <a:ln w="9525">
            <a:solidFill>
              <a:srgbClr val="2E5B3A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3415AE8-605F-49E8-B534-68010BECC131}"/>
              </a:ext>
            </a:extLst>
          </p:cNvPr>
          <p:cNvSpPr>
            <a:spLocks noGrp="1"/>
          </p:cNvSpPr>
          <p:nvPr/>
        </p:nvSpPr>
        <p:spPr>
          <a:xfrm>
            <a:off x="666750" y="37147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1. XÁC ĐỊNH NHU CẦU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41AE12-C5D9-46A7-8203-DD449FA6501F}"/>
              </a:ext>
            </a:extLst>
          </p:cNvPr>
          <p:cNvSpPr>
            <a:spLocks noGrp="1"/>
          </p:cNvSpPr>
          <p:nvPr/>
        </p:nvSpPr>
        <p:spPr>
          <a:xfrm>
            <a:off x="533400" y="800100"/>
            <a:ext cx="10287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 i="0">
                <a:solidFill>
                  <a:srgbClr val="193B2B"/>
                </a:solidFill>
              </a:defRPr>
            </a:pPr>
            <a:r>
              <a:rPr sz="2850" b="1" i="0">
                <a:solidFill>
                  <a:srgbClr val="193B2B"/>
                </a:solidFill>
              </a:rPr>
              <a:t>Mỗi stakeholder quan tâm một khía cạnh khác nhau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DF7F52-0F05-44DC-8B66-1632A434EF67}"/>
              </a:ext>
            </a:extLst>
          </p:cNvPr>
          <p:cNvSpPr>
            <a:spLocks noGrp="1"/>
          </p:cNvSpPr>
          <p:nvPr/>
        </p:nvSpPr>
        <p:spPr>
          <a:xfrm>
            <a:off x="11144250" y="3810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 i="0">
                <a:solidFill>
                  <a:srgbClr val="65756B"/>
                </a:solidFill>
              </a:defRPr>
            </a:pPr>
            <a:r>
              <a:rPr sz="1050" b="1" i="0">
                <a:solidFill>
                  <a:srgbClr val="65756B"/>
                </a:solidFill>
              </a:rPr>
              <a:t>06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9394E0-4962-4E18-941E-006EDB2E4DAD}"/>
              </a:ext>
            </a:extLst>
          </p:cNvPr>
          <p:cNvSpPr>
            <a:spLocks noGrp="1"/>
          </p:cNvSpPr>
          <p:nvPr/>
        </p:nvSpPr>
        <p:spPr>
          <a:xfrm>
            <a:off x="10572750" y="6242233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875" b="1" i="1">
                <a:solidFill>
                  <a:srgbClr val="DDE8DA"/>
                </a:solidFill>
              </a:defRPr>
            </a:pPr>
            <a:r>
              <a:rPr sz="1875" b="1" i="1">
                <a:solidFill>
                  <a:srgbClr val="DDE8DA"/>
                </a:solidFill>
              </a:rPr>
              <a:t>eKYC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F3F7D5-BC1A-47CF-B2BC-5A47C3C3A858}"/>
              </a:ext>
            </a:extLst>
          </p:cNvPr>
          <p:cNvSpPr>
            <a:spLocks noGrp="1"/>
          </p:cNvSpPr>
          <p:nvPr/>
        </p:nvSpPr>
        <p:spPr>
          <a:xfrm>
            <a:off x="762000" y="1381125"/>
            <a:ext cx="285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65756B"/>
                </a:solidFill>
              </a:defRPr>
            </a:pPr>
            <a:r>
              <a:rPr sz="1200" b="1" i="0">
                <a:solidFill>
                  <a:srgbClr val="65756B"/>
                </a:solidFill>
              </a:rPr>
              <a:t>STAKEHOLDER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60167D7-9CE5-4E74-9818-9C0CDFC3B4EC}"/>
              </a:ext>
            </a:extLst>
          </p:cNvPr>
          <p:cNvSpPr>
            <a:spLocks noGrp="1"/>
          </p:cNvSpPr>
          <p:nvPr/>
        </p:nvSpPr>
        <p:spPr>
          <a:xfrm>
            <a:off x="4381500" y="1381125"/>
            <a:ext cx="5715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65756B"/>
                </a:solidFill>
              </a:defRPr>
            </a:pPr>
            <a:r>
              <a:rPr sz="1200" b="1" i="0">
                <a:solidFill>
                  <a:srgbClr val="65756B"/>
                </a:solidFill>
              </a:rPr>
              <a:t>NHU CẦU CHÍNH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F5B226-3208-4F98-A35C-612707CF7FED}"/>
              </a:ext>
            </a:extLst>
          </p:cNvPr>
          <p:cNvSpPr>
            <a:spLocks noGrp="1"/>
          </p:cNvSpPr>
          <p:nvPr/>
        </p:nvSpPr>
        <p:spPr>
          <a:xfrm>
            <a:off x="762000" y="1714500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 i="0">
                <a:solidFill>
                  <a:srgbClr val="2E5B3A"/>
                </a:solidFill>
              </a:defRPr>
            </a:pPr>
            <a:r>
              <a:rPr sz="1575" b="1" i="0">
                <a:solidFill>
                  <a:srgbClr val="2E5B3A"/>
                </a:solidFill>
              </a:rPr>
              <a:t>Khách hàng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DE4226-1B38-4746-833F-6B6A88F48D2C}"/>
              </a:ext>
            </a:extLst>
          </p:cNvPr>
          <p:cNvSpPr>
            <a:spLocks noGrp="1"/>
          </p:cNvSpPr>
          <p:nvPr/>
        </p:nvSpPr>
        <p:spPr>
          <a:xfrm>
            <a:off x="4381500" y="1714500"/>
            <a:ext cx="6572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 b="0" i="0">
                <a:solidFill>
                  <a:srgbClr val="183127"/>
                </a:solidFill>
              </a:defRPr>
            </a:pPr>
            <a:r>
              <a:rPr sz="1425"/>
              <a:t>Quy trình nhanh, dễ sử dụng; biết rõ trạng thái hồ sơ và nguyên nhân lỗi.</a:t>
            </a:r>
            <a:endParaRPr sz="1425" b="0" i="0">
              <a:solidFill>
                <a:srgbClr val="183127"/>
              </a:solidFill>
            </a:endParaRP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CDC1C988-A216-489A-9BAC-79B6C419FD4F}"/>
              </a:ext>
            </a:extLst>
          </p:cNvPr>
          <p:cNvSpPr>
            <a:spLocks noGrp="1"/>
          </p:cNvSpPr>
          <p:nvPr/>
        </p:nvSpPr>
        <p:spPr>
          <a:xfrm>
            <a:off x="762000" y="2206438"/>
            <a:ext cx="10191750" cy="9525"/>
          </a:xfrm>
          <a:prstGeom prst="line">
            <a:avLst/>
          </a:prstGeom>
          <a:noFill/>
          <a:ln w="9525">
            <a:solidFill>
              <a:srgbClr val="C8D9C5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A50439C-B06B-46B1-B71E-1D145E0B9ADE}"/>
              </a:ext>
            </a:extLst>
          </p:cNvPr>
          <p:cNvSpPr>
            <a:spLocks noGrp="1"/>
          </p:cNvSpPr>
          <p:nvPr/>
        </p:nvSpPr>
        <p:spPr>
          <a:xfrm>
            <a:off x="762000" y="2344834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 i="0">
                <a:solidFill>
                  <a:srgbClr val="2E5B3A"/>
                </a:solidFill>
              </a:defRPr>
            </a:pPr>
            <a:r>
              <a:rPr sz="1575" b="1" i="0">
                <a:solidFill>
                  <a:srgbClr val="2E5B3A"/>
                </a:solidFill>
              </a:rPr>
              <a:t>Ban lãnh đạo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3FE255-3DDB-48C0-A588-0C03D0523677}"/>
              </a:ext>
            </a:extLst>
          </p:cNvPr>
          <p:cNvSpPr>
            <a:spLocks noGrp="1"/>
          </p:cNvSpPr>
          <p:nvPr/>
        </p:nvSpPr>
        <p:spPr>
          <a:xfrm>
            <a:off x="4381500" y="2344834"/>
            <a:ext cx="6572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 b="0" i="0">
                <a:solidFill>
                  <a:srgbClr val="183127"/>
                </a:solidFill>
              </a:defRPr>
            </a:pPr>
            <a:r>
              <a:rPr sz="1425"/>
              <a:t>Giảm chi phí xử lý, tăng tỷ lệ mở tài khoản và mở rộng phạm vi phục vụ.</a:t>
            </a:r>
            <a:endParaRPr sz="1425" b="0" i="0">
              <a:solidFill>
                <a:srgbClr val="183127"/>
              </a:solidFill>
            </a:endParaRPr>
          </a:p>
        </p:txBody>
      </p:sp>
      <p:sp>
        <p:nvSpPr>
          <p:cNvPr id="13" name="Straight Connector 12">
            <a:extLst>
              <a:ext uri="{FF2B5EF4-FFF2-40B4-BE49-F238E27FC236}">
                <a16:creationId xmlns:a16="http://schemas.microsoft.com/office/drawing/2014/main" id="{F82172E2-597A-4FFC-84C5-1238D3801EE1}"/>
              </a:ext>
            </a:extLst>
          </p:cNvPr>
          <p:cNvSpPr>
            <a:spLocks noGrp="1"/>
          </p:cNvSpPr>
          <p:nvPr/>
        </p:nvSpPr>
        <p:spPr>
          <a:xfrm>
            <a:off x="762000" y="2872629"/>
            <a:ext cx="10191750" cy="9525"/>
          </a:xfrm>
          <a:prstGeom prst="line">
            <a:avLst/>
          </a:prstGeom>
          <a:noFill/>
          <a:ln w="9525">
            <a:solidFill>
              <a:srgbClr val="C8D9C5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F5FA554-6415-42F7-9BC0-87681F51D96A}"/>
              </a:ext>
            </a:extLst>
          </p:cNvPr>
          <p:cNvSpPr>
            <a:spLocks noGrp="1"/>
          </p:cNvSpPr>
          <p:nvPr/>
        </p:nvSpPr>
        <p:spPr>
          <a:xfrm>
            <a:off x="762000" y="3100387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 i="0">
                <a:solidFill>
                  <a:srgbClr val="2E5B3A"/>
                </a:solidFill>
              </a:defRPr>
            </a:pPr>
            <a:r>
              <a:rPr sz="1575" b="1" i="0">
                <a:solidFill>
                  <a:srgbClr val="2E5B3A"/>
                </a:solidFill>
              </a:rPr>
              <a:t>Bộ phận </a:t>
            </a:r>
            <a:r>
              <a:rPr sz="1575" b="1">
                <a:solidFill>
                  <a:srgbClr val="2E5B3A"/>
                </a:solidFill>
              </a:rPr>
              <a:t>p</a:t>
            </a:r>
            <a:r>
              <a:rPr sz="1575" b="1" i="0">
                <a:solidFill>
                  <a:srgbClr val="2E5B3A"/>
                </a:solidFill>
              </a:rPr>
              <a:t>háp chế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08C962-3A66-48B9-84C2-DF8B95A005FC}"/>
              </a:ext>
            </a:extLst>
          </p:cNvPr>
          <p:cNvSpPr>
            <a:spLocks noGrp="1"/>
          </p:cNvSpPr>
          <p:nvPr/>
        </p:nvSpPr>
        <p:spPr>
          <a:xfrm>
            <a:off x="4381500" y="3100387"/>
            <a:ext cx="6572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 b="0" i="0">
                <a:solidFill>
                  <a:srgbClr val="183127"/>
                </a:solidFill>
              </a:defRPr>
            </a:pPr>
            <a:r>
              <a:rPr sz="1425"/>
              <a:t>Quy trình eKYC tuân thủ quy định, bảo vệ dữ liệu cá nhân và có dấu vết kiểm toán.</a:t>
            </a:r>
            <a:endParaRPr sz="1425" b="0" i="0">
              <a:solidFill>
                <a:srgbClr val="183127"/>
              </a:solidFill>
            </a:endParaRPr>
          </a:p>
        </p:txBody>
      </p:sp>
      <p:sp>
        <p:nvSpPr>
          <p:cNvPr id="16" name="Straight Connector 15">
            <a:extLst>
              <a:ext uri="{FF2B5EF4-FFF2-40B4-BE49-F238E27FC236}">
                <a16:creationId xmlns:a16="http://schemas.microsoft.com/office/drawing/2014/main" id="{015138C5-6DFF-42AA-A582-573E06114C8F}"/>
              </a:ext>
            </a:extLst>
          </p:cNvPr>
          <p:cNvSpPr>
            <a:spLocks noGrp="1"/>
          </p:cNvSpPr>
          <p:nvPr/>
        </p:nvSpPr>
        <p:spPr>
          <a:xfrm>
            <a:off x="762000" y="3637147"/>
            <a:ext cx="10191750" cy="9525"/>
          </a:xfrm>
          <a:prstGeom prst="line">
            <a:avLst/>
          </a:prstGeom>
          <a:noFill/>
          <a:ln w="9525">
            <a:solidFill>
              <a:srgbClr val="C8D9C5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E46883B-0A11-45BC-A3CB-41AA12F0152F}"/>
              </a:ext>
            </a:extLst>
          </p:cNvPr>
          <p:cNvSpPr>
            <a:spLocks noGrp="1"/>
          </p:cNvSpPr>
          <p:nvPr/>
        </p:nvSpPr>
        <p:spPr>
          <a:xfrm>
            <a:off x="762000" y="3865461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 i="0">
                <a:solidFill>
                  <a:srgbClr val="2E5B3A"/>
                </a:solidFill>
              </a:defRPr>
            </a:pPr>
            <a:r>
              <a:rPr sz="1575" b="1" i="0">
                <a:solidFill>
                  <a:srgbClr val="2E5B3A"/>
                </a:solidFill>
              </a:rPr>
              <a:t>Bộ phận IT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E75B6FD-DB73-447B-8F4B-CF4B76172F0C}"/>
              </a:ext>
            </a:extLst>
          </p:cNvPr>
          <p:cNvSpPr>
            <a:spLocks noGrp="1"/>
          </p:cNvSpPr>
          <p:nvPr/>
        </p:nvSpPr>
        <p:spPr>
          <a:xfrm>
            <a:off x="4381500" y="3865461"/>
            <a:ext cx="6572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 b="0" i="0">
                <a:solidFill>
                  <a:srgbClr val="183127"/>
                </a:solidFill>
              </a:defRPr>
            </a:pPr>
            <a:r>
              <a:rPr sz="1425"/>
              <a:t>Luồng xử lý rõ ràng, dữ liệu nhất quán, tích hợp API ổn định và mã lỗi thống nhất.</a:t>
            </a:r>
            <a:endParaRPr sz="1425" b="0" i="0">
              <a:solidFill>
                <a:srgbClr val="183127"/>
              </a:solidFill>
            </a:endParaRPr>
          </a:p>
        </p:txBody>
      </p:sp>
      <p:sp>
        <p:nvSpPr>
          <p:cNvPr id="19" name="Straight Connector 18">
            <a:extLst>
              <a:ext uri="{FF2B5EF4-FFF2-40B4-BE49-F238E27FC236}">
                <a16:creationId xmlns:a16="http://schemas.microsoft.com/office/drawing/2014/main" id="{EBAB0CCD-096E-4169-B015-0A4CF7638477}"/>
              </a:ext>
            </a:extLst>
          </p:cNvPr>
          <p:cNvSpPr>
            <a:spLocks noGrp="1"/>
          </p:cNvSpPr>
          <p:nvPr/>
        </p:nvSpPr>
        <p:spPr>
          <a:xfrm>
            <a:off x="762000" y="4429122"/>
            <a:ext cx="10191750" cy="9525"/>
          </a:xfrm>
          <a:prstGeom prst="line">
            <a:avLst/>
          </a:prstGeom>
          <a:noFill/>
          <a:ln w="9525">
            <a:solidFill>
              <a:srgbClr val="C8D9C5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8C825E9-6B53-44FA-802F-3A3B2E5FF947}"/>
              </a:ext>
            </a:extLst>
          </p:cNvPr>
          <p:cNvSpPr>
            <a:spLocks noGrp="1"/>
          </p:cNvSpPr>
          <p:nvPr/>
        </p:nvSpPr>
        <p:spPr>
          <a:xfrm>
            <a:off x="762000" y="4684057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 i="0">
                <a:solidFill>
                  <a:srgbClr val="2E5B3A"/>
                </a:solidFill>
              </a:defRPr>
            </a:pPr>
            <a:r>
              <a:rPr sz="1575" b="1" i="0">
                <a:solidFill>
                  <a:srgbClr val="2E5B3A"/>
                </a:solidFill>
              </a:rPr>
              <a:t>eKYC  Vendor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2589D62-D7D7-42DD-9042-6F29CF92A9D2}"/>
              </a:ext>
            </a:extLst>
          </p:cNvPr>
          <p:cNvSpPr>
            <a:spLocks noGrp="1"/>
          </p:cNvSpPr>
          <p:nvPr/>
        </p:nvSpPr>
        <p:spPr>
          <a:xfrm>
            <a:off x="4381500" y="4684057"/>
            <a:ext cx="6572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 i="0">
                <a:solidFill>
                  <a:srgbClr val="183127"/>
                </a:solidFill>
              </a:defRPr>
            </a:pPr>
            <a:r>
              <a:rPr sz="1425" b="0" i="0">
                <a:solidFill>
                  <a:srgbClr val="183127"/>
                </a:solidFill>
              </a:rPr>
              <a:t>Contract tích hợp rõ, ảnh đầu vào đạt chuẩn và phản hồi ổn định.</a:t>
            </a:r>
          </a:p>
        </p:txBody>
      </p:sp>
      <p:sp>
        <p:nvSpPr>
          <p:cNvPr id="22" name="Straight Connector 21">
            <a:extLst>
              <a:ext uri="{FF2B5EF4-FFF2-40B4-BE49-F238E27FC236}">
                <a16:creationId xmlns:a16="http://schemas.microsoft.com/office/drawing/2014/main" id="{98200748-F559-4F65-9954-14E027F1009E}"/>
              </a:ext>
            </a:extLst>
          </p:cNvPr>
          <p:cNvSpPr>
            <a:spLocks noGrp="1"/>
          </p:cNvSpPr>
          <p:nvPr/>
        </p:nvSpPr>
        <p:spPr>
          <a:xfrm>
            <a:off x="762000" y="5247712"/>
            <a:ext cx="10191750" cy="9525"/>
          </a:xfrm>
          <a:prstGeom prst="line">
            <a:avLst/>
          </a:prstGeom>
          <a:noFill/>
          <a:ln w="9525">
            <a:solidFill>
              <a:srgbClr val="C8D9C5"/>
            </a:solidFill>
            <a:prstDash val="solid"/>
          </a:ln>
        </p:spPr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7C40FE7-D57F-6C91-77CA-0B40D334D22A}"/>
              </a:ext>
            </a:extLst>
          </p:cNvPr>
          <p:cNvSpPr>
            <a:spLocks noGrp="1"/>
          </p:cNvSpPr>
          <p:nvPr/>
        </p:nvSpPr>
        <p:spPr>
          <a:xfrm>
            <a:off x="762000" y="5494242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 i="0">
                <a:solidFill>
                  <a:srgbClr val="2E5B3A"/>
                </a:solidFill>
              </a:defRPr>
            </a:pPr>
            <a:r>
              <a:rPr sz="1575" b="1">
                <a:solidFill>
                  <a:srgbClr val="2E5B3A"/>
                </a:solidFill>
              </a:rPr>
              <a:t>CSKH </a:t>
            </a:r>
            <a:endParaRPr sz="1575" b="1" i="0">
              <a:solidFill>
                <a:srgbClr val="2E5B3A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86657FA-0263-BFEE-E2B9-16BD5A76A737}"/>
              </a:ext>
            </a:extLst>
          </p:cNvPr>
          <p:cNvSpPr>
            <a:spLocks noGrp="1"/>
          </p:cNvSpPr>
          <p:nvPr/>
        </p:nvSpPr>
        <p:spPr>
          <a:xfrm>
            <a:off x="4381500" y="5494242"/>
            <a:ext cx="6572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 b="0" i="0">
                <a:solidFill>
                  <a:srgbClr val="183127"/>
                </a:solidFill>
              </a:defRPr>
            </a:pPr>
            <a:r>
              <a:rPr sz="1425"/>
              <a:t>Tra cứu được trạng thái hồ sơ, mã lỗi và nguyên nhân để hỗ trợ khách hàng.</a:t>
            </a:r>
            <a:endParaRPr sz="1425" b="0" i="0">
              <a:solidFill>
                <a:srgbClr val="183127"/>
              </a:solidFill>
            </a:endParaRPr>
          </a:p>
        </p:txBody>
      </p:sp>
      <p:sp>
        <p:nvSpPr>
          <p:cNvPr id="36" name="Straight Connector 35">
            <a:extLst>
              <a:ext uri="{FF2B5EF4-FFF2-40B4-BE49-F238E27FC236}">
                <a16:creationId xmlns:a16="http://schemas.microsoft.com/office/drawing/2014/main" id="{2C3BBEDC-5AFD-0369-79B2-791654629CD0}"/>
              </a:ext>
            </a:extLst>
          </p:cNvPr>
          <p:cNvSpPr>
            <a:spLocks noGrp="1"/>
          </p:cNvSpPr>
          <p:nvPr/>
        </p:nvSpPr>
        <p:spPr>
          <a:xfrm>
            <a:off x="762000" y="6013078"/>
            <a:ext cx="10191750" cy="9525"/>
          </a:xfrm>
          <a:prstGeom prst="line">
            <a:avLst/>
          </a:prstGeom>
          <a:noFill/>
          <a:ln w="9525">
            <a:solidFill>
              <a:srgbClr val="C8D9C5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35111F5-4E19-A369-3B3D-528596DD2C23}"/>
              </a:ext>
            </a:extLst>
          </p:cNvPr>
          <p:cNvSpPr>
            <a:spLocks noGrp="1"/>
          </p:cNvSpPr>
          <p:nvPr/>
        </p:nvSpPr>
        <p:spPr>
          <a:xfrm>
            <a:off x="762000" y="6205258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575" b="1" i="0">
                <a:solidFill>
                  <a:srgbClr val="2E5B3A"/>
                </a:solidFill>
              </a:defRPr>
            </a:pPr>
            <a:r>
              <a:rPr sz="1575" b="1"/>
              <a:t>NHNN</a:t>
            </a:r>
            <a:endParaRPr sz="1575" b="1" i="0">
              <a:solidFill>
                <a:srgbClr val="2E5B3A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8C03428-ABA0-A0DD-7B74-0A0BDA0B6932}"/>
              </a:ext>
            </a:extLst>
          </p:cNvPr>
          <p:cNvSpPr>
            <a:spLocks noGrp="1"/>
          </p:cNvSpPr>
          <p:nvPr/>
        </p:nvSpPr>
        <p:spPr>
          <a:xfrm>
            <a:off x="4394949" y="6189005"/>
            <a:ext cx="65722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 b="0" i="0">
                <a:solidFill>
                  <a:srgbClr val="183127"/>
                </a:solidFill>
              </a:defRPr>
            </a:pPr>
            <a:r>
              <a:rPr sz="1425"/>
              <a:t>Ngân hàng tuân thủ quy định về định danh điện tử, bảo mật và kiểm soát rủi ro.</a:t>
            </a:r>
            <a:endParaRPr sz="1425" b="0" i="0">
              <a:solidFill>
                <a:srgbClr val="18312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0232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78393CEB-679A-4A71-B7DA-962A47DB3EB7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3143250" cy="323850"/>
          </a:xfrm>
          <a:prstGeom prst="roundRect">
            <a:avLst>
              <a:gd name="adj" fmla="val 50000"/>
            </a:avLst>
          </a:prstGeom>
          <a:solidFill>
            <a:srgbClr val="2E5B3A"/>
          </a:solidFill>
          <a:ln w="9525">
            <a:solidFill>
              <a:srgbClr val="2E5B3A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F14693-525A-481C-B6AF-8CA91C608D8A}"/>
              </a:ext>
            </a:extLst>
          </p:cNvPr>
          <p:cNvSpPr>
            <a:spLocks noGrp="1"/>
          </p:cNvSpPr>
          <p:nvPr/>
        </p:nvSpPr>
        <p:spPr>
          <a:xfrm>
            <a:off x="666750" y="37147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1. XÁC ĐỊNH NHU CẦU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24624D-1411-45CC-87C5-E72E1DAB0402}"/>
              </a:ext>
            </a:extLst>
          </p:cNvPr>
          <p:cNvSpPr>
            <a:spLocks noGrp="1"/>
          </p:cNvSpPr>
          <p:nvPr/>
        </p:nvSpPr>
        <p:spPr>
          <a:xfrm>
            <a:off x="533400" y="800100"/>
            <a:ext cx="10287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 i="0">
                <a:solidFill>
                  <a:srgbClr val="193B2B"/>
                </a:solidFill>
              </a:defRPr>
            </a:pPr>
            <a:r>
              <a:rPr sz="2850" b="1" i="0">
                <a:solidFill>
                  <a:srgbClr val="193B2B"/>
                </a:solidFill>
              </a:rPr>
              <a:t>Các Business Rule quyết định cách hệ thống rẽ nhánh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C19981-1759-4CB4-9B9D-1AF8F8BB845E}"/>
              </a:ext>
            </a:extLst>
          </p:cNvPr>
          <p:cNvSpPr>
            <a:spLocks noGrp="1"/>
          </p:cNvSpPr>
          <p:nvPr/>
        </p:nvSpPr>
        <p:spPr>
          <a:xfrm>
            <a:off x="11144250" y="3810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 i="0">
                <a:solidFill>
                  <a:srgbClr val="65756B"/>
                </a:solidFill>
              </a:defRPr>
            </a:pPr>
            <a:r>
              <a:rPr sz="1050" b="1" i="0">
                <a:solidFill>
                  <a:srgbClr val="65756B"/>
                </a:solidFill>
              </a:rPr>
              <a:t>07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632353-2666-47E0-9513-7EA98EBCF402}"/>
              </a:ext>
            </a:extLst>
          </p:cNvPr>
          <p:cNvSpPr>
            <a:spLocks noGrp="1"/>
          </p:cNvSpPr>
          <p:nvPr/>
        </p:nvSpPr>
        <p:spPr>
          <a:xfrm>
            <a:off x="10572750" y="614362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875" b="1" i="1">
                <a:solidFill>
                  <a:srgbClr val="DDE8DA"/>
                </a:solidFill>
              </a:defRPr>
            </a:pPr>
            <a:r>
              <a:rPr sz="1875" b="1" i="1">
                <a:solidFill>
                  <a:srgbClr val="DDE8DA"/>
                </a:solidFill>
              </a:rPr>
              <a:t>eKYC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33DBD0-C3F9-4653-AA6D-88CEFFD49F2D}"/>
              </a:ext>
            </a:extLst>
          </p:cNvPr>
          <p:cNvSpPr>
            <a:spLocks noGrp="1"/>
          </p:cNvSpPr>
          <p:nvPr/>
        </p:nvSpPr>
        <p:spPr>
          <a:xfrm>
            <a:off x="762000" y="17145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4050" b="1" i="0">
                <a:solidFill>
                  <a:srgbClr val="2E5B3A"/>
                </a:solidFill>
              </a:defRPr>
            </a:pPr>
            <a:r>
              <a:rPr sz="4050" b="1" i="0">
                <a:solidFill>
                  <a:srgbClr val="2E5B3A"/>
                </a:solidFill>
              </a:rPr>
              <a:t>85%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BDF40C-D0A6-4364-B623-5947CA3C60FB}"/>
              </a:ext>
            </a:extLst>
          </p:cNvPr>
          <p:cNvSpPr>
            <a:spLocks noGrp="1"/>
          </p:cNvSpPr>
          <p:nvPr/>
        </p:nvSpPr>
        <p:spPr>
          <a:xfrm>
            <a:off x="857250" y="2400300"/>
            <a:ext cx="2190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0" i="0">
                <a:solidFill>
                  <a:srgbClr val="65756B"/>
                </a:solidFill>
              </a:defRPr>
            </a:pPr>
            <a:r>
              <a:rPr sz="1275" b="0" i="0">
                <a:solidFill>
                  <a:srgbClr val="65756B"/>
                </a:solidFill>
              </a:rPr>
              <a:t>Ngưỡng confidence cho OCR/Face Matching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49D881-EFD4-48AC-BE09-547A84D54749}"/>
              </a:ext>
            </a:extLst>
          </p:cNvPr>
          <p:cNvSpPr>
            <a:spLocks noGrp="1"/>
          </p:cNvSpPr>
          <p:nvPr/>
        </p:nvSpPr>
        <p:spPr>
          <a:xfrm>
            <a:off x="3524250" y="17145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4050" b="1" i="0">
                <a:solidFill>
                  <a:srgbClr val="6B9A6E"/>
                </a:solidFill>
              </a:defRPr>
            </a:pPr>
            <a:r>
              <a:rPr sz="4050" b="1" i="0">
                <a:solidFill>
                  <a:srgbClr val="6B9A6E"/>
                </a:solidFill>
              </a:rPr>
              <a:t>3 lớp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064620-C332-48B1-AF50-BC92EE2290DF}"/>
              </a:ext>
            </a:extLst>
          </p:cNvPr>
          <p:cNvSpPr>
            <a:spLocks noGrp="1"/>
          </p:cNvSpPr>
          <p:nvPr/>
        </p:nvSpPr>
        <p:spPr>
          <a:xfrm>
            <a:off x="3619500" y="2400300"/>
            <a:ext cx="2190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0" i="0">
                <a:solidFill>
                  <a:srgbClr val="65756B"/>
                </a:solidFill>
              </a:defRPr>
            </a:pPr>
            <a:r>
              <a:rPr sz="1275" b="0" i="0">
                <a:solidFill>
                  <a:srgbClr val="65756B"/>
                </a:solidFill>
              </a:rPr>
              <a:t>OCR - Face Matching - Liveness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63E3200-A1A1-4DDA-894C-2A50684F49AB}"/>
              </a:ext>
            </a:extLst>
          </p:cNvPr>
          <p:cNvSpPr>
            <a:spLocks noGrp="1"/>
          </p:cNvSpPr>
          <p:nvPr/>
        </p:nvSpPr>
        <p:spPr>
          <a:xfrm>
            <a:off x="6286500" y="1714500"/>
            <a:ext cx="2381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4050" b="1" i="0">
                <a:solidFill>
                  <a:srgbClr val="294C64"/>
                </a:solidFill>
              </a:defRPr>
            </a:pPr>
            <a:r>
              <a:rPr sz="4050" b="1" i="0">
                <a:solidFill>
                  <a:srgbClr val="294C64"/>
                </a:solidFill>
              </a:rPr>
              <a:t>3 lần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FDDD91-2D97-4AA4-BDA1-8183C898F952}"/>
              </a:ext>
            </a:extLst>
          </p:cNvPr>
          <p:cNvSpPr>
            <a:spLocks noGrp="1"/>
          </p:cNvSpPr>
          <p:nvPr/>
        </p:nvSpPr>
        <p:spPr>
          <a:xfrm>
            <a:off x="6381750" y="2400300"/>
            <a:ext cx="2190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0" i="0">
                <a:solidFill>
                  <a:srgbClr val="65756B"/>
                </a:solidFill>
              </a:defRPr>
            </a:pPr>
            <a:r>
              <a:rPr lang="vi-VN" sz="1275" dirty="0"/>
              <a:t>Tổng Fail nghiệp vụ eKYC trước khi dừng online</a:t>
            </a:r>
            <a:endParaRPr sz="1275" b="0" i="0" dirty="0">
              <a:solidFill>
                <a:srgbClr val="65756B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A919FB6-1B09-4A74-9E08-3D2FCFEB0FEA}"/>
              </a:ext>
            </a:extLst>
          </p:cNvPr>
          <p:cNvSpPr>
            <a:spLocks noGrp="1"/>
          </p:cNvSpPr>
          <p:nvPr/>
        </p:nvSpPr>
        <p:spPr>
          <a:xfrm>
            <a:off x="9048750" y="1714500"/>
            <a:ext cx="2000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4050" b="1" i="0">
                <a:solidFill>
                  <a:srgbClr val="2E5B3A"/>
                </a:solidFill>
              </a:defRPr>
            </a:pPr>
            <a:r>
              <a:rPr lang="vi-VN" sz="4050" dirty="0"/>
              <a:t>5 lần sai</a:t>
            </a:r>
            <a:endParaRPr sz="4050" b="1" i="0" dirty="0">
              <a:solidFill>
                <a:srgbClr val="2E5B3A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24C38E8-9F7B-4517-8FC3-C4686894355B}"/>
              </a:ext>
            </a:extLst>
          </p:cNvPr>
          <p:cNvSpPr>
            <a:spLocks noGrp="1"/>
          </p:cNvSpPr>
          <p:nvPr/>
        </p:nvSpPr>
        <p:spPr>
          <a:xfrm>
            <a:off x="9144000" y="240030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0" i="0">
                <a:solidFill>
                  <a:srgbClr val="65756B"/>
                </a:solidFill>
              </a:defRPr>
            </a:pPr>
            <a:r>
              <a:rPr lang="vi-VN" sz="1275" dirty="0"/>
              <a:t>Khóa xác thực OTP 15 phút khi đạt giới hạn</a:t>
            </a:r>
            <a:endParaRPr sz="1275" b="0" i="0" dirty="0">
              <a:solidFill>
                <a:srgbClr val="65756B"/>
              </a:solidFill>
            </a:endParaRPr>
          </a:p>
        </p:txBody>
      </p:sp>
      <p:sp>
        <p:nvSpPr>
          <p:cNvPr id="14" name="Straight Connector 13">
            <a:extLst>
              <a:ext uri="{FF2B5EF4-FFF2-40B4-BE49-F238E27FC236}">
                <a16:creationId xmlns:a16="http://schemas.microsoft.com/office/drawing/2014/main" id="{77E5C32A-CA5B-4EA6-9C55-939416BC8DB3}"/>
              </a:ext>
            </a:extLst>
          </p:cNvPr>
          <p:cNvSpPr>
            <a:spLocks noGrp="1"/>
          </p:cNvSpPr>
          <p:nvPr/>
        </p:nvSpPr>
        <p:spPr>
          <a:xfrm>
            <a:off x="762000" y="3333750"/>
            <a:ext cx="10287000" cy="9525"/>
          </a:xfrm>
          <a:prstGeom prst="line">
            <a:avLst/>
          </a:prstGeom>
          <a:noFill/>
          <a:ln w="9525">
            <a:solidFill>
              <a:srgbClr val="A7C7A4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4C210A-C264-434D-8D61-99A3AA72C025}"/>
              </a:ext>
            </a:extLst>
          </p:cNvPr>
          <p:cNvSpPr>
            <a:spLocks noGrp="1"/>
          </p:cNvSpPr>
          <p:nvPr/>
        </p:nvSpPr>
        <p:spPr>
          <a:xfrm>
            <a:off x="857250" y="3714750"/>
            <a:ext cx="2286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 i="0">
                <a:solidFill>
                  <a:srgbClr val="6B9A6E"/>
                </a:solidFill>
              </a:defRPr>
            </a:pPr>
            <a:r>
              <a:rPr sz="1425" b="1" i="0">
                <a:solidFill>
                  <a:srgbClr val="6B9A6E"/>
                </a:solidFill>
              </a:rPr>
              <a:t>•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FBA078-8570-4CC6-9D9B-77152F918835}"/>
              </a:ext>
            </a:extLst>
          </p:cNvPr>
          <p:cNvSpPr>
            <a:spLocks noGrp="1"/>
          </p:cNvSpPr>
          <p:nvPr/>
        </p:nvSpPr>
        <p:spPr>
          <a:xfrm>
            <a:off x="1123950" y="3714750"/>
            <a:ext cx="93535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0" i="0">
                <a:solidFill>
                  <a:srgbClr val="183127"/>
                </a:solidFill>
              </a:defRPr>
            </a:pPr>
            <a:r>
              <a:rPr lang="vi-VN" sz="1425" dirty="0"/>
              <a:t>OCR và Face/Liveness dùng chung bộ đếm Fail; dưới 3 cho thử lại bước tương ứng</a:t>
            </a:r>
            <a:endParaRPr sz="1425" b="0" i="0" dirty="0">
              <a:solidFill>
                <a:srgbClr val="183127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CAAE16-D912-4FA2-BFED-18F84325B1B0}"/>
              </a:ext>
            </a:extLst>
          </p:cNvPr>
          <p:cNvSpPr>
            <a:spLocks noGrp="1"/>
          </p:cNvSpPr>
          <p:nvPr/>
        </p:nvSpPr>
        <p:spPr>
          <a:xfrm>
            <a:off x="857250" y="4257675"/>
            <a:ext cx="2286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 i="0">
                <a:solidFill>
                  <a:srgbClr val="6B9A6E"/>
                </a:solidFill>
              </a:defRPr>
            </a:pPr>
            <a:r>
              <a:rPr sz="1425" b="1" i="0">
                <a:solidFill>
                  <a:srgbClr val="6B9A6E"/>
                </a:solidFill>
              </a:rPr>
              <a:t>•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3BA51DD-0972-4CCD-B9A1-17D0B1D48247}"/>
              </a:ext>
            </a:extLst>
          </p:cNvPr>
          <p:cNvSpPr>
            <a:spLocks noGrp="1"/>
          </p:cNvSpPr>
          <p:nvPr/>
        </p:nvSpPr>
        <p:spPr>
          <a:xfrm>
            <a:off x="1123950" y="4257675"/>
            <a:ext cx="93535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0" i="0">
                <a:solidFill>
                  <a:srgbClr val="183127"/>
                </a:solidFill>
              </a:defRPr>
            </a:pPr>
            <a:r>
              <a:rPr lang="vi-VN" sz="1425" dirty="0"/>
              <a:t>Đủ 3 Fail: dừng online, hướng dẫn hỗ trợ/đến quầy. Lỗi kỹ thuật không tăng bộ đếmĐủ 3 Fail: dừng online, hướng dẫn hỗ trợ/đến quầy. Lỗi kỹ thuật không tăng bộ đếm</a:t>
            </a:r>
            <a:endParaRPr sz="1425" b="0" i="0" dirty="0">
              <a:solidFill>
                <a:srgbClr val="183127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D39E89F-8199-4E42-AF59-4B6FE9203B3D}"/>
              </a:ext>
            </a:extLst>
          </p:cNvPr>
          <p:cNvSpPr>
            <a:spLocks noGrp="1"/>
          </p:cNvSpPr>
          <p:nvPr/>
        </p:nvSpPr>
        <p:spPr>
          <a:xfrm>
            <a:off x="857250" y="4800600"/>
            <a:ext cx="2286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 i="0">
                <a:solidFill>
                  <a:srgbClr val="6B9A6E"/>
                </a:solidFill>
              </a:defRPr>
            </a:pPr>
            <a:r>
              <a:rPr sz="1425" b="1" i="0">
                <a:solidFill>
                  <a:srgbClr val="6B9A6E"/>
                </a:solidFill>
              </a:rPr>
              <a:t>•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DA500AE-2C84-4AD4-AE50-7E6FC000D46E}"/>
              </a:ext>
            </a:extLst>
          </p:cNvPr>
          <p:cNvSpPr>
            <a:spLocks noGrp="1"/>
          </p:cNvSpPr>
          <p:nvPr/>
        </p:nvSpPr>
        <p:spPr>
          <a:xfrm>
            <a:off x="1123950" y="4800600"/>
            <a:ext cx="93535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0" i="0">
                <a:solidFill>
                  <a:srgbClr val="183127"/>
                </a:solidFill>
              </a:defRPr>
            </a:pPr>
            <a:r>
              <a:rPr lang="vi-VN" sz="1425" dirty="0"/>
              <a:t>CCCD thuộc khách hàng hiện hữu: từ chối mở mới. Tiếp tục chính hồ sơ đã tạo CIF/tài khoản thì dùng kết quả hiện có</a:t>
            </a:r>
            <a:endParaRPr sz="1425" b="0" i="0" dirty="0">
              <a:solidFill>
                <a:srgbClr val="183127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2ECE875-DB90-4EC1-81D3-3A3D6ADA400C}"/>
              </a:ext>
            </a:extLst>
          </p:cNvPr>
          <p:cNvSpPr>
            <a:spLocks noGrp="1"/>
          </p:cNvSpPr>
          <p:nvPr/>
        </p:nvSpPr>
        <p:spPr>
          <a:xfrm>
            <a:off x="857250" y="5343525"/>
            <a:ext cx="22860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 i="0">
                <a:solidFill>
                  <a:srgbClr val="6B9A6E"/>
                </a:solidFill>
              </a:defRPr>
            </a:pPr>
            <a:r>
              <a:rPr sz="1425" b="1" i="0">
                <a:solidFill>
                  <a:srgbClr val="6B9A6E"/>
                </a:solidFill>
              </a:rPr>
              <a:t>•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773DF4E-812D-40C9-8425-D62432206205}"/>
              </a:ext>
            </a:extLst>
          </p:cNvPr>
          <p:cNvSpPr>
            <a:spLocks noGrp="1"/>
          </p:cNvSpPr>
          <p:nvPr/>
        </p:nvSpPr>
        <p:spPr>
          <a:xfrm>
            <a:off x="1123950" y="5343525"/>
            <a:ext cx="9353550" cy="542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0" i="0">
                <a:solidFill>
                  <a:srgbClr val="183127"/>
                </a:solidFill>
              </a:defRPr>
            </a:pPr>
            <a:r>
              <a:rPr lang="vi-VN" sz="1425" dirty="0"/>
              <a:t>Yêu cầu mật khẩu/PIN lưu hash bcrypt; dữ liệu và log nhạy cảm được bảo vệ. Chưa triển khai/kiểm chứng hệ thống thực tế</a:t>
            </a:r>
            <a:endParaRPr sz="1425" b="0" i="0" dirty="0">
              <a:solidFill>
                <a:srgbClr val="18312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2333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9E68C0EF-2054-45E9-A898-5A0E25AAD68E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3143250" cy="323850"/>
          </a:xfrm>
          <a:prstGeom prst="roundRect">
            <a:avLst>
              <a:gd name="adj" fmla="val 50000"/>
            </a:avLst>
          </a:prstGeom>
          <a:solidFill>
            <a:srgbClr val="2E5B3A"/>
          </a:solidFill>
          <a:ln w="9525">
            <a:solidFill>
              <a:srgbClr val="2E5B3A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A27B82-8CB7-447F-99CE-9CBFC0FF32EC}"/>
              </a:ext>
            </a:extLst>
          </p:cNvPr>
          <p:cNvSpPr>
            <a:spLocks noGrp="1"/>
          </p:cNvSpPr>
          <p:nvPr/>
        </p:nvSpPr>
        <p:spPr>
          <a:xfrm>
            <a:off x="666750" y="37147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1. XÁC ĐỊNH NHU CẦU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701D68F-28A6-41ED-A157-BAB5590C142A}"/>
              </a:ext>
            </a:extLst>
          </p:cNvPr>
          <p:cNvSpPr>
            <a:spLocks noGrp="1"/>
          </p:cNvSpPr>
          <p:nvPr/>
        </p:nvSpPr>
        <p:spPr>
          <a:xfrm>
            <a:off x="533400" y="800100"/>
            <a:ext cx="10287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 i="0">
                <a:solidFill>
                  <a:srgbClr val="193B2B"/>
                </a:solidFill>
              </a:defRPr>
            </a:pPr>
            <a:r>
              <a:rPr sz="2850" b="1" i="0" dirty="0">
                <a:solidFill>
                  <a:srgbClr val="193B2B"/>
                </a:solidFill>
              </a:rPr>
              <a:t>User Story Map chia </a:t>
            </a:r>
            <a:r>
              <a:rPr sz="2850" b="1" i="0" dirty="0" err="1">
                <a:solidFill>
                  <a:srgbClr val="193B2B"/>
                </a:solidFill>
              </a:rPr>
              <a:t>hành</a:t>
            </a:r>
            <a:r>
              <a:rPr sz="2850" b="1" i="0" dirty="0">
                <a:solidFill>
                  <a:srgbClr val="193B2B"/>
                </a:solidFill>
              </a:rPr>
              <a:t> </a:t>
            </a:r>
            <a:r>
              <a:rPr sz="2850" b="1" i="0" dirty="0" err="1">
                <a:solidFill>
                  <a:srgbClr val="193B2B"/>
                </a:solidFill>
              </a:rPr>
              <a:t>trình</a:t>
            </a:r>
            <a:r>
              <a:rPr sz="2850" b="1" i="0" dirty="0">
                <a:solidFill>
                  <a:srgbClr val="193B2B"/>
                </a:solidFill>
              </a:rPr>
              <a:t> </a:t>
            </a:r>
            <a:r>
              <a:rPr sz="2850" b="1" i="0" dirty="0" err="1">
                <a:solidFill>
                  <a:srgbClr val="193B2B"/>
                </a:solidFill>
              </a:rPr>
              <a:t>thành</a:t>
            </a:r>
            <a:r>
              <a:rPr sz="2850" b="1" i="0" dirty="0">
                <a:solidFill>
                  <a:srgbClr val="193B2B"/>
                </a:solidFill>
              </a:rPr>
              <a:t> </a:t>
            </a:r>
            <a:r>
              <a:rPr lang="en-US" sz="2850" b="1" i="0" dirty="0">
                <a:solidFill>
                  <a:srgbClr val="193B2B"/>
                </a:solidFill>
              </a:rPr>
              <a:t>2</a:t>
            </a:r>
            <a:r>
              <a:rPr sz="2850" b="1" i="0" dirty="0">
                <a:solidFill>
                  <a:srgbClr val="193B2B"/>
                </a:solidFill>
              </a:rPr>
              <a:t> release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A4DDDD-64E1-499E-A772-166F83E86B63}"/>
              </a:ext>
            </a:extLst>
          </p:cNvPr>
          <p:cNvSpPr>
            <a:spLocks noGrp="1"/>
          </p:cNvSpPr>
          <p:nvPr/>
        </p:nvSpPr>
        <p:spPr>
          <a:xfrm>
            <a:off x="11144250" y="3810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 i="0">
                <a:solidFill>
                  <a:srgbClr val="65756B"/>
                </a:solidFill>
              </a:defRPr>
            </a:pPr>
            <a:r>
              <a:rPr sz="1050" b="1" i="0">
                <a:solidFill>
                  <a:srgbClr val="65756B"/>
                </a:solidFill>
              </a:rPr>
              <a:t>08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72BBC8A-6FD6-493A-ACF5-C6AC08FAE281}"/>
              </a:ext>
            </a:extLst>
          </p:cNvPr>
          <p:cNvSpPr>
            <a:spLocks noGrp="1"/>
          </p:cNvSpPr>
          <p:nvPr/>
        </p:nvSpPr>
        <p:spPr>
          <a:xfrm>
            <a:off x="10572750" y="614362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875" b="1" i="1">
                <a:solidFill>
                  <a:srgbClr val="DDE8DA"/>
                </a:solidFill>
              </a:defRPr>
            </a:pPr>
            <a:r>
              <a:rPr sz="1875" b="1" i="1">
                <a:solidFill>
                  <a:srgbClr val="DDE8DA"/>
                </a:solidFill>
              </a:rPr>
              <a:t>eKYC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BB28C9D-05E6-4C64-B69D-D9FBDBBBD6FA}"/>
              </a:ext>
            </a:extLst>
          </p:cNvPr>
          <p:cNvSpPr>
            <a:spLocks noGrp="1"/>
          </p:cNvSpPr>
          <p:nvPr/>
        </p:nvSpPr>
        <p:spPr>
          <a:xfrm>
            <a:off x="1952625" y="2193303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2E5B3A"/>
          </a:solidFill>
          <a:ln w="9525">
            <a:solidFill>
              <a:srgbClr val="2E5B3A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B46B52-7E86-45B7-B14F-8F0FF10EE18D}"/>
              </a:ext>
            </a:extLst>
          </p:cNvPr>
          <p:cNvSpPr>
            <a:spLocks noGrp="1"/>
          </p:cNvSpPr>
          <p:nvPr/>
        </p:nvSpPr>
        <p:spPr>
          <a:xfrm>
            <a:off x="2028825" y="2326653"/>
            <a:ext cx="16573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A1. Xác thực SĐT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609F3E8-4699-463A-82E9-303F07349178}"/>
              </a:ext>
            </a:extLst>
          </p:cNvPr>
          <p:cNvSpPr>
            <a:spLocks noGrp="1"/>
          </p:cNvSpPr>
          <p:nvPr/>
        </p:nvSpPr>
        <p:spPr>
          <a:xfrm>
            <a:off x="3838575" y="2193303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2E5B3A"/>
          </a:solidFill>
          <a:ln w="9525">
            <a:solidFill>
              <a:srgbClr val="2E5B3A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9F355F2-E1D3-454A-949C-95DF961BA194}"/>
              </a:ext>
            </a:extLst>
          </p:cNvPr>
          <p:cNvSpPr>
            <a:spLocks noGrp="1"/>
          </p:cNvSpPr>
          <p:nvPr/>
        </p:nvSpPr>
        <p:spPr>
          <a:xfrm>
            <a:off x="3914775" y="2326653"/>
            <a:ext cx="16573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A2. Xác thực eKYC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9EAF2D7-4152-4FB9-9709-CD643C2B272E}"/>
              </a:ext>
            </a:extLst>
          </p:cNvPr>
          <p:cNvSpPr>
            <a:spLocks noGrp="1"/>
          </p:cNvSpPr>
          <p:nvPr/>
        </p:nvSpPr>
        <p:spPr>
          <a:xfrm>
            <a:off x="5724525" y="2193303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2E5B3A"/>
          </a:solidFill>
          <a:ln w="9525">
            <a:solidFill>
              <a:srgbClr val="2E5B3A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12A925-DF4E-41A5-BC3C-146887EB6A58}"/>
              </a:ext>
            </a:extLst>
          </p:cNvPr>
          <p:cNvSpPr>
            <a:spLocks noGrp="1"/>
          </p:cNvSpPr>
          <p:nvPr/>
        </p:nvSpPr>
        <p:spPr>
          <a:xfrm>
            <a:off x="5800725" y="2326653"/>
            <a:ext cx="16573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A3. Hoàn thiện hồ sơ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FEFEA32-8D94-4013-88D9-3DB673FEFEC7}"/>
              </a:ext>
            </a:extLst>
          </p:cNvPr>
          <p:cNvSpPr>
            <a:spLocks noGrp="1"/>
          </p:cNvSpPr>
          <p:nvPr/>
        </p:nvSpPr>
        <p:spPr>
          <a:xfrm>
            <a:off x="7610475" y="2193303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2E5B3A"/>
          </a:solidFill>
          <a:ln w="9525">
            <a:solidFill>
              <a:srgbClr val="2E5B3A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4CEF56-2F78-48E6-AD0D-5534E3F08667}"/>
              </a:ext>
            </a:extLst>
          </p:cNvPr>
          <p:cNvSpPr>
            <a:spLocks noGrp="1"/>
          </p:cNvSpPr>
          <p:nvPr/>
        </p:nvSpPr>
        <p:spPr>
          <a:xfrm>
            <a:off x="7686675" y="2326653"/>
            <a:ext cx="16573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A4. Nhận kết quả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41C92AF-5F2F-49A8-B1C6-0950B433F664}"/>
              </a:ext>
            </a:extLst>
          </p:cNvPr>
          <p:cNvSpPr>
            <a:spLocks noGrp="1"/>
          </p:cNvSpPr>
          <p:nvPr/>
        </p:nvSpPr>
        <p:spPr>
          <a:xfrm>
            <a:off x="9496425" y="2193303"/>
            <a:ext cx="1809750" cy="666750"/>
          </a:xfrm>
          <a:prstGeom prst="roundRect">
            <a:avLst>
              <a:gd name="adj" fmla="val 17143"/>
            </a:avLst>
          </a:prstGeom>
          <a:solidFill>
            <a:srgbClr val="2E5B3A"/>
          </a:solidFill>
          <a:ln w="9525">
            <a:solidFill>
              <a:srgbClr val="2E5B3A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0A38DB3-01D1-4B6A-AFDD-D2DE9DC55D78}"/>
              </a:ext>
            </a:extLst>
          </p:cNvPr>
          <p:cNvSpPr>
            <a:spLocks noGrp="1"/>
          </p:cNvSpPr>
          <p:nvPr/>
        </p:nvSpPr>
        <p:spPr>
          <a:xfrm>
            <a:off x="9572625" y="2326653"/>
            <a:ext cx="16573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A5. Thiết lập eBanking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6297ABF-49CA-4303-9F65-06399CEBEE26}"/>
              </a:ext>
            </a:extLst>
          </p:cNvPr>
          <p:cNvSpPr>
            <a:spLocks noGrp="1"/>
          </p:cNvSpPr>
          <p:nvPr/>
        </p:nvSpPr>
        <p:spPr>
          <a:xfrm>
            <a:off x="666750" y="3002928"/>
            <a:ext cx="1143000" cy="1095375"/>
          </a:xfrm>
          <a:prstGeom prst="roundRect">
            <a:avLst>
              <a:gd name="adj" fmla="val 10435"/>
            </a:avLst>
          </a:prstGeom>
          <a:solidFill>
            <a:srgbClr val="6B9A6E"/>
          </a:solidFill>
          <a:ln w="9525">
            <a:solidFill>
              <a:srgbClr val="6B9A6E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D6BAFD-88FA-441B-B910-A052598B5742}"/>
              </a:ext>
            </a:extLst>
          </p:cNvPr>
          <p:cNvSpPr>
            <a:spLocks noGrp="1"/>
          </p:cNvSpPr>
          <p:nvPr/>
        </p:nvSpPr>
        <p:spPr>
          <a:xfrm>
            <a:off x="742950" y="3241053"/>
            <a:ext cx="990600" cy="714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 i="0">
                <a:solidFill>
                  <a:srgbClr val="FFFFFF"/>
                </a:solidFill>
              </a:defRPr>
            </a:pPr>
            <a:r>
              <a:rPr sz="1275" b="1" i="0" dirty="0">
                <a:solidFill>
                  <a:srgbClr val="FFFFFF"/>
                </a:solidFill>
              </a:rPr>
              <a:t>MVP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C1A84E3-49A0-41E8-99A8-3FE40A3FB181}"/>
              </a:ext>
            </a:extLst>
          </p:cNvPr>
          <p:cNvSpPr>
            <a:spLocks noGrp="1"/>
          </p:cNvSpPr>
          <p:nvPr/>
        </p:nvSpPr>
        <p:spPr>
          <a:xfrm>
            <a:off x="1952625" y="3002928"/>
            <a:ext cx="1809750" cy="1095375"/>
          </a:xfrm>
          <a:prstGeom prst="roundRect">
            <a:avLst>
              <a:gd name="adj" fmla="val 10435"/>
            </a:avLst>
          </a:prstGeom>
          <a:solidFill>
            <a:srgbClr val="DCEED9"/>
          </a:solidFill>
          <a:ln w="9525">
            <a:solidFill>
              <a:srgbClr val="6B9A6E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767F30-9383-4601-9B27-320C1786BF55}"/>
              </a:ext>
            </a:extLst>
          </p:cNvPr>
          <p:cNvSpPr>
            <a:spLocks noGrp="1"/>
          </p:cNvSpPr>
          <p:nvPr/>
        </p:nvSpPr>
        <p:spPr>
          <a:xfrm>
            <a:off x="2028825" y="3155328"/>
            <a:ext cx="1657350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0" i="0">
                <a:solidFill>
                  <a:srgbClr val="183127"/>
                </a:solidFill>
              </a:defRPr>
            </a:pPr>
            <a:r>
              <a:rPr sz="1125" b="0" i="0">
                <a:solidFill>
                  <a:srgbClr val="183127"/>
                </a:solidFill>
              </a:rPr>
              <a:t>Nhập SĐT</a:t>
            </a:r>
          </a:p>
          <a:p>
            <a:pPr algn="ctr">
              <a:buNone/>
              <a:defRPr sz="1125" b="0" i="0">
                <a:solidFill>
                  <a:srgbClr val="183127"/>
                </a:solidFill>
              </a:defRPr>
            </a:pPr>
            <a:r>
              <a:rPr sz="1125" b="0" i="0">
                <a:solidFill>
                  <a:srgbClr val="183127"/>
                </a:solidFill>
              </a:rPr>
              <a:t>Xác thực OTP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21F1193E-3051-49B2-9167-CCD4E9F05E53}"/>
              </a:ext>
            </a:extLst>
          </p:cNvPr>
          <p:cNvSpPr>
            <a:spLocks noGrp="1"/>
          </p:cNvSpPr>
          <p:nvPr/>
        </p:nvSpPr>
        <p:spPr>
          <a:xfrm>
            <a:off x="3838575" y="3002928"/>
            <a:ext cx="1809750" cy="1095375"/>
          </a:xfrm>
          <a:prstGeom prst="roundRect">
            <a:avLst>
              <a:gd name="adj" fmla="val 10435"/>
            </a:avLst>
          </a:prstGeom>
          <a:solidFill>
            <a:srgbClr val="DCEED9"/>
          </a:solidFill>
          <a:ln w="9525">
            <a:solidFill>
              <a:srgbClr val="6B9A6E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D738EE8-9AD0-40F0-9E98-AB32BB99E6EC}"/>
              </a:ext>
            </a:extLst>
          </p:cNvPr>
          <p:cNvSpPr>
            <a:spLocks noGrp="1"/>
          </p:cNvSpPr>
          <p:nvPr/>
        </p:nvSpPr>
        <p:spPr>
          <a:xfrm>
            <a:off x="3914775" y="3155328"/>
            <a:ext cx="1657350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0" i="0">
                <a:solidFill>
                  <a:srgbClr val="183127"/>
                </a:solidFill>
              </a:defRPr>
            </a:pPr>
            <a:r>
              <a:rPr sz="1125" b="0" i="0" dirty="0" err="1">
                <a:solidFill>
                  <a:srgbClr val="183127"/>
                </a:solidFill>
              </a:rPr>
              <a:t>Chụp</a:t>
            </a:r>
            <a:r>
              <a:rPr sz="1125" b="0" i="0" dirty="0">
                <a:solidFill>
                  <a:srgbClr val="183127"/>
                </a:solidFill>
              </a:rPr>
              <a:t> CCCD</a:t>
            </a:r>
          </a:p>
          <a:p>
            <a:pPr algn="ctr">
              <a:buNone/>
              <a:defRPr sz="1125" b="0" i="0">
                <a:solidFill>
                  <a:srgbClr val="183127"/>
                </a:solidFill>
              </a:defRPr>
            </a:pPr>
            <a:r>
              <a:rPr sz="1125" b="0" i="0" dirty="0">
                <a:solidFill>
                  <a:srgbClr val="183127"/>
                </a:solidFill>
              </a:rPr>
              <a:t>OCR</a:t>
            </a:r>
          </a:p>
          <a:p>
            <a:pPr algn="ctr">
              <a:buNone/>
              <a:defRPr sz="1125" b="0" i="0">
                <a:solidFill>
                  <a:srgbClr val="183127"/>
                </a:solidFill>
              </a:defRPr>
            </a:pPr>
            <a:r>
              <a:rPr lang="en-US" sz="1125" dirty="0" err="1">
                <a:solidFill>
                  <a:srgbClr val="183127"/>
                </a:solidFill>
              </a:rPr>
              <a:t>Xác</a:t>
            </a:r>
            <a:r>
              <a:rPr lang="en-US" sz="1125" dirty="0">
                <a:solidFill>
                  <a:srgbClr val="183127"/>
                </a:solidFill>
              </a:rPr>
              <a:t> </a:t>
            </a:r>
            <a:r>
              <a:rPr lang="en-US" sz="1125" dirty="0" err="1">
                <a:solidFill>
                  <a:srgbClr val="183127"/>
                </a:solidFill>
              </a:rPr>
              <a:t>thực</a:t>
            </a:r>
            <a:r>
              <a:rPr lang="en-US" sz="1125" dirty="0">
                <a:solidFill>
                  <a:srgbClr val="183127"/>
                </a:solidFill>
              </a:rPr>
              <a:t> </a:t>
            </a:r>
            <a:r>
              <a:rPr lang="en-US" sz="1125" dirty="0" err="1">
                <a:solidFill>
                  <a:srgbClr val="183127"/>
                </a:solidFill>
              </a:rPr>
              <a:t>khuôn</a:t>
            </a:r>
            <a:r>
              <a:rPr lang="en-US" sz="1125" dirty="0">
                <a:solidFill>
                  <a:srgbClr val="183127"/>
                </a:solidFill>
              </a:rPr>
              <a:t> </a:t>
            </a:r>
            <a:r>
              <a:rPr lang="en-US" sz="1125" dirty="0" err="1">
                <a:solidFill>
                  <a:srgbClr val="183127"/>
                </a:solidFill>
              </a:rPr>
              <a:t>mặt</a:t>
            </a:r>
            <a:endParaRPr lang="en-US" sz="1125" dirty="0">
              <a:solidFill>
                <a:srgbClr val="183127"/>
              </a:solidFill>
            </a:endParaRPr>
          </a:p>
          <a:p>
            <a:pPr algn="ctr">
              <a:buNone/>
              <a:defRPr sz="1125" b="0" i="0">
                <a:solidFill>
                  <a:srgbClr val="183127"/>
                </a:solidFill>
              </a:defRPr>
            </a:pPr>
            <a:r>
              <a:rPr lang="en-US" sz="1125" b="0" i="0" dirty="0" err="1">
                <a:solidFill>
                  <a:srgbClr val="183127"/>
                </a:solidFill>
              </a:rPr>
              <a:t>Kiểm</a:t>
            </a:r>
            <a:r>
              <a:rPr lang="en-US" sz="1125" b="0" i="0" dirty="0">
                <a:solidFill>
                  <a:srgbClr val="183127"/>
                </a:solidFill>
              </a:rPr>
              <a:t> </a:t>
            </a:r>
            <a:r>
              <a:rPr lang="en-US" sz="1125" b="0" i="0" dirty="0" err="1">
                <a:solidFill>
                  <a:srgbClr val="183127"/>
                </a:solidFill>
              </a:rPr>
              <a:t>tra</a:t>
            </a:r>
            <a:r>
              <a:rPr lang="en-US" sz="1125" b="0" i="0" dirty="0">
                <a:solidFill>
                  <a:srgbClr val="183127"/>
                </a:solidFill>
              </a:rPr>
              <a:t> </a:t>
            </a:r>
            <a:r>
              <a:rPr lang="en-US" sz="1125" b="0" i="0" dirty="0" err="1">
                <a:solidFill>
                  <a:srgbClr val="183127"/>
                </a:solidFill>
              </a:rPr>
              <a:t>th</a:t>
            </a:r>
            <a:r>
              <a:rPr lang="en-US" sz="1125" dirty="0" err="1">
                <a:solidFill>
                  <a:srgbClr val="183127"/>
                </a:solidFill>
              </a:rPr>
              <a:t>ông</a:t>
            </a:r>
            <a:r>
              <a:rPr lang="en-US" sz="1125" dirty="0">
                <a:solidFill>
                  <a:srgbClr val="183127"/>
                </a:solidFill>
              </a:rPr>
              <a:t> tin</a:t>
            </a:r>
            <a:endParaRPr sz="1125" b="0" i="0" dirty="0">
              <a:solidFill>
                <a:srgbClr val="183127"/>
              </a:solidFill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A19221D-BA12-4330-97D2-C0788D1A5344}"/>
              </a:ext>
            </a:extLst>
          </p:cNvPr>
          <p:cNvSpPr>
            <a:spLocks noGrp="1"/>
          </p:cNvSpPr>
          <p:nvPr/>
        </p:nvSpPr>
        <p:spPr>
          <a:xfrm>
            <a:off x="5724525" y="3002928"/>
            <a:ext cx="1809750" cy="1095375"/>
          </a:xfrm>
          <a:prstGeom prst="roundRect">
            <a:avLst>
              <a:gd name="adj" fmla="val 10435"/>
            </a:avLst>
          </a:prstGeom>
          <a:solidFill>
            <a:srgbClr val="DCEED9"/>
          </a:solidFill>
          <a:ln w="9525">
            <a:solidFill>
              <a:srgbClr val="6B9A6E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06B2581-902F-4A17-92A0-297459831FFC}"/>
              </a:ext>
            </a:extLst>
          </p:cNvPr>
          <p:cNvSpPr>
            <a:spLocks noGrp="1"/>
          </p:cNvSpPr>
          <p:nvPr/>
        </p:nvSpPr>
        <p:spPr>
          <a:xfrm>
            <a:off x="5800725" y="3155328"/>
            <a:ext cx="1657350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0" i="0">
                <a:solidFill>
                  <a:srgbClr val="183127"/>
                </a:solidFill>
              </a:defRPr>
            </a:pPr>
            <a:r>
              <a:rPr lang="en-US" sz="1125" b="0" i="0" dirty="0" err="1">
                <a:solidFill>
                  <a:srgbClr val="183127"/>
                </a:solidFill>
              </a:rPr>
              <a:t>Xác</a:t>
            </a:r>
            <a:r>
              <a:rPr lang="en-US" sz="1125" b="0" i="0" dirty="0">
                <a:solidFill>
                  <a:srgbClr val="183127"/>
                </a:solidFill>
              </a:rPr>
              <a:t> </a:t>
            </a:r>
            <a:r>
              <a:rPr lang="en-US" sz="1125" b="0" i="0" dirty="0" err="1">
                <a:solidFill>
                  <a:srgbClr val="183127"/>
                </a:solidFill>
              </a:rPr>
              <a:t>nhận</a:t>
            </a:r>
            <a:r>
              <a:rPr lang="en-US" sz="1125" b="0" i="0" dirty="0">
                <a:solidFill>
                  <a:srgbClr val="183127"/>
                </a:solidFill>
              </a:rPr>
              <a:t> </a:t>
            </a:r>
            <a:r>
              <a:rPr lang="en-US" sz="1125" b="0" i="0" dirty="0" err="1">
                <a:solidFill>
                  <a:srgbClr val="183127"/>
                </a:solidFill>
              </a:rPr>
              <a:t>và</a:t>
            </a:r>
            <a:r>
              <a:rPr lang="en-US" sz="1125" b="0" i="0" dirty="0">
                <a:solidFill>
                  <a:srgbClr val="183127"/>
                </a:solidFill>
              </a:rPr>
              <a:t> </a:t>
            </a:r>
            <a:r>
              <a:rPr lang="en-US" sz="1125" b="0" i="0" dirty="0" err="1">
                <a:solidFill>
                  <a:srgbClr val="183127"/>
                </a:solidFill>
              </a:rPr>
              <a:t>gửi</a:t>
            </a:r>
            <a:r>
              <a:rPr lang="en-US" sz="1125" b="0" i="0" dirty="0">
                <a:solidFill>
                  <a:srgbClr val="183127"/>
                </a:solidFill>
              </a:rPr>
              <a:t> </a:t>
            </a:r>
            <a:r>
              <a:rPr lang="en-US" sz="1125" b="0" i="0" dirty="0" err="1">
                <a:solidFill>
                  <a:srgbClr val="183127"/>
                </a:solidFill>
              </a:rPr>
              <a:t>hồ</a:t>
            </a:r>
            <a:r>
              <a:rPr lang="en-US" sz="1125" b="0" i="0" dirty="0">
                <a:solidFill>
                  <a:srgbClr val="183127"/>
                </a:solidFill>
              </a:rPr>
              <a:t> </a:t>
            </a:r>
            <a:r>
              <a:rPr lang="en-US" sz="1125" b="0" i="0" dirty="0" err="1">
                <a:solidFill>
                  <a:srgbClr val="183127"/>
                </a:solidFill>
              </a:rPr>
              <a:t>sơ</a:t>
            </a:r>
            <a:endParaRPr sz="1125" b="0" i="0" dirty="0">
              <a:solidFill>
                <a:srgbClr val="183127"/>
              </a:solidFill>
            </a:endParaRPr>
          </a:p>
          <a:p>
            <a:pPr algn="ctr">
              <a:buNone/>
              <a:defRPr sz="1125" b="0" i="0">
                <a:solidFill>
                  <a:srgbClr val="183127"/>
                </a:solidFill>
              </a:defRPr>
            </a:pPr>
            <a:r>
              <a:rPr lang="en-US" sz="1125" dirty="0" err="1">
                <a:solidFill>
                  <a:srgbClr val="183127"/>
                </a:solidFill>
              </a:rPr>
              <a:t>Mã</a:t>
            </a:r>
            <a:r>
              <a:rPr lang="en-US" sz="1125" dirty="0">
                <a:solidFill>
                  <a:srgbClr val="183127"/>
                </a:solidFill>
              </a:rPr>
              <a:t> </a:t>
            </a:r>
            <a:r>
              <a:rPr lang="en-US" sz="1125" dirty="0" err="1">
                <a:solidFill>
                  <a:srgbClr val="183127"/>
                </a:solidFill>
              </a:rPr>
              <a:t>giới</a:t>
            </a:r>
            <a:r>
              <a:rPr lang="en-US" sz="1125" dirty="0">
                <a:solidFill>
                  <a:srgbClr val="183127"/>
                </a:solidFill>
              </a:rPr>
              <a:t> </a:t>
            </a:r>
            <a:r>
              <a:rPr lang="en-US" sz="1125" dirty="0" err="1">
                <a:solidFill>
                  <a:srgbClr val="183127"/>
                </a:solidFill>
              </a:rPr>
              <a:t>thiệu</a:t>
            </a:r>
            <a:endParaRPr lang="en-US" sz="1125" dirty="0">
              <a:solidFill>
                <a:srgbClr val="183127"/>
              </a:solidFill>
            </a:endParaRPr>
          </a:p>
          <a:p>
            <a:pPr algn="ctr">
              <a:buNone/>
              <a:defRPr sz="1125" b="0" i="0">
                <a:solidFill>
                  <a:srgbClr val="183127"/>
                </a:solidFill>
              </a:defRPr>
            </a:pPr>
            <a:r>
              <a:rPr lang="en-US" sz="1125" dirty="0" err="1">
                <a:solidFill>
                  <a:srgbClr val="183127"/>
                </a:solidFill>
              </a:rPr>
              <a:t>Chọn</a:t>
            </a:r>
            <a:r>
              <a:rPr lang="en-US" sz="1125" dirty="0">
                <a:solidFill>
                  <a:srgbClr val="183127"/>
                </a:solidFill>
              </a:rPr>
              <a:t> </a:t>
            </a:r>
            <a:r>
              <a:rPr lang="en-US" sz="1125" dirty="0" err="1">
                <a:solidFill>
                  <a:srgbClr val="183127"/>
                </a:solidFill>
              </a:rPr>
              <a:t>điểm</a:t>
            </a:r>
            <a:r>
              <a:rPr lang="en-US" sz="1125" dirty="0">
                <a:solidFill>
                  <a:srgbClr val="183127"/>
                </a:solidFill>
              </a:rPr>
              <a:t> </a:t>
            </a:r>
            <a:r>
              <a:rPr lang="en-US" sz="1125" dirty="0" err="1">
                <a:solidFill>
                  <a:srgbClr val="183127"/>
                </a:solidFill>
              </a:rPr>
              <a:t>giao</a:t>
            </a:r>
            <a:r>
              <a:rPr lang="en-US" sz="1125" dirty="0">
                <a:solidFill>
                  <a:srgbClr val="183127"/>
                </a:solidFill>
              </a:rPr>
              <a:t> </a:t>
            </a:r>
            <a:r>
              <a:rPr lang="en-US" sz="1125" dirty="0" err="1">
                <a:solidFill>
                  <a:srgbClr val="183127"/>
                </a:solidFill>
              </a:rPr>
              <a:t>dịch</a:t>
            </a:r>
            <a:endParaRPr sz="1125" b="0" i="0" dirty="0">
              <a:solidFill>
                <a:srgbClr val="183127"/>
              </a:solidFill>
            </a:endParaRP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EAD8B74-C825-4214-BDD7-5A5F611F0172}"/>
              </a:ext>
            </a:extLst>
          </p:cNvPr>
          <p:cNvSpPr>
            <a:spLocks noGrp="1"/>
          </p:cNvSpPr>
          <p:nvPr/>
        </p:nvSpPr>
        <p:spPr>
          <a:xfrm>
            <a:off x="7610475" y="3002928"/>
            <a:ext cx="1809750" cy="1095375"/>
          </a:xfrm>
          <a:prstGeom prst="roundRect">
            <a:avLst>
              <a:gd name="adj" fmla="val 10435"/>
            </a:avLst>
          </a:prstGeom>
          <a:solidFill>
            <a:srgbClr val="DCEED9"/>
          </a:solidFill>
          <a:ln w="9525">
            <a:solidFill>
              <a:srgbClr val="6B9A6E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EAC1D55-372C-485C-863D-43A4BDB14504}"/>
              </a:ext>
            </a:extLst>
          </p:cNvPr>
          <p:cNvSpPr>
            <a:spLocks noGrp="1"/>
          </p:cNvSpPr>
          <p:nvPr/>
        </p:nvSpPr>
        <p:spPr>
          <a:xfrm>
            <a:off x="7686675" y="3155328"/>
            <a:ext cx="1657350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0" i="0">
                <a:solidFill>
                  <a:srgbClr val="183127"/>
                </a:solidFill>
              </a:defRPr>
            </a:pPr>
            <a:r>
              <a:rPr sz="1125" b="0" i="0" dirty="0" err="1">
                <a:solidFill>
                  <a:srgbClr val="183127"/>
                </a:solidFill>
              </a:rPr>
              <a:t>Kiểm</a:t>
            </a:r>
            <a:r>
              <a:rPr sz="1125" b="0" i="0" dirty="0">
                <a:solidFill>
                  <a:srgbClr val="183127"/>
                </a:solidFill>
              </a:rPr>
              <a:t> </a:t>
            </a:r>
            <a:r>
              <a:rPr sz="1125" b="0" i="0" dirty="0" err="1">
                <a:solidFill>
                  <a:srgbClr val="183127"/>
                </a:solidFill>
              </a:rPr>
              <a:t>tra</a:t>
            </a:r>
            <a:r>
              <a:rPr lang="en-US" sz="1125" b="0" i="0" dirty="0">
                <a:solidFill>
                  <a:srgbClr val="183127"/>
                </a:solidFill>
              </a:rPr>
              <a:t> CCCD</a:t>
            </a:r>
            <a:r>
              <a:rPr sz="1125" b="0" i="0" dirty="0">
                <a:solidFill>
                  <a:srgbClr val="183127"/>
                </a:solidFill>
              </a:rPr>
              <a:t> </a:t>
            </a:r>
            <a:r>
              <a:rPr sz="1125" b="0" i="0" dirty="0" err="1">
                <a:solidFill>
                  <a:srgbClr val="183127"/>
                </a:solidFill>
              </a:rPr>
              <a:t>trùng</a:t>
            </a:r>
            <a:r>
              <a:rPr lang="en-US" sz="1125" b="0" i="0" dirty="0">
                <a:solidFill>
                  <a:srgbClr val="183127"/>
                </a:solidFill>
              </a:rPr>
              <a:t> </a:t>
            </a:r>
            <a:r>
              <a:rPr lang="en-US" sz="1125" b="0" i="0" dirty="0" err="1">
                <a:solidFill>
                  <a:srgbClr val="183127"/>
                </a:solidFill>
              </a:rPr>
              <a:t>lặp</a:t>
            </a:r>
            <a:endParaRPr sz="1125" b="0" i="0" dirty="0">
              <a:solidFill>
                <a:srgbClr val="183127"/>
              </a:solidFill>
            </a:endParaRPr>
          </a:p>
          <a:p>
            <a:pPr algn="ctr">
              <a:buNone/>
              <a:defRPr sz="1125" b="0" i="0">
                <a:solidFill>
                  <a:srgbClr val="183127"/>
                </a:solidFill>
              </a:defRPr>
            </a:pPr>
            <a:r>
              <a:rPr lang="en-US" sz="1125" b="0" i="0" dirty="0" err="1">
                <a:solidFill>
                  <a:srgbClr val="183127"/>
                </a:solidFill>
              </a:rPr>
              <a:t>Nhận</a:t>
            </a:r>
            <a:r>
              <a:rPr lang="en-US" sz="1125" b="0" i="0" dirty="0">
                <a:solidFill>
                  <a:srgbClr val="183127"/>
                </a:solidFill>
              </a:rPr>
              <a:t> </a:t>
            </a:r>
            <a:r>
              <a:rPr lang="en-US" sz="1125" b="0" i="0" dirty="0" err="1">
                <a:solidFill>
                  <a:srgbClr val="183127"/>
                </a:solidFill>
              </a:rPr>
              <a:t>số</a:t>
            </a:r>
            <a:r>
              <a:rPr lang="en-US" sz="1125" b="0" i="0" dirty="0">
                <a:solidFill>
                  <a:srgbClr val="183127"/>
                </a:solidFill>
              </a:rPr>
              <a:t> </a:t>
            </a:r>
            <a:r>
              <a:rPr lang="en-US" sz="1125" b="0" i="0" dirty="0" err="1">
                <a:solidFill>
                  <a:srgbClr val="183127"/>
                </a:solidFill>
              </a:rPr>
              <a:t>tài</a:t>
            </a:r>
            <a:r>
              <a:rPr lang="en-US" sz="1125" b="0" i="0" dirty="0">
                <a:solidFill>
                  <a:srgbClr val="183127"/>
                </a:solidFill>
              </a:rPr>
              <a:t> </a:t>
            </a:r>
            <a:r>
              <a:rPr lang="en-US" sz="1125" b="0" i="0" dirty="0" err="1">
                <a:solidFill>
                  <a:srgbClr val="183127"/>
                </a:solidFill>
              </a:rPr>
              <a:t>khoản</a:t>
            </a:r>
            <a:endParaRPr sz="1125" b="0" i="0" dirty="0">
              <a:solidFill>
                <a:srgbClr val="183127"/>
              </a:solidFill>
            </a:endParaRPr>
          </a:p>
          <a:p>
            <a:pPr algn="ctr">
              <a:buNone/>
              <a:defRPr sz="1125" b="0" i="0">
                <a:solidFill>
                  <a:srgbClr val="183127"/>
                </a:solidFill>
              </a:defRPr>
            </a:pPr>
            <a:r>
              <a:rPr lang="en-US" sz="1125" dirty="0" err="1">
                <a:solidFill>
                  <a:srgbClr val="183127"/>
                </a:solidFill>
              </a:rPr>
              <a:t>Nhận</a:t>
            </a:r>
            <a:r>
              <a:rPr lang="en-US" sz="1125" dirty="0">
                <a:solidFill>
                  <a:srgbClr val="183127"/>
                </a:solidFill>
              </a:rPr>
              <a:t> </a:t>
            </a:r>
            <a:r>
              <a:rPr lang="en-US" sz="1125" dirty="0" err="1">
                <a:solidFill>
                  <a:srgbClr val="183127"/>
                </a:solidFill>
              </a:rPr>
              <a:t>thông</a:t>
            </a:r>
            <a:r>
              <a:rPr lang="en-US" sz="1125" dirty="0">
                <a:solidFill>
                  <a:srgbClr val="183127"/>
                </a:solidFill>
              </a:rPr>
              <a:t> </a:t>
            </a:r>
            <a:r>
              <a:rPr lang="en-US" sz="1125" dirty="0" err="1">
                <a:solidFill>
                  <a:srgbClr val="183127"/>
                </a:solidFill>
              </a:rPr>
              <a:t>báo</a:t>
            </a:r>
            <a:endParaRPr lang="en-US" sz="1125" dirty="0">
              <a:solidFill>
                <a:srgbClr val="183127"/>
              </a:solidFill>
            </a:endParaRPr>
          </a:p>
          <a:p>
            <a:pPr algn="ctr">
              <a:buNone/>
              <a:defRPr sz="1125" b="0" i="0">
                <a:solidFill>
                  <a:srgbClr val="183127"/>
                </a:solidFill>
              </a:defRPr>
            </a:pPr>
            <a:r>
              <a:rPr lang="en-US" sz="1125" b="0" i="0" dirty="0">
                <a:solidFill>
                  <a:srgbClr val="183127"/>
                </a:solidFill>
              </a:rPr>
              <a:t>Theo </a:t>
            </a:r>
            <a:r>
              <a:rPr lang="en-US" sz="1125" b="0" i="0" dirty="0" err="1">
                <a:solidFill>
                  <a:srgbClr val="183127"/>
                </a:solidFill>
              </a:rPr>
              <a:t>dõi</a:t>
            </a:r>
            <a:r>
              <a:rPr lang="en-US" sz="1125" b="0" i="0" dirty="0">
                <a:solidFill>
                  <a:srgbClr val="183127"/>
                </a:solidFill>
              </a:rPr>
              <a:t> </a:t>
            </a:r>
            <a:r>
              <a:rPr lang="en-US" sz="1125" b="0" i="0" dirty="0" err="1">
                <a:solidFill>
                  <a:srgbClr val="183127"/>
                </a:solidFill>
              </a:rPr>
              <a:t>trạng</a:t>
            </a:r>
            <a:r>
              <a:rPr lang="en-US" sz="1125" b="0" i="0" dirty="0">
                <a:solidFill>
                  <a:srgbClr val="183127"/>
                </a:solidFill>
              </a:rPr>
              <a:t> </a:t>
            </a:r>
            <a:r>
              <a:rPr lang="en-US" sz="1125" b="0" i="0" dirty="0" err="1">
                <a:solidFill>
                  <a:srgbClr val="183127"/>
                </a:solidFill>
              </a:rPr>
              <a:t>thái</a:t>
            </a:r>
            <a:endParaRPr sz="1125" b="0" i="0" dirty="0">
              <a:solidFill>
                <a:srgbClr val="183127"/>
              </a:solidFill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7EDA15F4-5621-4F37-BBD6-152BC909FC64}"/>
              </a:ext>
            </a:extLst>
          </p:cNvPr>
          <p:cNvSpPr>
            <a:spLocks noGrp="1"/>
          </p:cNvSpPr>
          <p:nvPr/>
        </p:nvSpPr>
        <p:spPr>
          <a:xfrm>
            <a:off x="9496425" y="3002928"/>
            <a:ext cx="1809750" cy="1095375"/>
          </a:xfrm>
          <a:prstGeom prst="roundRect">
            <a:avLst>
              <a:gd name="adj" fmla="val 10435"/>
            </a:avLst>
          </a:prstGeom>
          <a:solidFill>
            <a:srgbClr val="DCEED9"/>
          </a:solidFill>
          <a:ln w="9525">
            <a:solidFill>
              <a:srgbClr val="6B9A6E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3722A96-67E8-45EB-8274-BBD506505148}"/>
              </a:ext>
            </a:extLst>
          </p:cNvPr>
          <p:cNvSpPr>
            <a:spLocks noGrp="1"/>
          </p:cNvSpPr>
          <p:nvPr/>
        </p:nvSpPr>
        <p:spPr>
          <a:xfrm>
            <a:off x="9572625" y="3155328"/>
            <a:ext cx="1657350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0" i="0">
                <a:solidFill>
                  <a:srgbClr val="183127"/>
                </a:solidFill>
              </a:defRPr>
            </a:pPr>
            <a:r>
              <a:rPr sz="1125" b="0" i="0">
                <a:solidFill>
                  <a:srgbClr val="183127"/>
                </a:solidFill>
              </a:rPr>
              <a:t>Mật khẩu</a:t>
            </a:r>
          </a:p>
          <a:p>
            <a:pPr algn="ctr">
              <a:buNone/>
              <a:defRPr sz="1125" b="0" i="0">
                <a:solidFill>
                  <a:srgbClr val="183127"/>
                </a:solidFill>
              </a:defRPr>
            </a:pPr>
            <a:r>
              <a:rPr sz="1125" b="0" i="0">
                <a:solidFill>
                  <a:srgbClr val="183127"/>
                </a:solidFill>
              </a:rPr>
              <a:t>Mã PIN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0261FA6F-65D3-432D-A158-F374174AAF1B}"/>
              </a:ext>
            </a:extLst>
          </p:cNvPr>
          <p:cNvSpPr>
            <a:spLocks noGrp="1"/>
          </p:cNvSpPr>
          <p:nvPr/>
        </p:nvSpPr>
        <p:spPr>
          <a:xfrm>
            <a:off x="666750" y="4241178"/>
            <a:ext cx="1143000" cy="1190625"/>
          </a:xfrm>
          <a:prstGeom prst="roundRect">
            <a:avLst>
              <a:gd name="adj" fmla="val 10000"/>
            </a:avLst>
          </a:prstGeom>
          <a:solidFill>
            <a:srgbClr val="D3A72E"/>
          </a:solidFill>
          <a:ln w="9525">
            <a:solidFill>
              <a:srgbClr val="D3A72E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23E65AD-35CD-4B31-B7A9-C86BB7398B69}"/>
              </a:ext>
            </a:extLst>
          </p:cNvPr>
          <p:cNvSpPr>
            <a:spLocks noGrp="1"/>
          </p:cNvSpPr>
          <p:nvPr/>
        </p:nvSpPr>
        <p:spPr>
          <a:xfrm>
            <a:off x="742950" y="4479303"/>
            <a:ext cx="9906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275" b="1" i="0">
                <a:solidFill>
                  <a:srgbClr val="FFFFFF"/>
                </a:solidFill>
              </a:defRPr>
            </a:pPr>
            <a:r>
              <a:rPr lang="vi-VN" sz="1275" dirty="0"/>
              <a:t>Ngoại lệ và AC</a:t>
            </a:r>
            <a:endParaRPr sz="1275" b="1" i="0" dirty="0">
              <a:solidFill>
                <a:srgbClr val="FFFFFF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7844841-CFD4-47C2-89E0-9127E18A4350}"/>
              </a:ext>
            </a:extLst>
          </p:cNvPr>
          <p:cNvSpPr>
            <a:spLocks noGrp="1"/>
          </p:cNvSpPr>
          <p:nvPr/>
        </p:nvSpPr>
        <p:spPr>
          <a:xfrm>
            <a:off x="1952625" y="4241178"/>
            <a:ext cx="1809750" cy="1190625"/>
          </a:xfrm>
          <a:prstGeom prst="roundRect">
            <a:avLst>
              <a:gd name="adj" fmla="val 9600"/>
            </a:avLst>
          </a:prstGeom>
          <a:solidFill>
            <a:srgbClr val="FFF2CC"/>
          </a:solidFill>
          <a:ln w="9525">
            <a:solidFill>
              <a:srgbClr val="D3A72E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E0DC6C1-C31E-44EA-A89E-D401C4A75557}"/>
              </a:ext>
            </a:extLst>
          </p:cNvPr>
          <p:cNvSpPr>
            <a:spLocks noGrp="1"/>
          </p:cNvSpPr>
          <p:nvPr/>
        </p:nvSpPr>
        <p:spPr>
          <a:xfrm>
            <a:off x="2028825" y="4393578"/>
            <a:ext cx="1657350" cy="923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0" i="0">
                <a:solidFill>
                  <a:srgbClr val="183127"/>
                </a:solidFill>
              </a:defRPr>
            </a:pPr>
            <a:r>
              <a:rPr sz="1125" b="0" i="0" dirty="0">
                <a:solidFill>
                  <a:srgbClr val="183127"/>
                </a:solidFill>
              </a:rPr>
              <a:t>OTP </a:t>
            </a:r>
            <a:r>
              <a:rPr lang="en-US" sz="1125" dirty="0" err="1">
                <a:solidFill>
                  <a:srgbClr val="183127"/>
                </a:solidFill>
              </a:rPr>
              <a:t>không</a:t>
            </a:r>
            <a:r>
              <a:rPr lang="en-US" sz="1125" dirty="0">
                <a:solidFill>
                  <a:srgbClr val="183127"/>
                </a:solidFill>
              </a:rPr>
              <a:t> </a:t>
            </a:r>
            <a:r>
              <a:rPr lang="en-US" sz="1125" dirty="0" err="1">
                <a:solidFill>
                  <a:srgbClr val="183127"/>
                </a:solidFill>
              </a:rPr>
              <a:t>hợp</a:t>
            </a:r>
            <a:r>
              <a:rPr lang="en-US" sz="1125" dirty="0">
                <a:solidFill>
                  <a:srgbClr val="183127"/>
                </a:solidFill>
              </a:rPr>
              <a:t> </a:t>
            </a:r>
            <a:r>
              <a:rPr lang="en-US" sz="1125" dirty="0" err="1">
                <a:solidFill>
                  <a:srgbClr val="183127"/>
                </a:solidFill>
              </a:rPr>
              <a:t>lệ</a:t>
            </a:r>
            <a:endParaRPr sz="1125" b="0" i="0" dirty="0">
              <a:solidFill>
                <a:srgbClr val="183127"/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6B413F7-1BC8-411F-8770-4675F0FC6E7B}"/>
              </a:ext>
            </a:extLst>
          </p:cNvPr>
          <p:cNvSpPr>
            <a:spLocks noGrp="1"/>
          </p:cNvSpPr>
          <p:nvPr/>
        </p:nvSpPr>
        <p:spPr>
          <a:xfrm>
            <a:off x="3838575" y="4241178"/>
            <a:ext cx="1809750" cy="1190625"/>
          </a:xfrm>
          <a:prstGeom prst="roundRect">
            <a:avLst>
              <a:gd name="adj" fmla="val 9600"/>
            </a:avLst>
          </a:prstGeom>
          <a:solidFill>
            <a:srgbClr val="FFF2CC"/>
          </a:solidFill>
          <a:ln w="9525">
            <a:solidFill>
              <a:srgbClr val="D3A72E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CF884AB-7435-477F-8D13-10D936436442}"/>
              </a:ext>
            </a:extLst>
          </p:cNvPr>
          <p:cNvSpPr>
            <a:spLocks noGrp="1"/>
          </p:cNvSpPr>
          <p:nvPr/>
        </p:nvSpPr>
        <p:spPr>
          <a:xfrm>
            <a:off x="3762375" y="4393578"/>
            <a:ext cx="1958124" cy="923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0" i="0">
                <a:solidFill>
                  <a:srgbClr val="183127"/>
                </a:solidFill>
              </a:defRPr>
            </a:pPr>
            <a:r>
              <a:rPr lang="en-US" sz="1125" b="0" i="0" dirty="0" err="1">
                <a:solidFill>
                  <a:srgbClr val="183127"/>
                </a:solidFill>
              </a:rPr>
              <a:t>Chụp</a:t>
            </a:r>
            <a:r>
              <a:rPr lang="en-US" sz="1125" b="0" i="0" dirty="0">
                <a:solidFill>
                  <a:srgbClr val="183127"/>
                </a:solidFill>
              </a:rPr>
              <a:t> </a:t>
            </a:r>
            <a:r>
              <a:rPr lang="en-US" sz="1125" b="0" i="0" dirty="0" err="1">
                <a:solidFill>
                  <a:srgbClr val="183127"/>
                </a:solidFill>
              </a:rPr>
              <a:t>lại</a:t>
            </a:r>
            <a:r>
              <a:rPr lang="en-US" sz="1125" b="0" i="0" dirty="0">
                <a:solidFill>
                  <a:srgbClr val="183127"/>
                </a:solidFill>
              </a:rPr>
              <a:t> CCCD</a:t>
            </a:r>
            <a:endParaRPr sz="1125" b="0" i="0" dirty="0">
              <a:solidFill>
                <a:srgbClr val="183127"/>
              </a:solidFill>
            </a:endParaRPr>
          </a:p>
          <a:p>
            <a:pPr algn="ctr">
              <a:buNone/>
              <a:defRPr sz="1125" b="0" i="0">
                <a:solidFill>
                  <a:srgbClr val="183127"/>
                </a:solidFill>
              </a:defRPr>
            </a:pPr>
            <a:r>
              <a:rPr lang="en-US" sz="1125" b="0" i="0" dirty="0" err="1">
                <a:solidFill>
                  <a:srgbClr val="183127"/>
                </a:solidFill>
              </a:rPr>
              <a:t>Thực</a:t>
            </a:r>
            <a:r>
              <a:rPr lang="en-US" sz="1125" b="0" i="0" dirty="0">
                <a:solidFill>
                  <a:srgbClr val="183127"/>
                </a:solidFill>
              </a:rPr>
              <a:t> </a:t>
            </a:r>
            <a:r>
              <a:rPr lang="en-US" sz="1125" b="0" i="0" dirty="0" err="1">
                <a:solidFill>
                  <a:srgbClr val="183127"/>
                </a:solidFill>
              </a:rPr>
              <a:t>hiện</a:t>
            </a:r>
            <a:r>
              <a:rPr lang="en-US" sz="1125" b="0" i="0" dirty="0">
                <a:solidFill>
                  <a:srgbClr val="183127"/>
                </a:solidFill>
              </a:rPr>
              <a:t> </a:t>
            </a:r>
            <a:r>
              <a:rPr lang="en-US" sz="1125" b="0" i="0" dirty="0" err="1">
                <a:solidFill>
                  <a:srgbClr val="183127"/>
                </a:solidFill>
              </a:rPr>
              <a:t>lại</a:t>
            </a:r>
            <a:r>
              <a:rPr lang="en-US" sz="1125" b="0" i="0" dirty="0">
                <a:solidFill>
                  <a:srgbClr val="183127"/>
                </a:solidFill>
              </a:rPr>
              <a:t> </a:t>
            </a:r>
            <a:r>
              <a:rPr lang="en-US" sz="1125" b="0" i="0" dirty="0" err="1">
                <a:solidFill>
                  <a:srgbClr val="183127"/>
                </a:solidFill>
              </a:rPr>
              <a:t>khuôn</a:t>
            </a:r>
            <a:r>
              <a:rPr lang="en-US" sz="1125" b="0" i="0" dirty="0">
                <a:solidFill>
                  <a:srgbClr val="183127"/>
                </a:solidFill>
              </a:rPr>
              <a:t> </a:t>
            </a:r>
            <a:r>
              <a:rPr lang="en-US" sz="1125" b="0" i="0" dirty="0" err="1">
                <a:solidFill>
                  <a:srgbClr val="183127"/>
                </a:solidFill>
              </a:rPr>
              <a:t>mặt</a:t>
            </a:r>
            <a:endParaRPr lang="en-US" sz="1125" b="0" i="0" dirty="0">
              <a:solidFill>
                <a:srgbClr val="183127"/>
              </a:solidFill>
            </a:endParaRPr>
          </a:p>
          <a:p>
            <a:pPr algn="ctr">
              <a:buNone/>
              <a:defRPr sz="1125" b="0" i="0">
                <a:solidFill>
                  <a:srgbClr val="183127"/>
                </a:solidFill>
              </a:defRPr>
            </a:pPr>
            <a:r>
              <a:rPr lang="en-US" sz="1125" dirty="0" err="1">
                <a:solidFill>
                  <a:srgbClr val="183127"/>
                </a:solidFill>
              </a:rPr>
              <a:t>Dừng</a:t>
            </a:r>
            <a:r>
              <a:rPr lang="en-US" sz="1125" dirty="0">
                <a:solidFill>
                  <a:srgbClr val="183127"/>
                </a:solidFill>
              </a:rPr>
              <a:t> online </a:t>
            </a:r>
            <a:r>
              <a:rPr lang="en-US" sz="1125" dirty="0" err="1">
                <a:solidFill>
                  <a:srgbClr val="183127"/>
                </a:solidFill>
              </a:rPr>
              <a:t>khi</a:t>
            </a:r>
            <a:r>
              <a:rPr lang="en-US" sz="1125" dirty="0">
                <a:solidFill>
                  <a:srgbClr val="183127"/>
                </a:solidFill>
              </a:rPr>
              <a:t> </a:t>
            </a:r>
            <a:r>
              <a:rPr lang="en-US" sz="1125" dirty="0" err="1">
                <a:solidFill>
                  <a:srgbClr val="183127"/>
                </a:solidFill>
              </a:rPr>
              <a:t>hết</a:t>
            </a:r>
            <a:r>
              <a:rPr lang="en-US" sz="1125" dirty="0">
                <a:solidFill>
                  <a:srgbClr val="183127"/>
                </a:solidFill>
              </a:rPr>
              <a:t> </a:t>
            </a:r>
            <a:r>
              <a:rPr lang="en-US" sz="1125" dirty="0" err="1">
                <a:solidFill>
                  <a:srgbClr val="183127"/>
                </a:solidFill>
              </a:rPr>
              <a:t>lượt</a:t>
            </a:r>
            <a:r>
              <a:rPr lang="en-US" sz="1125" dirty="0">
                <a:solidFill>
                  <a:srgbClr val="183127"/>
                </a:solidFill>
              </a:rPr>
              <a:t> </a:t>
            </a:r>
            <a:r>
              <a:rPr lang="en-US" sz="1125" dirty="0" err="1">
                <a:solidFill>
                  <a:srgbClr val="183127"/>
                </a:solidFill>
              </a:rPr>
              <a:t>eKYC</a:t>
            </a:r>
            <a:endParaRPr sz="1125" b="0" i="0" dirty="0">
              <a:solidFill>
                <a:srgbClr val="183127"/>
              </a:solidFill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8DBCA07-E335-4C0D-9FAE-3651B1922A6E}"/>
              </a:ext>
            </a:extLst>
          </p:cNvPr>
          <p:cNvSpPr>
            <a:spLocks noGrp="1"/>
          </p:cNvSpPr>
          <p:nvPr/>
        </p:nvSpPr>
        <p:spPr>
          <a:xfrm>
            <a:off x="5724525" y="4241178"/>
            <a:ext cx="1809750" cy="1190625"/>
          </a:xfrm>
          <a:prstGeom prst="roundRect">
            <a:avLst>
              <a:gd name="adj" fmla="val 9600"/>
            </a:avLst>
          </a:prstGeom>
          <a:solidFill>
            <a:srgbClr val="FFF2CC"/>
          </a:solidFill>
          <a:ln w="9525">
            <a:solidFill>
              <a:srgbClr val="D3A72E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B2C7092-1134-4658-ACB7-ED89407CB90A}"/>
              </a:ext>
            </a:extLst>
          </p:cNvPr>
          <p:cNvSpPr>
            <a:spLocks noGrp="1"/>
          </p:cNvSpPr>
          <p:nvPr/>
        </p:nvSpPr>
        <p:spPr>
          <a:xfrm>
            <a:off x="5800725" y="4393578"/>
            <a:ext cx="1657350" cy="923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0" i="0">
                <a:solidFill>
                  <a:srgbClr val="183127"/>
                </a:solidFill>
              </a:defRPr>
            </a:pPr>
            <a:r>
              <a:rPr lang="en-US" sz="1125" b="0" i="0" dirty="0" err="1">
                <a:solidFill>
                  <a:srgbClr val="183127"/>
                </a:solidFill>
              </a:rPr>
              <a:t>Kiểm</a:t>
            </a:r>
            <a:r>
              <a:rPr lang="en-US" sz="1125" b="0" i="0" dirty="0">
                <a:solidFill>
                  <a:srgbClr val="183127"/>
                </a:solidFill>
              </a:rPr>
              <a:t> </a:t>
            </a:r>
            <a:r>
              <a:rPr lang="en-US" sz="1125" b="0" i="0" dirty="0" err="1">
                <a:solidFill>
                  <a:srgbClr val="183127"/>
                </a:solidFill>
              </a:rPr>
              <a:t>tra</a:t>
            </a:r>
            <a:r>
              <a:rPr lang="en-US" sz="1125" b="0" i="0" dirty="0">
                <a:solidFill>
                  <a:srgbClr val="183127"/>
                </a:solidFill>
              </a:rPr>
              <a:t> </a:t>
            </a:r>
            <a:r>
              <a:rPr lang="en-US" sz="1125" b="0" i="0" dirty="0" err="1">
                <a:solidFill>
                  <a:srgbClr val="183127"/>
                </a:solidFill>
              </a:rPr>
              <a:t>điều</a:t>
            </a:r>
            <a:r>
              <a:rPr lang="en-US" sz="1125" b="0" i="0" dirty="0">
                <a:solidFill>
                  <a:srgbClr val="183127"/>
                </a:solidFill>
              </a:rPr>
              <a:t> </a:t>
            </a:r>
            <a:r>
              <a:rPr lang="en-US" sz="1125" b="0" i="0" dirty="0" err="1">
                <a:solidFill>
                  <a:srgbClr val="183127"/>
                </a:solidFill>
              </a:rPr>
              <a:t>kiện</a:t>
            </a:r>
            <a:r>
              <a:rPr lang="en-US" sz="1125" b="0" i="0" dirty="0">
                <a:solidFill>
                  <a:srgbClr val="183127"/>
                </a:solidFill>
              </a:rPr>
              <a:t> </a:t>
            </a:r>
            <a:r>
              <a:rPr lang="en-US" sz="1125" b="0" i="0" dirty="0" err="1">
                <a:solidFill>
                  <a:srgbClr val="183127"/>
                </a:solidFill>
              </a:rPr>
              <a:t>gửi</a:t>
            </a:r>
            <a:endParaRPr sz="1125" b="0" i="0" dirty="0">
              <a:solidFill>
                <a:srgbClr val="183127"/>
              </a:solidFill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80291D18-1BE3-4D5F-AEFA-B9FC3D4577C9}"/>
              </a:ext>
            </a:extLst>
          </p:cNvPr>
          <p:cNvSpPr>
            <a:spLocks noGrp="1"/>
          </p:cNvSpPr>
          <p:nvPr/>
        </p:nvSpPr>
        <p:spPr>
          <a:xfrm>
            <a:off x="7610475" y="4241178"/>
            <a:ext cx="1809750" cy="1190625"/>
          </a:xfrm>
          <a:prstGeom prst="roundRect">
            <a:avLst>
              <a:gd name="adj" fmla="val 9600"/>
            </a:avLst>
          </a:prstGeom>
          <a:solidFill>
            <a:srgbClr val="FFF2CC"/>
          </a:solidFill>
          <a:ln w="9525">
            <a:solidFill>
              <a:srgbClr val="D3A72E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B7E0224-514D-4634-B553-041A51BB6B73}"/>
              </a:ext>
            </a:extLst>
          </p:cNvPr>
          <p:cNvSpPr>
            <a:spLocks noGrp="1"/>
          </p:cNvSpPr>
          <p:nvPr/>
        </p:nvSpPr>
        <p:spPr>
          <a:xfrm>
            <a:off x="7686675" y="4393578"/>
            <a:ext cx="1657350" cy="923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0" i="0">
                <a:solidFill>
                  <a:srgbClr val="183127"/>
                </a:solidFill>
              </a:defRPr>
            </a:pPr>
            <a:r>
              <a:rPr sz="1125" b="0" i="0" dirty="0">
                <a:solidFill>
                  <a:srgbClr val="183127"/>
                </a:solidFill>
              </a:rPr>
              <a:t>CCCD </a:t>
            </a:r>
            <a:r>
              <a:rPr sz="1125" b="0" i="0" dirty="0" err="1">
                <a:solidFill>
                  <a:srgbClr val="183127"/>
                </a:solidFill>
              </a:rPr>
              <a:t>trùng</a:t>
            </a:r>
            <a:r>
              <a:rPr sz="1125" b="0" i="0" dirty="0">
                <a:solidFill>
                  <a:srgbClr val="183127"/>
                </a:solidFill>
              </a:rPr>
              <a:t>: </a:t>
            </a:r>
            <a:r>
              <a:rPr sz="1125" b="0" i="0" dirty="0" err="1">
                <a:solidFill>
                  <a:srgbClr val="183127"/>
                </a:solidFill>
              </a:rPr>
              <a:t>từ</a:t>
            </a:r>
            <a:r>
              <a:rPr sz="1125" b="0" i="0" dirty="0">
                <a:solidFill>
                  <a:srgbClr val="183127"/>
                </a:solidFill>
              </a:rPr>
              <a:t> </a:t>
            </a:r>
            <a:r>
              <a:rPr sz="1125" b="0" i="0" dirty="0" err="1">
                <a:solidFill>
                  <a:srgbClr val="183127"/>
                </a:solidFill>
              </a:rPr>
              <a:t>chố</a:t>
            </a:r>
            <a:r>
              <a:rPr lang="en-US" sz="1125" b="0" i="0" dirty="0" err="1">
                <a:solidFill>
                  <a:srgbClr val="183127"/>
                </a:solidFill>
              </a:rPr>
              <a:t>i</a:t>
            </a:r>
            <a:endParaRPr sz="1125" b="0" i="0" dirty="0">
              <a:solidFill>
                <a:srgbClr val="183127"/>
              </a:solidFill>
            </a:endParaRP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B7341B8B-3021-4C95-BE1C-2565B180B961}"/>
              </a:ext>
            </a:extLst>
          </p:cNvPr>
          <p:cNvSpPr>
            <a:spLocks noGrp="1"/>
          </p:cNvSpPr>
          <p:nvPr/>
        </p:nvSpPr>
        <p:spPr>
          <a:xfrm>
            <a:off x="9496425" y="4241178"/>
            <a:ext cx="1809750" cy="1190625"/>
          </a:xfrm>
          <a:prstGeom prst="roundRect">
            <a:avLst>
              <a:gd name="adj" fmla="val 9600"/>
            </a:avLst>
          </a:prstGeom>
          <a:solidFill>
            <a:srgbClr val="FFF2CC"/>
          </a:solidFill>
          <a:ln w="9525">
            <a:solidFill>
              <a:srgbClr val="D3A72E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0C843434-DFDB-477E-8C72-26F024AFE0A3}"/>
              </a:ext>
            </a:extLst>
          </p:cNvPr>
          <p:cNvSpPr>
            <a:spLocks noGrp="1"/>
          </p:cNvSpPr>
          <p:nvPr/>
        </p:nvSpPr>
        <p:spPr>
          <a:xfrm>
            <a:off x="9572625" y="4393578"/>
            <a:ext cx="1657350" cy="923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125" b="0" i="0">
                <a:solidFill>
                  <a:srgbClr val="183127"/>
                </a:solidFill>
              </a:defRPr>
            </a:pPr>
            <a:r>
              <a:rPr sz="1125" b="0" i="0" dirty="0" err="1">
                <a:solidFill>
                  <a:srgbClr val="183127"/>
                </a:solidFill>
              </a:rPr>
              <a:t>Kiểm</a:t>
            </a:r>
            <a:r>
              <a:rPr sz="1125" b="0" i="0" dirty="0">
                <a:solidFill>
                  <a:srgbClr val="183127"/>
                </a:solidFill>
              </a:rPr>
              <a:t> </a:t>
            </a:r>
            <a:r>
              <a:rPr sz="1125" b="0" i="0" dirty="0" err="1">
                <a:solidFill>
                  <a:srgbClr val="183127"/>
                </a:solidFill>
              </a:rPr>
              <a:t>tra</a:t>
            </a:r>
            <a:r>
              <a:rPr sz="1125" b="0" i="0" dirty="0">
                <a:solidFill>
                  <a:srgbClr val="183127"/>
                </a:solidFill>
              </a:rPr>
              <a:t> </a:t>
            </a:r>
            <a:r>
              <a:rPr sz="1125" b="0" i="0" dirty="0" err="1">
                <a:solidFill>
                  <a:srgbClr val="183127"/>
                </a:solidFill>
              </a:rPr>
              <a:t>định</a:t>
            </a:r>
            <a:r>
              <a:rPr sz="1125" b="0" i="0" dirty="0">
                <a:solidFill>
                  <a:srgbClr val="183127"/>
                </a:solidFill>
              </a:rPr>
              <a:t> </a:t>
            </a:r>
            <a:r>
              <a:rPr sz="1125" b="0" i="0" dirty="0" err="1">
                <a:solidFill>
                  <a:srgbClr val="183127"/>
                </a:solidFill>
              </a:rPr>
              <a:t>dạng</a:t>
            </a:r>
            <a:endParaRPr sz="1125" b="0" i="0" dirty="0">
              <a:solidFill>
                <a:srgbClr val="183127"/>
              </a:solidFill>
            </a:endParaRPr>
          </a:p>
          <a:p>
            <a:pPr algn="ctr">
              <a:buNone/>
              <a:defRPr sz="1125" b="0" i="0">
                <a:solidFill>
                  <a:srgbClr val="183127"/>
                </a:solidFill>
              </a:defRPr>
            </a:pPr>
            <a:r>
              <a:rPr sz="1125" b="0" i="0" dirty="0" err="1">
                <a:solidFill>
                  <a:srgbClr val="183127"/>
                </a:solidFill>
              </a:rPr>
              <a:t>mật</a:t>
            </a:r>
            <a:r>
              <a:rPr sz="1125" b="0" i="0" dirty="0">
                <a:solidFill>
                  <a:srgbClr val="183127"/>
                </a:solidFill>
              </a:rPr>
              <a:t> </a:t>
            </a:r>
            <a:r>
              <a:rPr sz="1125" b="0" i="0" dirty="0" err="1">
                <a:solidFill>
                  <a:srgbClr val="183127"/>
                </a:solidFill>
              </a:rPr>
              <a:t>khẩu</a:t>
            </a:r>
            <a:r>
              <a:rPr sz="1125" b="0" i="0" dirty="0">
                <a:solidFill>
                  <a:srgbClr val="183127"/>
                </a:solidFill>
              </a:rPr>
              <a:t>/PIN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F882438-60FB-46C6-B470-1F9DB89D20E0}"/>
              </a:ext>
            </a:extLst>
          </p:cNvPr>
          <p:cNvSpPr>
            <a:spLocks noGrp="1"/>
          </p:cNvSpPr>
          <p:nvPr/>
        </p:nvSpPr>
        <p:spPr>
          <a:xfrm>
            <a:off x="2095500" y="6191250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0" i="1">
                <a:solidFill>
                  <a:srgbClr val="65756B"/>
                </a:solidFill>
              </a:defRPr>
            </a:pPr>
            <a:r>
              <a:rPr lang="vi-VN" sz="1350" dirty="0"/>
              <a:t>Đọc hoạt động từ trái sang phải; luồng chính và các điều kiện/ngoại lệ ở đây đều thuộc MVP đề xuất</a:t>
            </a:r>
            <a:endParaRPr sz="1350" b="0" i="1" dirty="0">
              <a:solidFill>
                <a:srgbClr val="65756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78710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654ABB1-5362-4F4B-8870-1E1336616930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3143250" cy="323850"/>
          </a:xfrm>
          <a:prstGeom prst="roundRect">
            <a:avLst>
              <a:gd name="adj" fmla="val 50000"/>
            </a:avLst>
          </a:prstGeom>
          <a:solidFill>
            <a:srgbClr val="2E5B3A"/>
          </a:solidFill>
          <a:ln w="9525">
            <a:solidFill>
              <a:srgbClr val="2E5B3A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06197F-743D-44B0-81AC-01EB36046B3F}"/>
              </a:ext>
            </a:extLst>
          </p:cNvPr>
          <p:cNvSpPr>
            <a:spLocks noGrp="1"/>
          </p:cNvSpPr>
          <p:nvPr/>
        </p:nvSpPr>
        <p:spPr>
          <a:xfrm>
            <a:off x="666750" y="37147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2. QUY TRÌNH NGHIỆP VỤ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205C31-8BA1-4F8C-8CAB-FBCB469CF42D}"/>
              </a:ext>
            </a:extLst>
          </p:cNvPr>
          <p:cNvSpPr>
            <a:spLocks noGrp="1"/>
          </p:cNvSpPr>
          <p:nvPr/>
        </p:nvSpPr>
        <p:spPr>
          <a:xfrm>
            <a:off x="533400" y="800100"/>
            <a:ext cx="10287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 i="0">
                <a:solidFill>
                  <a:srgbClr val="193B2B"/>
                </a:solidFill>
              </a:defRPr>
            </a:pPr>
            <a:r>
              <a:rPr sz="2850" b="1" i="0">
                <a:solidFill>
                  <a:srgbClr val="193B2B"/>
                </a:solidFill>
              </a:rPr>
              <a:t>BPMN To-Be mô tả luồng business giữa 3 bên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842B71-2604-4EF9-9715-E6C1C27E262F}"/>
              </a:ext>
            </a:extLst>
          </p:cNvPr>
          <p:cNvSpPr>
            <a:spLocks noGrp="1"/>
          </p:cNvSpPr>
          <p:nvPr/>
        </p:nvSpPr>
        <p:spPr>
          <a:xfrm>
            <a:off x="11144250" y="3810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 i="0">
                <a:solidFill>
                  <a:srgbClr val="65756B"/>
                </a:solidFill>
              </a:defRPr>
            </a:pPr>
            <a:r>
              <a:rPr sz="1050" b="1" i="0">
                <a:solidFill>
                  <a:srgbClr val="65756B"/>
                </a:solidFill>
              </a:rPr>
              <a:t>09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E07E44-C3E7-4320-8658-F9015EC01FAF}"/>
              </a:ext>
            </a:extLst>
          </p:cNvPr>
          <p:cNvSpPr>
            <a:spLocks noGrp="1"/>
          </p:cNvSpPr>
          <p:nvPr/>
        </p:nvSpPr>
        <p:spPr>
          <a:xfrm>
            <a:off x="10572750" y="614362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875" b="1" i="1">
                <a:solidFill>
                  <a:srgbClr val="DDE8DA"/>
                </a:solidFill>
              </a:defRPr>
            </a:pPr>
            <a:r>
              <a:rPr sz="1875" b="1" i="1">
                <a:solidFill>
                  <a:srgbClr val="DDE8DA"/>
                </a:solidFill>
              </a:rPr>
              <a:t>eKYC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A0C61CF-2F6F-4653-B34F-3E995D13A0EC}"/>
              </a:ext>
            </a:extLst>
          </p:cNvPr>
          <p:cNvSpPr>
            <a:spLocks noGrp="1"/>
          </p:cNvSpPr>
          <p:nvPr/>
        </p:nvSpPr>
        <p:spPr>
          <a:xfrm>
            <a:off x="666750" y="1428750"/>
            <a:ext cx="10858500" cy="4191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C8D9C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955049-8025-4F9C-88FF-1E2C422BEE4B}"/>
              </a:ext>
            </a:extLst>
          </p:cNvPr>
          <p:cNvSpPr>
            <a:spLocks noGrp="1"/>
          </p:cNvSpPr>
          <p:nvPr/>
        </p:nvSpPr>
        <p:spPr>
          <a:xfrm>
            <a:off x="1143000" y="5810250"/>
            <a:ext cx="171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2E5B3A"/>
                </a:solidFill>
              </a:defRPr>
            </a:pPr>
            <a:r>
              <a:rPr sz="1350" b="1" i="0">
                <a:solidFill>
                  <a:srgbClr val="2E5B3A"/>
                </a:solidFill>
              </a:rPr>
              <a:t>Khách hàng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8E992B-60E5-45C8-B340-78811F6DD676}"/>
              </a:ext>
            </a:extLst>
          </p:cNvPr>
          <p:cNvSpPr>
            <a:spLocks noGrp="1"/>
          </p:cNvSpPr>
          <p:nvPr/>
        </p:nvSpPr>
        <p:spPr>
          <a:xfrm>
            <a:off x="4381500" y="581025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2E5B3A"/>
                </a:solidFill>
              </a:defRPr>
            </a:pPr>
            <a:r>
              <a:rPr sz="1350" b="1" i="0">
                <a:solidFill>
                  <a:srgbClr val="2E5B3A"/>
                </a:solidFill>
              </a:rPr>
              <a:t>Hệ thống ngân hàng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6DA1B8-6450-4547-AF0B-5693B13748C4}"/>
              </a:ext>
            </a:extLst>
          </p:cNvPr>
          <p:cNvSpPr>
            <a:spLocks noGrp="1"/>
          </p:cNvSpPr>
          <p:nvPr/>
        </p:nvSpPr>
        <p:spPr>
          <a:xfrm>
            <a:off x="8191500" y="581025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2E5B3A"/>
                </a:solidFill>
              </a:defRPr>
            </a:pPr>
            <a:r>
              <a:rPr sz="1350" b="1" i="0">
                <a:solidFill>
                  <a:srgbClr val="2E5B3A"/>
                </a:solidFill>
              </a:rPr>
              <a:t>Hệ thống eKYC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CDCF10-003D-F0AE-8451-BAD0E7EEA1EF}"/>
              </a:ext>
            </a:extLst>
          </p:cNvPr>
          <p:cNvSpPr>
            <a:spLocks noGrp="1"/>
          </p:cNvSpPr>
          <p:nvPr/>
        </p:nvSpPr>
        <p:spPr>
          <a:xfrm>
            <a:off x="9694506" y="886408"/>
            <a:ext cx="14497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Link </a:t>
            </a:r>
            <a:r>
              <a:rPr dirty="0">
                <a:hlinkClick r:id="rId3"/>
              </a:rPr>
              <a:t>Draw.io</a:t>
            </a:r>
            <a:endParaRPr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60BBA8D-D420-7EB5-9832-B609AFF4317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013" y="1466850"/>
            <a:ext cx="10297973" cy="4162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81722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F392228-9A5E-457A-9F7C-B0424322669E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3143250" cy="323850"/>
          </a:xfrm>
          <a:prstGeom prst="roundRect">
            <a:avLst>
              <a:gd name="adj" fmla="val 50000"/>
            </a:avLst>
          </a:prstGeom>
          <a:solidFill>
            <a:srgbClr val="2E5B3A"/>
          </a:solidFill>
          <a:ln w="9525">
            <a:solidFill>
              <a:srgbClr val="2E5B3A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4B018E-7250-4E4F-9F24-7E059F99BB45}"/>
              </a:ext>
            </a:extLst>
          </p:cNvPr>
          <p:cNvSpPr>
            <a:spLocks noGrp="1"/>
          </p:cNvSpPr>
          <p:nvPr/>
        </p:nvSpPr>
        <p:spPr>
          <a:xfrm>
            <a:off x="666750" y="37147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2. QUY TRÌNH NGHIỆP VỤ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F8C98C-F1F9-4890-9BEF-C43B33BD124E}"/>
              </a:ext>
            </a:extLst>
          </p:cNvPr>
          <p:cNvSpPr>
            <a:spLocks noGrp="1"/>
          </p:cNvSpPr>
          <p:nvPr/>
        </p:nvSpPr>
        <p:spPr>
          <a:xfrm>
            <a:off x="533400" y="800100"/>
            <a:ext cx="10287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 i="0">
                <a:solidFill>
                  <a:srgbClr val="193B2B"/>
                </a:solidFill>
              </a:defRPr>
            </a:pPr>
            <a:r>
              <a:rPr sz="2850" b="1" i="0">
                <a:solidFill>
                  <a:srgbClr val="193B2B"/>
                </a:solidFill>
              </a:rPr>
              <a:t>BFD nhóm hệ thống thành 4 cụm chức năng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1C5D175-33E8-46BF-9FC3-6C90F661872B}"/>
              </a:ext>
            </a:extLst>
          </p:cNvPr>
          <p:cNvSpPr>
            <a:spLocks noGrp="1"/>
          </p:cNvSpPr>
          <p:nvPr/>
        </p:nvSpPr>
        <p:spPr>
          <a:xfrm>
            <a:off x="11144250" y="3810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 i="0">
                <a:solidFill>
                  <a:srgbClr val="65756B"/>
                </a:solidFill>
              </a:defRPr>
            </a:pPr>
            <a:r>
              <a:rPr sz="1050" b="1" i="0">
                <a:solidFill>
                  <a:srgbClr val="65756B"/>
                </a:solidFill>
              </a:rPr>
              <a:t>10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E0948B-C019-4860-B5A3-2B8975F5CE21}"/>
              </a:ext>
            </a:extLst>
          </p:cNvPr>
          <p:cNvSpPr>
            <a:spLocks noGrp="1"/>
          </p:cNvSpPr>
          <p:nvPr/>
        </p:nvSpPr>
        <p:spPr>
          <a:xfrm>
            <a:off x="10572750" y="614362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875" b="1" i="1">
                <a:solidFill>
                  <a:srgbClr val="DDE8DA"/>
                </a:solidFill>
              </a:defRPr>
            </a:pPr>
            <a:r>
              <a:rPr sz="1875" b="1" i="1">
                <a:solidFill>
                  <a:srgbClr val="DDE8DA"/>
                </a:solidFill>
              </a:rPr>
              <a:t>eKYC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42A6A63-1502-4C9D-97E8-AB2C6CEC1704}"/>
              </a:ext>
            </a:extLst>
          </p:cNvPr>
          <p:cNvSpPr>
            <a:spLocks noGrp="1"/>
          </p:cNvSpPr>
          <p:nvPr/>
        </p:nvSpPr>
        <p:spPr>
          <a:xfrm>
            <a:off x="952500" y="1476375"/>
            <a:ext cx="10287000" cy="428625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C8D9C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71B9970-FB88-498A-9829-31427ABA48C2}"/>
              </a:ext>
            </a:extLst>
          </p:cNvPr>
          <p:cNvSpPr>
            <a:spLocks noGrp="1"/>
          </p:cNvSpPr>
          <p:nvPr/>
        </p:nvSpPr>
        <p:spPr>
          <a:xfrm>
            <a:off x="952500" y="59055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 i="0">
                <a:solidFill>
                  <a:srgbClr val="2E5B3A"/>
                </a:solidFill>
              </a:defRPr>
            </a:pPr>
            <a:r>
              <a:rPr sz="1275" b="1" i="0">
                <a:solidFill>
                  <a:srgbClr val="2E5B3A"/>
                </a:solidFill>
              </a:rPr>
              <a:t>01  Xác thực người dùng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2D2BB73-65A5-40BA-8127-1E22DD624AB7}"/>
              </a:ext>
            </a:extLst>
          </p:cNvPr>
          <p:cNvSpPr>
            <a:spLocks noGrp="1"/>
          </p:cNvSpPr>
          <p:nvPr/>
        </p:nvSpPr>
        <p:spPr>
          <a:xfrm>
            <a:off x="3619500" y="5905500"/>
            <a:ext cx="2190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 i="0">
                <a:solidFill>
                  <a:srgbClr val="2E5B3A"/>
                </a:solidFill>
              </a:defRPr>
            </a:pPr>
            <a:r>
              <a:rPr sz="1275" b="1" i="0">
                <a:solidFill>
                  <a:srgbClr val="2E5B3A"/>
                </a:solidFill>
              </a:rPr>
              <a:t>02  Quản lý hồ sơ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AEC228-E5BF-433C-9E73-D4DA3B2B33C7}"/>
              </a:ext>
            </a:extLst>
          </p:cNvPr>
          <p:cNvSpPr>
            <a:spLocks noGrp="1"/>
          </p:cNvSpPr>
          <p:nvPr/>
        </p:nvSpPr>
        <p:spPr>
          <a:xfrm>
            <a:off x="6191250" y="5905500"/>
            <a:ext cx="2000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 i="0">
                <a:solidFill>
                  <a:srgbClr val="2E5B3A"/>
                </a:solidFill>
              </a:defRPr>
            </a:pPr>
            <a:r>
              <a:rPr sz="1275" b="1" i="0">
                <a:solidFill>
                  <a:srgbClr val="2E5B3A"/>
                </a:solidFill>
              </a:rPr>
              <a:t>03  Tạo tài khoản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1BDE006-E976-457A-81F2-76061BB42285}"/>
              </a:ext>
            </a:extLst>
          </p:cNvPr>
          <p:cNvSpPr>
            <a:spLocks noGrp="1"/>
          </p:cNvSpPr>
          <p:nvPr/>
        </p:nvSpPr>
        <p:spPr>
          <a:xfrm>
            <a:off x="8572500" y="5905500"/>
            <a:ext cx="228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75" b="1" i="0">
                <a:solidFill>
                  <a:srgbClr val="2E5B3A"/>
                </a:solidFill>
              </a:defRPr>
            </a:pPr>
            <a:r>
              <a:rPr sz="1275" b="1" i="0">
                <a:solidFill>
                  <a:srgbClr val="2E5B3A"/>
                </a:solidFill>
              </a:rPr>
              <a:t>04  Kích hoạt dịch vụ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027F43-F411-1956-B63B-15989289F368}"/>
              </a:ext>
            </a:extLst>
          </p:cNvPr>
          <p:cNvSpPr>
            <a:spLocks noGrp="1"/>
          </p:cNvSpPr>
          <p:nvPr/>
        </p:nvSpPr>
        <p:spPr>
          <a:xfrm>
            <a:off x="9694506" y="886408"/>
            <a:ext cx="14497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Link </a:t>
            </a:r>
            <a:r>
              <a:rPr dirty="0">
                <a:hlinkClick r:id="rId3"/>
              </a:rPr>
              <a:t>Draw.io</a:t>
            </a:r>
            <a:endParaRPr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FF54F0D-3BF1-E2E7-2A1A-5CB0094CC92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9306" y="1630319"/>
            <a:ext cx="8051444" cy="3978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31909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5F38557-588A-48A1-B418-A280B3104A20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3143250" cy="323850"/>
          </a:xfrm>
          <a:prstGeom prst="roundRect">
            <a:avLst>
              <a:gd name="adj" fmla="val 50000"/>
            </a:avLst>
          </a:prstGeom>
          <a:solidFill>
            <a:srgbClr val="2E5B3A"/>
          </a:solidFill>
          <a:ln w="9525">
            <a:solidFill>
              <a:srgbClr val="2E5B3A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FAA3688-D285-4443-8C72-4DAF99B27F36}"/>
              </a:ext>
            </a:extLst>
          </p:cNvPr>
          <p:cNvSpPr>
            <a:spLocks noGrp="1"/>
          </p:cNvSpPr>
          <p:nvPr/>
        </p:nvSpPr>
        <p:spPr>
          <a:xfrm>
            <a:off x="666750" y="37147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2. QUY TRÌNH NGHIỆP VỤ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C18B95-C6D8-474B-A486-FB0AF44C8263}"/>
              </a:ext>
            </a:extLst>
          </p:cNvPr>
          <p:cNvSpPr>
            <a:spLocks noGrp="1"/>
          </p:cNvSpPr>
          <p:nvPr/>
        </p:nvSpPr>
        <p:spPr>
          <a:xfrm>
            <a:off x="533400" y="800100"/>
            <a:ext cx="10287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 i="0">
                <a:solidFill>
                  <a:srgbClr val="193B2B"/>
                </a:solidFill>
              </a:defRPr>
            </a:pPr>
            <a:r>
              <a:rPr sz="2850" b="1" i="0">
                <a:solidFill>
                  <a:srgbClr val="193B2B"/>
                </a:solidFill>
              </a:rPr>
              <a:t>Use Case xác định phạm vi tương tác của 3 actor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4B0252-6CAB-4356-9423-CDE4CFF4953A}"/>
              </a:ext>
            </a:extLst>
          </p:cNvPr>
          <p:cNvSpPr>
            <a:spLocks noGrp="1"/>
          </p:cNvSpPr>
          <p:nvPr/>
        </p:nvSpPr>
        <p:spPr>
          <a:xfrm>
            <a:off x="11144250" y="3810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 i="0">
                <a:solidFill>
                  <a:srgbClr val="65756B"/>
                </a:solidFill>
              </a:defRPr>
            </a:pPr>
            <a:r>
              <a:rPr sz="1050" b="1" i="0">
                <a:solidFill>
                  <a:srgbClr val="65756B"/>
                </a:solidFill>
              </a:rPr>
              <a:t>11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BDCB25-5DE3-4B40-AF3F-DA80B9D2A915}"/>
              </a:ext>
            </a:extLst>
          </p:cNvPr>
          <p:cNvSpPr>
            <a:spLocks noGrp="1"/>
          </p:cNvSpPr>
          <p:nvPr/>
        </p:nvSpPr>
        <p:spPr>
          <a:xfrm>
            <a:off x="10572750" y="614362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875" b="1" i="1">
                <a:solidFill>
                  <a:srgbClr val="DDE8DA"/>
                </a:solidFill>
              </a:defRPr>
            </a:pPr>
            <a:r>
              <a:rPr sz="1875" b="1" i="1">
                <a:solidFill>
                  <a:srgbClr val="DDE8DA"/>
                </a:solidFill>
              </a:rPr>
              <a:t>eKYC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12F7F7A-E2B2-4015-A414-BDCAB7E678A3}"/>
              </a:ext>
            </a:extLst>
          </p:cNvPr>
          <p:cNvSpPr>
            <a:spLocks noGrp="1"/>
          </p:cNvSpPr>
          <p:nvPr/>
        </p:nvSpPr>
        <p:spPr>
          <a:xfrm>
            <a:off x="1095375" y="1381125"/>
            <a:ext cx="10001250" cy="4714875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C8D9C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06E6EA-44B1-4481-9B78-959D8960D76D}"/>
              </a:ext>
            </a:extLst>
          </p:cNvPr>
          <p:cNvSpPr>
            <a:spLocks noGrp="1"/>
          </p:cNvSpPr>
          <p:nvPr/>
        </p:nvSpPr>
        <p:spPr>
          <a:xfrm>
            <a:off x="1333500" y="6143625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2E5B3A"/>
                </a:solidFill>
              </a:defRPr>
            </a:pPr>
            <a:r>
              <a:rPr sz="1350" b="1" i="0">
                <a:solidFill>
                  <a:srgbClr val="2E5B3A"/>
                </a:solidFill>
              </a:rPr>
              <a:t>Khách hàng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9DF16D-3694-4652-95C8-A79F8E86FFB4}"/>
              </a:ext>
            </a:extLst>
          </p:cNvPr>
          <p:cNvSpPr>
            <a:spLocks noGrp="1"/>
          </p:cNvSpPr>
          <p:nvPr/>
        </p:nvSpPr>
        <p:spPr>
          <a:xfrm>
            <a:off x="4953000" y="6143625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2E5B3A"/>
                </a:solidFill>
              </a:defRPr>
            </a:pPr>
            <a:r>
              <a:rPr sz="1350" b="1" i="0">
                <a:solidFill>
                  <a:srgbClr val="2E5B3A"/>
                </a:solidFill>
              </a:rPr>
              <a:t>Hệ thống ngân hàng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950F95-58DE-4189-A9BE-1297EC9E58B0}"/>
              </a:ext>
            </a:extLst>
          </p:cNvPr>
          <p:cNvSpPr>
            <a:spLocks noGrp="1"/>
          </p:cNvSpPr>
          <p:nvPr/>
        </p:nvSpPr>
        <p:spPr>
          <a:xfrm>
            <a:off x="8763000" y="6143625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2E5B3A"/>
                </a:solidFill>
              </a:defRPr>
            </a:pPr>
            <a:r>
              <a:rPr sz="1350" b="1" i="0">
                <a:solidFill>
                  <a:srgbClr val="2E5B3A"/>
                </a:solidFill>
              </a:rPr>
              <a:t>Hệ thống eKYC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038D62-64D9-B518-9B98-7BE49C83F1B4}"/>
              </a:ext>
            </a:extLst>
          </p:cNvPr>
          <p:cNvSpPr>
            <a:spLocks noGrp="1"/>
          </p:cNvSpPr>
          <p:nvPr/>
        </p:nvSpPr>
        <p:spPr>
          <a:xfrm>
            <a:off x="9694506" y="886408"/>
            <a:ext cx="14497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Link </a:t>
            </a:r>
            <a:r>
              <a:rPr dirty="0">
                <a:hlinkClick r:id="rId3"/>
              </a:rPr>
              <a:t>Draw.io</a:t>
            </a:r>
            <a:endParaRPr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8B6C6DE-4391-2311-2C98-B26F00CB22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4849" y="1528669"/>
            <a:ext cx="6991889" cy="4460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7599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9D2652E-26BC-4BEC-AF3E-757B80E1AA25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3143250" cy="323850"/>
          </a:xfrm>
          <a:prstGeom prst="roundRect">
            <a:avLst>
              <a:gd name="adj" fmla="val 50000"/>
            </a:avLst>
          </a:prstGeom>
          <a:solidFill>
            <a:srgbClr val="2E5B3A"/>
          </a:solidFill>
          <a:ln w="9525">
            <a:solidFill>
              <a:srgbClr val="2E5B3A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662F10-17E4-4884-9CE4-7FA3CD24882C}"/>
              </a:ext>
            </a:extLst>
          </p:cNvPr>
          <p:cNvSpPr>
            <a:spLocks noGrp="1"/>
          </p:cNvSpPr>
          <p:nvPr/>
        </p:nvSpPr>
        <p:spPr>
          <a:xfrm>
            <a:off x="666750" y="37147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2. QUY TRÌNH NGHIỆP VỤ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49E039A-DE18-45C2-84A8-0DD8928DE9C6}"/>
              </a:ext>
            </a:extLst>
          </p:cNvPr>
          <p:cNvSpPr>
            <a:spLocks noGrp="1"/>
          </p:cNvSpPr>
          <p:nvPr/>
        </p:nvSpPr>
        <p:spPr>
          <a:xfrm>
            <a:off x="533400" y="800100"/>
            <a:ext cx="10287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 i="0">
                <a:solidFill>
                  <a:srgbClr val="193B2B"/>
                </a:solidFill>
              </a:defRPr>
            </a:pPr>
            <a:r>
              <a:rPr sz="2850" b="1" i="0">
                <a:solidFill>
                  <a:srgbClr val="193B2B"/>
                </a:solidFill>
              </a:rPr>
              <a:t>Activity Diagram làm rõ điều kiện và vòng lặp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03F373-8498-4C2A-AD95-508160D2B94C}"/>
              </a:ext>
            </a:extLst>
          </p:cNvPr>
          <p:cNvSpPr>
            <a:spLocks noGrp="1"/>
          </p:cNvSpPr>
          <p:nvPr/>
        </p:nvSpPr>
        <p:spPr>
          <a:xfrm>
            <a:off x="11144250" y="3810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 i="0">
                <a:solidFill>
                  <a:srgbClr val="65756B"/>
                </a:solidFill>
              </a:defRPr>
            </a:pPr>
            <a:r>
              <a:rPr sz="1050" b="1" i="0">
                <a:solidFill>
                  <a:srgbClr val="65756B"/>
                </a:solidFill>
              </a:rPr>
              <a:t>12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D8F81F-ED1F-4E0B-9CE4-E4E80DB749E0}"/>
              </a:ext>
            </a:extLst>
          </p:cNvPr>
          <p:cNvSpPr>
            <a:spLocks noGrp="1"/>
          </p:cNvSpPr>
          <p:nvPr/>
        </p:nvSpPr>
        <p:spPr>
          <a:xfrm>
            <a:off x="10572750" y="614362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875" b="1" i="1">
                <a:solidFill>
                  <a:srgbClr val="DDE8DA"/>
                </a:solidFill>
              </a:defRPr>
            </a:pPr>
            <a:r>
              <a:rPr sz="1875" b="1" i="1">
                <a:solidFill>
                  <a:srgbClr val="DDE8DA"/>
                </a:solidFill>
              </a:rPr>
              <a:t>eKYC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DE5D8F-926C-48FD-A756-492E43B987D2}"/>
              </a:ext>
            </a:extLst>
          </p:cNvPr>
          <p:cNvSpPr>
            <a:spLocks noGrp="1"/>
          </p:cNvSpPr>
          <p:nvPr/>
        </p:nvSpPr>
        <p:spPr>
          <a:xfrm>
            <a:off x="6191250" y="1714500"/>
            <a:ext cx="4000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75" b="1" i="0">
                <a:solidFill>
                  <a:srgbClr val="2E5B3A"/>
                </a:solidFill>
              </a:defRPr>
            </a:pPr>
            <a:r>
              <a:rPr sz="1875" b="1" i="0">
                <a:solidFill>
                  <a:srgbClr val="2E5B3A"/>
                </a:solidFill>
              </a:rPr>
              <a:t>Logic cần nhấn mạnh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DB193D0-AE2A-47A6-87D0-B50DD2C5BAE2}"/>
              </a:ext>
            </a:extLst>
          </p:cNvPr>
          <p:cNvSpPr>
            <a:spLocks noGrp="1"/>
          </p:cNvSpPr>
          <p:nvPr/>
        </p:nvSpPr>
        <p:spPr>
          <a:xfrm>
            <a:off x="6191250" y="2238375"/>
            <a:ext cx="2286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 i="0">
                <a:solidFill>
                  <a:srgbClr val="6B9A6E"/>
                </a:solidFill>
              </a:defRPr>
            </a:pPr>
            <a:r>
              <a:rPr sz="1425" b="1" i="0">
                <a:solidFill>
                  <a:srgbClr val="6B9A6E"/>
                </a:solidFill>
              </a:rPr>
              <a:t>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17C6B2-2E9C-4EC1-854E-4BA78A29DDD4}"/>
              </a:ext>
            </a:extLst>
          </p:cNvPr>
          <p:cNvSpPr>
            <a:spLocks noGrp="1"/>
          </p:cNvSpPr>
          <p:nvPr/>
        </p:nvSpPr>
        <p:spPr>
          <a:xfrm>
            <a:off x="6457950" y="2238375"/>
            <a:ext cx="4495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0" i="0">
                <a:solidFill>
                  <a:srgbClr val="183127"/>
                </a:solidFill>
              </a:defRPr>
            </a:pPr>
            <a:r>
              <a:rPr lang="vi-VN" sz="1425" dirty="0"/>
              <a:t>OTP sai còn hạn/còn lượt: nhập lại; đủ 5 lần sai khóa 15 phút; hết hạn yêu cầu mã mới theo giới hạn gửi lại</a:t>
            </a:r>
            <a:r>
              <a:rPr lang="en-US" sz="1425" dirty="0"/>
              <a:t>.</a:t>
            </a:r>
            <a:endParaRPr sz="1425" b="0" i="0" dirty="0">
              <a:solidFill>
                <a:srgbClr val="183127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734455-546D-4F0D-A472-B087CA73CF82}"/>
              </a:ext>
            </a:extLst>
          </p:cNvPr>
          <p:cNvSpPr>
            <a:spLocks noGrp="1"/>
          </p:cNvSpPr>
          <p:nvPr/>
        </p:nvSpPr>
        <p:spPr>
          <a:xfrm>
            <a:off x="6191250" y="2828925"/>
            <a:ext cx="2286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 i="0">
                <a:solidFill>
                  <a:srgbClr val="6B9A6E"/>
                </a:solidFill>
              </a:defRPr>
            </a:pPr>
            <a:r>
              <a:rPr sz="1425" b="1" i="0">
                <a:solidFill>
                  <a:srgbClr val="6B9A6E"/>
                </a:solidFill>
              </a:rPr>
              <a:t>•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24F899-17E1-435F-BB1F-52A8B0ABDCBD}"/>
              </a:ext>
            </a:extLst>
          </p:cNvPr>
          <p:cNvSpPr>
            <a:spLocks noGrp="1"/>
          </p:cNvSpPr>
          <p:nvPr/>
        </p:nvSpPr>
        <p:spPr>
          <a:xfrm>
            <a:off x="6457950" y="2828925"/>
            <a:ext cx="4495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0" i="0">
                <a:solidFill>
                  <a:srgbClr val="183127"/>
                </a:solidFill>
              </a:defRPr>
            </a:pPr>
            <a:r>
              <a:rPr lang="vi-VN" sz="1425" dirty="0"/>
              <a:t>OCR và Face/Liveness dùng chung bộ đếm Fail nghiệp vụ; lỗi kỹ thuật không cộng Fail</a:t>
            </a:r>
            <a:endParaRPr sz="1425" b="0" i="0" dirty="0">
              <a:solidFill>
                <a:srgbClr val="183127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7B0ED9-D4E1-4D27-BB70-10B82191D82C}"/>
              </a:ext>
            </a:extLst>
          </p:cNvPr>
          <p:cNvSpPr>
            <a:spLocks noGrp="1"/>
          </p:cNvSpPr>
          <p:nvPr/>
        </p:nvSpPr>
        <p:spPr>
          <a:xfrm>
            <a:off x="6191250" y="3419475"/>
            <a:ext cx="2286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 i="0">
                <a:solidFill>
                  <a:srgbClr val="6B9A6E"/>
                </a:solidFill>
              </a:defRPr>
            </a:pPr>
            <a:r>
              <a:rPr sz="1425" b="1" i="0">
                <a:solidFill>
                  <a:srgbClr val="6B9A6E"/>
                </a:solidFill>
              </a:rPr>
              <a:t>•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4DA2F5C-13A0-4740-8E90-CC1B9289FC75}"/>
              </a:ext>
            </a:extLst>
          </p:cNvPr>
          <p:cNvSpPr>
            <a:spLocks noGrp="1"/>
          </p:cNvSpPr>
          <p:nvPr/>
        </p:nvSpPr>
        <p:spPr>
          <a:xfrm>
            <a:off x="6457950" y="3419475"/>
            <a:ext cx="4495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0" i="0">
                <a:solidFill>
                  <a:srgbClr val="183127"/>
                </a:solidFill>
              </a:defRPr>
            </a:pPr>
            <a:r>
              <a:rPr lang="vi-VN" sz="1425" dirty="0"/>
              <a:t>Fail dưới 3: thử lại bước tương ứng; đủ 3: dừng online và hướng dẫn hỗ trợ/quầy</a:t>
            </a:r>
            <a:endParaRPr sz="1425" b="0" i="0" dirty="0">
              <a:solidFill>
                <a:srgbClr val="183127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E6D680-4E0C-43AE-BA36-C8DD37C16469}"/>
              </a:ext>
            </a:extLst>
          </p:cNvPr>
          <p:cNvSpPr>
            <a:spLocks noGrp="1"/>
          </p:cNvSpPr>
          <p:nvPr/>
        </p:nvSpPr>
        <p:spPr>
          <a:xfrm>
            <a:off x="6191250" y="4010025"/>
            <a:ext cx="2286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 i="0">
                <a:solidFill>
                  <a:srgbClr val="6B9A6E"/>
                </a:solidFill>
              </a:defRPr>
            </a:pPr>
            <a:r>
              <a:rPr sz="1425" b="1" i="0">
                <a:solidFill>
                  <a:srgbClr val="6B9A6E"/>
                </a:solidFill>
              </a:rPr>
              <a:t>•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D8C117-3F48-4317-8F8C-4CC59958CF20}"/>
              </a:ext>
            </a:extLst>
          </p:cNvPr>
          <p:cNvSpPr>
            <a:spLocks noGrp="1"/>
          </p:cNvSpPr>
          <p:nvPr/>
        </p:nvSpPr>
        <p:spPr>
          <a:xfrm>
            <a:off x="6457950" y="4010025"/>
            <a:ext cx="4495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0" i="0">
                <a:solidFill>
                  <a:srgbClr val="183127"/>
                </a:solidFill>
              </a:defRPr>
            </a:pPr>
            <a:r>
              <a:rPr lang="vi-VN" sz="1425" dirty="0"/>
              <a:t>Xác nhận thông tin OCR trước Face; khách hàng hiện hữu bị từ chối mở mới</a:t>
            </a:r>
            <a:endParaRPr sz="1425" b="0" i="0" dirty="0">
              <a:solidFill>
                <a:srgbClr val="183127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C45951E-8038-4DF5-A325-013C6560B48F}"/>
              </a:ext>
            </a:extLst>
          </p:cNvPr>
          <p:cNvSpPr>
            <a:spLocks noGrp="1"/>
          </p:cNvSpPr>
          <p:nvPr/>
        </p:nvSpPr>
        <p:spPr>
          <a:xfrm>
            <a:off x="6191250" y="4600575"/>
            <a:ext cx="2286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 i="0">
                <a:solidFill>
                  <a:srgbClr val="6B9A6E"/>
                </a:solidFill>
              </a:defRPr>
            </a:pPr>
            <a:r>
              <a:rPr sz="1425" b="1" i="0">
                <a:solidFill>
                  <a:srgbClr val="6B9A6E"/>
                </a:solidFill>
              </a:rPr>
              <a:t>•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5FACB87-4432-4B4D-B2AB-579C981BE1A1}"/>
              </a:ext>
            </a:extLst>
          </p:cNvPr>
          <p:cNvSpPr>
            <a:spLocks noGrp="1"/>
          </p:cNvSpPr>
          <p:nvPr/>
        </p:nvSpPr>
        <p:spPr>
          <a:xfrm>
            <a:off x="6457950" y="4600575"/>
            <a:ext cx="44958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0" i="0">
                <a:solidFill>
                  <a:srgbClr val="183127"/>
                </a:solidFill>
              </a:defRPr>
            </a:pPr>
            <a:r>
              <a:rPr lang="vi-VN" sz="1425" dirty="0"/>
              <a:t>Chỉ hoàn tất khi đã xác nhận lưu/kích hoạt eBanking và PIN thành công</a:t>
            </a:r>
            <a:endParaRPr sz="1425" b="0" i="0" dirty="0">
              <a:solidFill>
                <a:srgbClr val="183127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E2E907-17C2-AF6E-3032-CB9E4A1964AA}"/>
              </a:ext>
            </a:extLst>
          </p:cNvPr>
          <p:cNvSpPr>
            <a:spLocks noGrp="1"/>
          </p:cNvSpPr>
          <p:nvPr/>
        </p:nvSpPr>
        <p:spPr>
          <a:xfrm>
            <a:off x="9694506" y="886408"/>
            <a:ext cx="14497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Link </a:t>
            </a:r>
            <a:r>
              <a:rPr dirty="0">
                <a:hlinkClick r:id="rId3"/>
              </a:rPr>
              <a:t>Draw.io</a:t>
            </a:r>
            <a:endParaRPr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E45BBE0-24EE-4800-E9DA-2C6B9CF7B7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0221" y="1323975"/>
            <a:ext cx="2833122" cy="5412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2594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2F0A979-F9E0-4A3B-97BA-1DB1EDE01B19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3143250" cy="323850"/>
          </a:xfrm>
          <a:prstGeom prst="roundRect">
            <a:avLst>
              <a:gd name="adj" fmla="val 50000"/>
            </a:avLst>
          </a:prstGeom>
          <a:solidFill>
            <a:srgbClr val="2E5B3A"/>
          </a:solidFill>
          <a:ln w="9525">
            <a:solidFill>
              <a:srgbClr val="2E5B3A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CE86366-637A-4D4C-8B05-A5F99D33588C}"/>
              </a:ext>
            </a:extLst>
          </p:cNvPr>
          <p:cNvSpPr>
            <a:spLocks noGrp="1"/>
          </p:cNvSpPr>
          <p:nvPr/>
        </p:nvSpPr>
        <p:spPr>
          <a:xfrm>
            <a:off x="666750" y="37147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2. QUY TRÌNH NGHIỆP VỤ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5519F6-A4E5-48CC-963F-B838065B4682}"/>
              </a:ext>
            </a:extLst>
          </p:cNvPr>
          <p:cNvSpPr>
            <a:spLocks noGrp="1"/>
          </p:cNvSpPr>
          <p:nvPr/>
        </p:nvSpPr>
        <p:spPr>
          <a:xfrm>
            <a:off x="533400" y="800100"/>
            <a:ext cx="10287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 i="0">
                <a:solidFill>
                  <a:srgbClr val="193B2B"/>
                </a:solidFill>
              </a:defRPr>
            </a:pPr>
            <a:r>
              <a:rPr sz="2850" b="1" i="0">
                <a:solidFill>
                  <a:srgbClr val="193B2B"/>
                </a:solidFill>
              </a:rPr>
              <a:t>Sequence Diagram thống nhất tương tác và mã lỗi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6BE94C-83B2-4C9F-A84E-7304DA9B3095}"/>
              </a:ext>
            </a:extLst>
          </p:cNvPr>
          <p:cNvSpPr>
            <a:spLocks noGrp="1"/>
          </p:cNvSpPr>
          <p:nvPr/>
        </p:nvSpPr>
        <p:spPr>
          <a:xfrm>
            <a:off x="11144250" y="3810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 i="0">
                <a:solidFill>
                  <a:srgbClr val="65756B"/>
                </a:solidFill>
              </a:defRPr>
            </a:pPr>
            <a:r>
              <a:rPr sz="1050" b="1" i="0">
                <a:solidFill>
                  <a:srgbClr val="65756B"/>
                </a:solidFill>
              </a:rPr>
              <a:t>13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F62295-93E3-4EB5-840F-FB5E29FC1F7F}"/>
              </a:ext>
            </a:extLst>
          </p:cNvPr>
          <p:cNvSpPr>
            <a:spLocks noGrp="1"/>
          </p:cNvSpPr>
          <p:nvPr/>
        </p:nvSpPr>
        <p:spPr>
          <a:xfrm>
            <a:off x="10572750" y="614362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875" b="1" i="1">
                <a:solidFill>
                  <a:srgbClr val="DDE8DA"/>
                </a:solidFill>
              </a:defRPr>
            </a:pPr>
            <a:r>
              <a:rPr sz="1875" b="1" i="1">
                <a:solidFill>
                  <a:srgbClr val="DDE8DA"/>
                </a:solidFill>
              </a:rPr>
              <a:t>eKYC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E2F9676-769C-43DE-8AC7-ED0180FF68C3}"/>
              </a:ext>
            </a:extLst>
          </p:cNvPr>
          <p:cNvSpPr>
            <a:spLocks noGrp="1"/>
          </p:cNvSpPr>
          <p:nvPr/>
        </p:nvSpPr>
        <p:spPr>
          <a:xfrm>
            <a:off x="5905500" y="3726435"/>
            <a:ext cx="5810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0" i="1">
                <a:solidFill>
                  <a:srgbClr val="65756B"/>
                </a:solidFill>
              </a:defRPr>
            </a:pPr>
            <a:r>
              <a:rPr sz="1350" b="0" i="1">
                <a:solidFill>
                  <a:srgbClr val="65756B"/>
                </a:solidFill>
              </a:rPr>
              <a:t>4 lifeline: Khách hàng - Ứng dụng - Hệ thống ngân hàng - Hệ thống eKYC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147E66-4972-69C9-4CFB-F429CCF5F3D5}"/>
              </a:ext>
            </a:extLst>
          </p:cNvPr>
          <p:cNvSpPr>
            <a:spLocks noGrp="1"/>
          </p:cNvSpPr>
          <p:nvPr/>
        </p:nvSpPr>
        <p:spPr>
          <a:xfrm>
            <a:off x="9694506" y="886408"/>
            <a:ext cx="14497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/>
              <a:t>Link </a:t>
            </a:r>
            <a:r>
              <a:rPr dirty="0">
                <a:hlinkClick r:id="rId3"/>
              </a:rPr>
              <a:t>Draw.io</a:t>
            </a:r>
            <a:endParaRPr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1E2C230-A789-14A3-8164-37C547E8AA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4292" y="1476375"/>
            <a:ext cx="2606915" cy="523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7294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50BC54C-DEF7-4B6F-847A-3EC92DD239F5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3143250" cy="323850"/>
          </a:xfrm>
          <a:prstGeom prst="roundRect">
            <a:avLst>
              <a:gd name="adj" fmla="val 50000"/>
            </a:avLst>
          </a:prstGeom>
          <a:solidFill>
            <a:srgbClr val="2E5B3A"/>
          </a:solidFill>
          <a:ln w="9525">
            <a:solidFill>
              <a:srgbClr val="2E5B3A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5D4644-312E-4AEE-BCB7-EFE10BA3E6AE}"/>
              </a:ext>
            </a:extLst>
          </p:cNvPr>
          <p:cNvSpPr>
            <a:spLocks noGrp="1"/>
          </p:cNvSpPr>
          <p:nvPr/>
        </p:nvSpPr>
        <p:spPr>
          <a:xfrm>
            <a:off x="666750" y="37147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3. PHÂN TÍCH VÀ THIẾT KẾ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8B9799-27FF-4E2B-A856-D74192E3EE21}"/>
              </a:ext>
            </a:extLst>
          </p:cNvPr>
          <p:cNvSpPr>
            <a:spLocks noGrp="1"/>
          </p:cNvSpPr>
          <p:nvPr/>
        </p:nvSpPr>
        <p:spPr>
          <a:xfrm>
            <a:off x="533400" y="800100"/>
            <a:ext cx="10287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 i="0">
                <a:solidFill>
                  <a:srgbClr val="193B2B"/>
                </a:solidFill>
              </a:defRPr>
            </a:pPr>
            <a:r>
              <a:rPr sz="2850" b="1" i="0">
                <a:solidFill>
                  <a:srgbClr val="193B2B"/>
                </a:solidFill>
              </a:rPr>
              <a:t>ERD quản lý cả hồ sơ nháp và khách hàng chính thức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CEBF74-85EE-40CE-B6C8-4B318998E287}"/>
              </a:ext>
            </a:extLst>
          </p:cNvPr>
          <p:cNvSpPr>
            <a:spLocks noGrp="1"/>
          </p:cNvSpPr>
          <p:nvPr/>
        </p:nvSpPr>
        <p:spPr>
          <a:xfrm>
            <a:off x="11144250" y="3810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 i="0">
                <a:solidFill>
                  <a:srgbClr val="65756B"/>
                </a:solidFill>
              </a:defRPr>
            </a:pPr>
            <a:r>
              <a:rPr sz="1050" b="1" i="0">
                <a:solidFill>
                  <a:srgbClr val="65756B"/>
                </a:solidFill>
              </a:rPr>
              <a:t>14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FB3A52-B822-4A1B-81B2-F39CA33D73E0}"/>
              </a:ext>
            </a:extLst>
          </p:cNvPr>
          <p:cNvSpPr>
            <a:spLocks noGrp="1"/>
          </p:cNvSpPr>
          <p:nvPr/>
        </p:nvSpPr>
        <p:spPr>
          <a:xfrm>
            <a:off x="10572750" y="614362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875" b="1" i="1">
                <a:solidFill>
                  <a:srgbClr val="DDE8DA"/>
                </a:solidFill>
              </a:defRPr>
            </a:pPr>
            <a:r>
              <a:rPr sz="1875" b="1" i="1">
                <a:solidFill>
                  <a:srgbClr val="DDE8DA"/>
                </a:solidFill>
              </a:rPr>
              <a:t>eKYC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4E62F63-69F8-4E9E-9C19-068635608C21}"/>
              </a:ext>
            </a:extLst>
          </p:cNvPr>
          <p:cNvSpPr>
            <a:spLocks noGrp="1"/>
          </p:cNvSpPr>
          <p:nvPr/>
        </p:nvSpPr>
        <p:spPr>
          <a:xfrm>
            <a:off x="571500" y="1428750"/>
            <a:ext cx="7524750" cy="4714875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C8D9C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BFCB45-8DC8-460C-9B08-FF0FE2567EE0}"/>
              </a:ext>
            </a:extLst>
          </p:cNvPr>
          <p:cNvSpPr>
            <a:spLocks noGrp="1"/>
          </p:cNvSpPr>
          <p:nvPr/>
        </p:nvSpPr>
        <p:spPr>
          <a:xfrm>
            <a:off x="8572500" y="1666875"/>
            <a:ext cx="247650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75" b="1" i="0">
                <a:solidFill>
                  <a:srgbClr val="2E5B3A"/>
                </a:solidFill>
              </a:defRPr>
            </a:pPr>
            <a:r>
              <a:rPr sz="2175" b="1" i="0">
                <a:solidFill>
                  <a:srgbClr val="2E5B3A"/>
                </a:solidFill>
              </a:rPr>
              <a:t>7 bảng chính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8278C2-7A41-42CC-BF6C-453DFE7D57F4}"/>
              </a:ext>
            </a:extLst>
          </p:cNvPr>
          <p:cNvSpPr>
            <a:spLocks noGrp="1"/>
          </p:cNvSpPr>
          <p:nvPr/>
        </p:nvSpPr>
        <p:spPr>
          <a:xfrm>
            <a:off x="8572500" y="2238375"/>
            <a:ext cx="2286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6B9A6E"/>
                </a:solidFill>
              </a:defRPr>
            </a:pPr>
            <a:r>
              <a:rPr sz="1350" b="1" i="0">
                <a:solidFill>
                  <a:srgbClr val="6B9A6E"/>
                </a:solidFill>
              </a:rPr>
              <a:t>•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CD3F77-514C-4A5B-A263-97B7AEC3E442}"/>
              </a:ext>
            </a:extLst>
          </p:cNvPr>
          <p:cNvSpPr>
            <a:spLocks noGrp="1"/>
          </p:cNvSpPr>
          <p:nvPr/>
        </p:nvSpPr>
        <p:spPr>
          <a:xfrm>
            <a:off x="8839200" y="2238375"/>
            <a:ext cx="22098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 i="0">
                <a:solidFill>
                  <a:srgbClr val="183127"/>
                </a:solidFill>
              </a:defRPr>
            </a:pPr>
            <a:r>
              <a:rPr sz="1350" b="0" i="0">
                <a:solidFill>
                  <a:srgbClr val="183127"/>
                </a:solidFill>
              </a:rPr>
              <a:t>HoSoDangKy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36FC5D-A54C-4439-9185-432AE6B23E39}"/>
              </a:ext>
            </a:extLst>
          </p:cNvPr>
          <p:cNvSpPr>
            <a:spLocks noGrp="1"/>
          </p:cNvSpPr>
          <p:nvPr/>
        </p:nvSpPr>
        <p:spPr>
          <a:xfrm>
            <a:off x="8572500" y="2676525"/>
            <a:ext cx="2286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6B9A6E"/>
                </a:solidFill>
              </a:defRPr>
            </a:pPr>
            <a:r>
              <a:rPr sz="1350" b="1" i="0">
                <a:solidFill>
                  <a:srgbClr val="6B9A6E"/>
                </a:solidFill>
              </a:rPr>
              <a:t>•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20E62CE-5BAF-4617-96C8-E8079525F450}"/>
              </a:ext>
            </a:extLst>
          </p:cNvPr>
          <p:cNvSpPr>
            <a:spLocks noGrp="1"/>
          </p:cNvSpPr>
          <p:nvPr/>
        </p:nvSpPr>
        <p:spPr>
          <a:xfrm>
            <a:off x="8839200" y="2676525"/>
            <a:ext cx="22098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 i="0">
                <a:solidFill>
                  <a:srgbClr val="183127"/>
                </a:solidFill>
              </a:defRPr>
            </a:pPr>
            <a:r>
              <a:rPr sz="1350" b="0" i="0">
                <a:solidFill>
                  <a:srgbClr val="183127"/>
                </a:solidFill>
              </a:rPr>
              <a:t>LichSuOTP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2CD733-B60A-4B0E-BA00-40FCCBF8AE9A}"/>
              </a:ext>
            </a:extLst>
          </p:cNvPr>
          <p:cNvSpPr>
            <a:spLocks noGrp="1"/>
          </p:cNvSpPr>
          <p:nvPr/>
        </p:nvSpPr>
        <p:spPr>
          <a:xfrm>
            <a:off x="8572500" y="3114675"/>
            <a:ext cx="2286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6B9A6E"/>
                </a:solidFill>
              </a:defRPr>
            </a:pPr>
            <a:r>
              <a:rPr sz="1350" b="1" i="0">
                <a:solidFill>
                  <a:srgbClr val="6B9A6E"/>
                </a:solidFill>
              </a:rPr>
              <a:t>•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8ADC175-EC4F-4D80-8EEA-BA8110C4F106}"/>
              </a:ext>
            </a:extLst>
          </p:cNvPr>
          <p:cNvSpPr>
            <a:spLocks noGrp="1"/>
          </p:cNvSpPr>
          <p:nvPr/>
        </p:nvSpPr>
        <p:spPr>
          <a:xfrm>
            <a:off x="8839200" y="3114675"/>
            <a:ext cx="22098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 i="0">
                <a:solidFill>
                  <a:srgbClr val="183127"/>
                </a:solidFill>
              </a:defRPr>
            </a:pPr>
            <a:r>
              <a:rPr sz="1350" b="0" i="0">
                <a:solidFill>
                  <a:srgbClr val="183127"/>
                </a:solidFill>
              </a:rPr>
              <a:t>LichSuXacThucEKYC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4BD83EE-A231-4627-AB08-07B64023A3CF}"/>
              </a:ext>
            </a:extLst>
          </p:cNvPr>
          <p:cNvSpPr>
            <a:spLocks noGrp="1"/>
          </p:cNvSpPr>
          <p:nvPr/>
        </p:nvSpPr>
        <p:spPr>
          <a:xfrm>
            <a:off x="8572500" y="3552825"/>
            <a:ext cx="2286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6B9A6E"/>
                </a:solidFill>
              </a:defRPr>
            </a:pPr>
            <a:r>
              <a:rPr sz="1350" b="1" i="0">
                <a:solidFill>
                  <a:srgbClr val="6B9A6E"/>
                </a:solidFill>
              </a:rPr>
              <a:t>•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CA7D4AB-B244-46EA-8816-C8AA8870E70D}"/>
              </a:ext>
            </a:extLst>
          </p:cNvPr>
          <p:cNvSpPr>
            <a:spLocks noGrp="1"/>
          </p:cNvSpPr>
          <p:nvPr/>
        </p:nvSpPr>
        <p:spPr>
          <a:xfrm>
            <a:off x="8839200" y="3552825"/>
            <a:ext cx="22098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 i="0">
                <a:solidFill>
                  <a:srgbClr val="183127"/>
                </a:solidFill>
              </a:defRPr>
            </a:pPr>
            <a:r>
              <a:rPr sz="1350" b="0" i="0">
                <a:solidFill>
                  <a:srgbClr val="183127"/>
                </a:solidFill>
              </a:rPr>
              <a:t>NhatKyKiemToan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B28F87A-218A-4D21-8683-15BF7450B78B}"/>
              </a:ext>
            </a:extLst>
          </p:cNvPr>
          <p:cNvSpPr>
            <a:spLocks noGrp="1"/>
          </p:cNvSpPr>
          <p:nvPr/>
        </p:nvSpPr>
        <p:spPr>
          <a:xfrm>
            <a:off x="8572500" y="3990975"/>
            <a:ext cx="2286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6B9A6E"/>
                </a:solidFill>
              </a:defRPr>
            </a:pPr>
            <a:r>
              <a:rPr sz="1350" b="1" i="0">
                <a:solidFill>
                  <a:srgbClr val="6B9A6E"/>
                </a:solidFill>
              </a:rPr>
              <a:t>•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0C68B27-5158-4D72-B941-C14070F36B18}"/>
              </a:ext>
            </a:extLst>
          </p:cNvPr>
          <p:cNvSpPr>
            <a:spLocks noGrp="1"/>
          </p:cNvSpPr>
          <p:nvPr/>
        </p:nvSpPr>
        <p:spPr>
          <a:xfrm>
            <a:off x="8839200" y="3990975"/>
            <a:ext cx="22098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 i="0">
                <a:solidFill>
                  <a:srgbClr val="183127"/>
                </a:solidFill>
              </a:defRPr>
            </a:pPr>
            <a:r>
              <a:rPr sz="1350" b="0" i="0">
                <a:solidFill>
                  <a:srgbClr val="183127"/>
                </a:solidFill>
              </a:rPr>
              <a:t>KhachHang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725FC4-603A-431E-941D-62E73E19B433}"/>
              </a:ext>
            </a:extLst>
          </p:cNvPr>
          <p:cNvSpPr>
            <a:spLocks noGrp="1"/>
          </p:cNvSpPr>
          <p:nvPr/>
        </p:nvSpPr>
        <p:spPr>
          <a:xfrm>
            <a:off x="8572500" y="4429125"/>
            <a:ext cx="2286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6B9A6E"/>
                </a:solidFill>
              </a:defRPr>
            </a:pPr>
            <a:r>
              <a:rPr sz="1350" b="1" i="0">
                <a:solidFill>
                  <a:srgbClr val="6B9A6E"/>
                </a:solidFill>
              </a:rPr>
              <a:t>•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E2DFA8D-7717-4546-B12A-80DF1025BB65}"/>
              </a:ext>
            </a:extLst>
          </p:cNvPr>
          <p:cNvSpPr>
            <a:spLocks noGrp="1"/>
          </p:cNvSpPr>
          <p:nvPr/>
        </p:nvSpPr>
        <p:spPr>
          <a:xfrm>
            <a:off x="8839200" y="4429125"/>
            <a:ext cx="22098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 i="0">
                <a:solidFill>
                  <a:srgbClr val="183127"/>
                </a:solidFill>
              </a:defRPr>
            </a:pPr>
            <a:r>
              <a:rPr sz="1350" b="0" i="0">
                <a:solidFill>
                  <a:srgbClr val="183127"/>
                </a:solidFill>
              </a:rPr>
              <a:t>TaiKhoan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624AC9F-A961-4346-BAE8-41BDF1600D2E}"/>
              </a:ext>
            </a:extLst>
          </p:cNvPr>
          <p:cNvSpPr>
            <a:spLocks noGrp="1"/>
          </p:cNvSpPr>
          <p:nvPr/>
        </p:nvSpPr>
        <p:spPr>
          <a:xfrm>
            <a:off x="8572500" y="4867275"/>
            <a:ext cx="2286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6B9A6E"/>
                </a:solidFill>
              </a:defRPr>
            </a:pPr>
            <a:r>
              <a:rPr sz="1350" b="1" i="0">
                <a:solidFill>
                  <a:srgbClr val="6B9A6E"/>
                </a:solidFill>
              </a:rPr>
              <a:t>•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6DAF93F-785D-449E-A909-CEE925112F6F}"/>
              </a:ext>
            </a:extLst>
          </p:cNvPr>
          <p:cNvSpPr>
            <a:spLocks noGrp="1"/>
          </p:cNvSpPr>
          <p:nvPr/>
        </p:nvSpPr>
        <p:spPr>
          <a:xfrm>
            <a:off x="8839200" y="4867275"/>
            <a:ext cx="22098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 i="0">
                <a:solidFill>
                  <a:srgbClr val="183127"/>
                </a:solidFill>
              </a:defRPr>
            </a:pPr>
            <a:r>
              <a:rPr sz="1350" b="0" i="0">
                <a:solidFill>
                  <a:srgbClr val="183127"/>
                </a:solidFill>
              </a:rPr>
              <a:t>EBanking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679BE68-5EE5-4CE5-A877-D399D824F32E}"/>
              </a:ext>
            </a:extLst>
          </p:cNvPr>
          <p:cNvSpPr>
            <a:spLocks noGrp="1"/>
          </p:cNvSpPr>
          <p:nvPr/>
        </p:nvSpPr>
        <p:spPr>
          <a:xfrm>
            <a:off x="8334375" y="5572125"/>
            <a:ext cx="2952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350" b="1" i="0">
                <a:solidFill>
                  <a:srgbClr val="294C64"/>
                </a:solidFill>
              </a:defRPr>
            </a:pPr>
            <a:endParaRPr sz="1350" b="1" i="0">
              <a:solidFill>
                <a:srgbClr val="294C64"/>
              </a:solidFill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E6D19BF6-A132-511A-1CA6-2686447698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923" y="1476375"/>
            <a:ext cx="5833903" cy="4643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9924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606401B3-A97C-4226-B041-346F3AA6A503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3143250" cy="323850"/>
          </a:xfrm>
          <a:prstGeom prst="roundRect">
            <a:avLst>
              <a:gd name="adj" fmla="val 50000"/>
            </a:avLst>
          </a:prstGeom>
          <a:solidFill>
            <a:srgbClr val="2E5B3A"/>
          </a:solidFill>
          <a:ln w="9525">
            <a:solidFill>
              <a:srgbClr val="2E5B3A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430FC0-824A-4A6B-A5D4-C4EEB97CAC75}"/>
              </a:ext>
            </a:extLst>
          </p:cNvPr>
          <p:cNvSpPr>
            <a:spLocks noGrp="1"/>
          </p:cNvSpPr>
          <p:nvPr/>
        </p:nvSpPr>
        <p:spPr>
          <a:xfrm>
            <a:off x="666750" y="37147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3. PHÂN TÍCH VÀ THIẾT KẾ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34374D5-2243-4F49-BE0E-84603A790AF5}"/>
              </a:ext>
            </a:extLst>
          </p:cNvPr>
          <p:cNvSpPr>
            <a:spLocks noGrp="1"/>
          </p:cNvSpPr>
          <p:nvPr/>
        </p:nvSpPr>
        <p:spPr>
          <a:xfrm>
            <a:off x="533400" y="800100"/>
            <a:ext cx="10287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 i="0">
                <a:solidFill>
                  <a:srgbClr val="193B2B"/>
                </a:solidFill>
              </a:defRPr>
            </a:pPr>
            <a:r>
              <a:rPr sz="2850" b="1" i="0" dirty="0">
                <a:solidFill>
                  <a:srgbClr val="193B2B"/>
                </a:solidFill>
              </a:rPr>
              <a:t>API, </a:t>
            </a:r>
            <a:r>
              <a:rPr sz="2850" b="1" i="0" dirty="0" err="1">
                <a:solidFill>
                  <a:srgbClr val="193B2B"/>
                </a:solidFill>
              </a:rPr>
              <a:t>dữ</a:t>
            </a:r>
            <a:r>
              <a:rPr sz="2850" b="1" i="0" dirty="0">
                <a:solidFill>
                  <a:srgbClr val="193B2B"/>
                </a:solidFill>
              </a:rPr>
              <a:t> </a:t>
            </a:r>
            <a:r>
              <a:rPr sz="2850" b="1" i="0" dirty="0" err="1">
                <a:solidFill>
                  <a:srgbClr val="193B2B"/>
                </a:solidFill>
              </a:rPr>
              <a:t>liệu</a:t>
            </a:r>
            <a:r>
              <a:rPr sz="2850" b="1" i="0" dirty="0">
                <a:solidFill>
                  <a:srgbClr val="193B2B"/>
                </a:solidFill>
              </a:rPr>
              <a:t> </a:t>
            </a:r>
            <a:r>
              <a:rPr sz="2850" b="1" i="0" dirty="0" err="1">
                <a:solidFill>
                  <a:srgbClr val="193B2B"/>
                </a:solidFill>
              </a:rPr>
              <a:t>được</a:t>
            </a:r>
            <a:r>
              <a:rPr sz="2850" b="1" i="0" dirty="0">
                <a:solidFill>
                  <a:srgbClr val="193B2B"/>
                </a:solidFill>
              </a:rPr>
              <a:t> </a:t>
            </a:r>
            <a:r>
              <a:rPr sz="2850" b="1" i="0" dirty="0" err="1">
                <a:solidFill>
                  <a:srgbClr val="193B2B"/>
                </a:solidFill>
              </a:rPr>
              <a:t>thiết</a:t>
            </a:r>
            <a:r>
              <a:rPr sz="2850" b="1" i="0" dirty="0">
                <a:solidFill>
                  <a:srgbClr val="193B2B"/>
                </a:solidFill>
              </a:rPr>
              <a:t> </a:t>
            </a:r>
            <a:r>
              <a:rPr sz="2850" b="1" i="0" dirty="0" err="1">
                <a:solidFill>
                  <a:srgbClr val="193B2B"/>
                </a:solidFill>
              </a:rPr>
              <a:t>kế</a:t>
            </a:r>
            <a:r>
              <a:rPr sz="2850" b="1" i="0" dirty="0">
                <a:solidFill>
                  <a:srgbClr val="193B2B"/>
                </a:solidFill>
              </a:rPr>
              <a:t> </a:t>
            </a:r>
            <a:r>
              <a:rPr sz="2850" b="1" i="0" dirty="0" err="1">
                <a:solidFill>
                  <a:srgbClr val="193B2B"/>
                </a:solidFill>
              </a:rPr>
              <a:t>đồng</a:t>
            </a:r>
            <a:r>
              <a:rPr sz="2850" b="1" i="0" dirty="0">
                <a:solidFill>
                  <a:srgbClr val="193B2B"/>
                </a:solidFill>
              </a:rPr>
              <a:t> </a:t>
            </a:r>
            <a:r>
              <a:rPr sz="2850" b="1" i="0" dirty="0" err="1">
                <a:solidFill>
                  <a:srgbClr val="193B2B"/>
                </a:solidFill>
              </a:rPr>
              <a:t>bộ</a:t>
            </a:r>
            <a:endParaRPr sz="2850" b="1" i="0" dirty="0">
              <a:solidFill>
                <a:srgbClr val="193B2B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9BB611-B219-4C0D-A781-44F27169DFCD}"/>
              </a:ext>
            </a:extLst>
          </p:cNvPr>
          <p:cNvSpPr>
            <a:spLocks noGrp="1"/>
          </p:cNvSpPr>
          <p:nvPr/>
        </p:nvSpPr>
        <p:spPr>
          <a:xfrm>
            <a:off x="11144250" y="3810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 i="0">
                <a:solidFill>
                  <a:srgbClr val="65756B"/>
                </a:solidFill>
              </a:defRPr>
            </a:pPr>
            <a:r>
              <a:rPr sz="1050" b="1" i="0">
                <a:solidFill>
                  <a:srgbClr val="65756B"/>
                </a:solidFill>
              </a:rPr>
              <a:t>15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506484-2DC7-4B49-B5BE-471E0E5B066B}"/>
              </a:ext>
            </a:extLst>
          </p:cNvPr>
          <p:cNvSpPr>
            <a:spLocks noGrp="1"/>
          </p:cNvSpPr>
          <p:nvPr/>
        </p:nvSpPr>
        <p:spPr>
          <a:xfrm>
            <a:off x="714375" y="1571625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 i="0">
                <a:solidFill>
                  <a:srgbClr val="6B9A6E"/>
                </a:solidFill>
              </a:defRPr>
            </a:pPr>
            <a:r>
              <a:rPr sz="1425" b="1" i="0">
                <a:solidFill>
                  <a:srgbClr val="6B9A6E"/>
                </a:solidFill>
              </a:rPr>
              <a:t>API CONTRACT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81E51C-FA7D-4764-A456-81F543FC077B}"/>
              </a:ext>
            </a:extLst>
          </p:cNvPr>
          <p:cNvSpPr>
            <a:spLocks noGrp="1"/>
          </p:cNvSpPr>
          <p:nvPr/>
        </p:nvSpPr>
        <p:spPr>
          <a:xfrm>
            <a:off x="714375" y="2000250"/>
            <a:ext cx="3143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75" b="1" i="0">
                <a:solidFill>
                  <a:srgbClr val="193B2B"/>
                </a:solidFill>
              </a:defRPr>
            </a:pPr>
            <a:r>
              <a:rPr sz="2175" b="1" i="0">
                <a:solidFill>
                  <a:srgbClr val="193B2B"/>
                </a:solidFill>
              </a:rPr>
              <a:t>8 API Bank Backend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E936A6-2465-4A2C-86B2-E4279F654A4E}"/>
              </a:ext>
            </a:extLst>
          </p:cNvPr>
          <p:cNvSpPr>
            <a:spLocks noGrp="1"/>
          </p:cNvSpPr>
          <p:nvPr/>
        </p:nvSpPr>
        <p:spPr>
          <a:xfrm>
            <a:off x="714375" y="2524125"/>
            <a:ext cx="3238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 i="0">
                <a:solidFill>
                  <a:srgbClr val="183127"/>
                </a:solidFill>
              </a:defRPr>
            </a:pPr>
            <a:r>
              <a:rPr sz="1425" b="0" i="0">
                <a:solidFill>
                  <a:srgbClr val="183127"/>
                </a:solidFill>
              </a:rPr>
              <a:t>Gửi/xác thực OTP, ảnh CCCD, ảnh khuôn mặt, trạng thái, bổ sung thông tin, gửi hồ sơ và thiết lập eBanking.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56B7B17-AC42-410F-8C98-4FB4198858D0}"/>
              </a:ext>
            </a:extLst>
          </p:cNvPr>
          <p:cNvSpPr>
            <a:spLocks noGrp="1"/>
          </p:cNvSpPr>
          <p:nvPr/>
        </p:nvSpPr>
        <p:spPr>
          <a:xfrm>
            <a:off x="714375" y="4191000"/>
            <a:ext cx="314325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175" b="1" i="0">
                <a:solidFill>
                  <a:srgbClr val="193B2B"/>
                </a:solidFill>
              </a:defRPr>
            </a:pPr>
            <a:r>
              <a:rPr sz="2175" b="1" i="0">
                <a:solidFill>
                  <a:srgbClr val="193B2B"/>
                </a:solidFill>
              </a:rPr>
              <a:t>2 API eKYC Vendor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BA27D-12B0-4A6F-9360-3DDB52FFA6D5}"/>
              </a:ext>
            </a:extLst>
          </p:cNvPr>
          <p:cNvSpPr>
            <a:spLocks noGrp="1"/>
          </p:cNvSpPr>
          <p:nvPr/>
        </p:nvSpPr>
        <p:spPr>
          <a:xfrm>
            <a:off x="714375" y="4714875"/>
            <a:ext cx="32385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0" i="0">
                <a:solidFill>
                  <a:srgbClr val="183127"/>
                </a:solidFill>
              </a:defRPr>
            </a:pPr>
            <a:r>
              <a:rPr sz="1425" b="0" i="0">
                <a:solidFill>
                  <a:srgbClr val="183127"/>
                </a:solidFill>
              </a:rPr>
              <a:t>OCR và Face Matching/Liveness - đặc tả contract để tích hợp, cần vendor xác nhận trước phát triển.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1609969A-73FB-4DCE-8DB3-E3D769DED49D}"/>
              </a:ext>
            </a:extLst>
          </p:cNvPr>
          <p:cNvSpPr>
            <a:spLocks noGrp="1"/>
          </p:cNvSpPr>
          <p:nvPr/>
        </p:nvSpPr>
        <p:spPr>
          <a:xfrm>
            <a:off x="4333875" y="1619250"/>
            <a:ext cx="9525" cy="9525"/>
          </a:xfrm>
          <a:prstGeom prst="line">
            <a:avLst/>
          </a:prstGeom>
          <a:noFill/>
          <a:ln w="9525">
            <a:solidFill>
              <a:srgbClr val="C8D9C5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91C67C-77CC-4662-A6AC-1E35FB0B6127}"/>
              </a:ext>
            </a:extLst>
          </p:cNvPr>
          <p:cNvSpPr>
            <a:spLocks noGrp="1"/>
          </p:cNvSpPr>
          <p:nvPr/>
        </p:nvSpPr>
        <p:spPr>
          <a:xfrm>
            <a:off x="4762500" y="1571625"/>
            <a:ext cx="2190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425" b="1" i="0">
                <a:solidFill>
                  <a:srgbClr val="6B9A6E"/>
                </a:solidFill>
              </a:defRPr>
            </a:pPr>
            <a:r>
              <a:rPr sz="1425" b="1" i="0">
                <a:solidFill>
                  <a:srgbClr val="6B9A6E"/>
                </a:solidFill>
              </a:rPr>
              <a:t>DỮ LIỆU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081E5D-4A09-48D1-B0D9-D090C8BDDA07}"/>
              </a:ext>
            </a:extLst>
          </p:cNvPr>
          <p:cNvSpPr>
            <a:spLocks noGrp="1"/>
          </p:cNvSpPr>
          <p:nvPr/>
        </p:nvSpPr>
        <p:spPr>
          <a:xfrm>
            <a:off x="4762500" y="2095500"/>
            <a:ext cx="2286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6B9A6E"/>
                </a:solidFill>
              </a:defRPr>
            </a:pPr>
            <a:r>
              <a:rPr sz="1350" b="1" i="0">
                <a:solidFill>
                  <a:srgbClr val="6B9A6E"/>
                </a:solidFill>
              </a:rPr>
              <a:t>•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EDCC55-AC87-418A-91ED-D8E7F743DAFB}"/>
              </a:ext>
            </a:extLst>
          </p:cNvPr>
          <p:cNvSpPr>
            <a:spLocks noGrp="1"/>
          </p:cNvSpPr>
          <p:nvPr/>
        </p:nvSpPr>
        <p:spPr>
          <a:xfrm>
            <a:off x="5029200" y="2095500"/>
            <a:ext cx="268605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 i="0">
                <a:solidFill>
                  <a:srgbClr val="183127"/>
                </a:solidFill>
              </a:defRPr>
            </a:pPr>
            <a:r>
              <a:rPr sz="1350" b="0" i="0">
                <a:solidFill>
                  <a:srgbClr val="183127"/>
                </a:solidFill>
              </a:rPr>
              <a:t>Hồ sơ nháp được tạo ngay từ SĐT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6A6CEC-4F49-4241-9AF3-CD54FDA07B3A}"/>
              </a:ext>
            </a:extLst>
          </p:cNvPr>
          <p:cNvSpPr>
            <a:spLocks noGrp="1"/>
          </p:cNvSpPr>
          <p:nvPr/>
        </p:nvSpPr>
        <p:spPr>
          <a:xfrm>
            <a:off x="4762500" y="2733675"/>
            <a:ext cx="2286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6B9A6E"/>
                </a:solidFill>
              </a:defRPr>
            </a:pPr>
            <a:r>
              <a:rPr sz="1350" b="1" i="0">
                <a:solidFill>
                  <a:srgbClr val="6B9A6E"/>
                </a:solidFill>
              </a:rPr>
              <a:t>•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CEC32D9-206A-408E-A28E-CD9FA13F6484}"/>
              </a:ext>
            </a:extLst>
          </p:cNvPr>
          <p:cNvSpPr>
            <a:spLocks noGrp="1"/>
          </p:cNvSpPr>
          <p:nvPr/>
        </p:nvSpPr>
        <p:spPr>
          <a:xfrm>
            <a:off x="5029200" y="2733675"/>
            <a:ext cx="268605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 i="0">
                <a:solidFill>
                  <a:srgbClr val="183127"/>
                </a:solidFill>
              </a:defRPr>
            </a:pPr>
            <a:r>
              <a:rPr sz="1350" b="0" i="0">
                <a:solidFill>
                  <a:srgbClr val="183127"/>
                </a:solidFill>
              </a:rPr>
              <a:t>OCR tự điền thông tin CCCD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024E22-7045-43AF-A0CB-4DAF75339B20}"/>
              </a:ext>
            </a:extLst>
          </p:cNvPr>
          <p:cNvSpPr>
            <a:spLocks noGrp="1"/>
          </p:cNvSpPr>
          <p:nvPr/>
        </p:nvSpPr>
        <p:spPr>
          <a:xfrm>
            <a:off x="4762500" y="3371850"/>
            <a:ext cx="2286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6B9A6E"/>
                </a:solidFill>
              </a:defRPr>
            </a:pPr>
            <a:r>
              <a:rPr sz="1350" b="1" i="0">
                <a:solidFill>
                  <a:srgbClr val="6B9A6E"/>
                </a:solidFill>
              </a:rPr>
              <a:t>•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9912574-44E1-422B-8650-BDBE100C45DF}"/>
              </a:ext>
            </a:extLst>
          </p:cNvPr>
          <p:cNvSpPr>
            <a:spLocks noGrp="1"/>
          </p:cNvSpPr>
          <p:nvPr/>
        </p:nvSpPr>
        <p:spPr>
          <a:xfrm>
            <a:off x="5029200" y="3371850"/>
            <a:ext cx="268605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0">
                <a:solidFill>
                  <a:srgbClr val="183127"/>
                </a:solidFill>
              </a:defRPr>
            </a:pPr>
            <a:r>
              <a:rPr lang="vi-VN" sz="1350" dirty="0"/>
              <a:t>LanThu: số thứ tự từng yêu cầu eKYC</a:t>
            </a:r>
            <a:endParaRPr sz="1350" b="0" i="0" dirty="0">
              <a:solidFill>
                <a:srgbClr val="183127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3AE4A17-5C99-4E38-BD36-DEBD41BF9E55}"/>
              </a:ext>
            </a:extLst>
          </p:cNvPr>
          <p:cNvSpPr>
            <a:spLocks noGrp="1"/>
          </p:cNvSpPr>
          <p:nvPr/>
        </p:nvSpPr>
        <p:spPr>
          <a:xfrm>
            <a:off x="4762500" y="4010025"/>
            <a:ext cx="2286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6B9A6E"/>
                </a:solidFill>
              </a:defRPr>
            </a:pPr>
            <a:r>
              <a:rPr sz="1350" b="1" i="0">
                <a:solidFill>
                  <a:srgbClr val="6B9A6E"/>
                </a:solidFill>
              </a:rPr>
              <a:t>•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D004EE1-5C80-40D1-A63F-35C133A98C62}"/>
              </a:ext>
            </a:extLst>
          </p:cNvPr>
          <p:cNvSpPr>
            <a:spLocks noGrp="1"/>
          </p:cNvSpPr>
          <p:nvPr/>
        </p:nvSpPr>
        <p:spPr>
          <a:xfrm>
            <a:off x="5029200" y="4010025"/>
            <a:ext cx="268605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0" i="0">
                <a:solidFill>
                  <a:srgbClr val="183127"/>
                </a:solidFill>
              </a:defRPr>
            </a:pPr>
            <a:r>
              <a:rPr lang="vi-VN" sz="1350" dirty="0"/>
              <a:t>SoLanThatBaiEKYC: số Fail nghiệp vụ dùng chung OCR/Face-Liveness, tối đa 3</a:t>
            </a:r>
            <a:endParaRPr sz="1350" b="0" i="0" dirty="0">
              <a:solidFill>
                <a:srgbClr val="183127"/>
              </a:solidFill>
            </a:endParaRPr>
          </a:p>
        </p:txBody>
      </p:sp>
      <p:sp>
        <p:nvSpPr>
          <p:cNvPr id="21" name="Straight Connector 20">
            <a:extLst>
              <a:ext uri="{FF2B5EF4-FFF2-40B4-BE49-F238E27FC236}">
                <a16:creationId xmlns:a16="http://schemas.microsoft.com/office/drawing/2014/main" id="{203F2FE2-9284-4FB8-B68E-3DC5E67C42AF}"/>
              </a:ext>
            </a:extLst>
          </p:cNvPr>
          <p:cNvSpPr>
            <a:spLocks noGrp="1"/>
          </p:cNvSpPr>
          <p:nvPr/>
        </p:nvSpPr>
        <p:spPr>
          <a:xfrm>
            <a:off x="7953375" y="1619250"/>
            <a:ext cx="9525" cy="9525"/>
          </a:xfrm>
          <a:prstGeom prst="line">
            <a:avLst/>
          </a:prstGeom>
          <a:noFill/>
          <a:ln w="9525">
            <a:solidFill>
              <a:srgbClr val="C8D9C5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EBA6870-E35D-3401-AE31-306841CF4591}"/>
              </a:ext>
            </a:extLst>
          </p:cNvPr>
          <p:cNvSpPr>
            <a:spLocks noGrp="1"/>
          </p:cNvSpPr>
          <p:nvPr/>
        </p:nvSpPr>
        <p:spPr>
          <a:xfrm>
            <a:off x="4762500" y="4681538"/>
            <a:ext cx="22860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1" i="0">
                <a:solidFill>
                  <a:srgbClr val="6B9A6E"/>
                </a:solidFill>
              </a:defRPr>
            </a:pPr>
            <a:r>
              <a:rPr sz="1350" b="1" i="0">
                <a:solidFill>
                  <a:srgbClr val="6B9A6E"/>
                </a:solidFill>
              </a:rPr>
              <a:t>•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4D6E1ED-9651-8C63-7C7C-969857E6561A}"/>
              </a:ext>
            </a:extLst>
          </p:cNvPr>
          <p:cNvSpPr>
            <a:spLocks noGrp="1"/>
          </p:cNvSpPr>
          <p:nvPr/>
        </p:nvSpPr>
        <p:spPr>
          <a:xfrm>
            <a:off x="5029200" y="4681538"/>
            <a:ext cx="2686050" cy="6381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350" b="0" i="0">
                <a:solidFill>
                  <a:srgbClr val="183127"/>
                </a:solidFill>
              </a:defRPr>
            </a:pPr>
            <a:r>
              <a:rPr sz="1350" b="0" i="0" dirty="0">
                <a:solidFill>
                  <a:srgbClr val="183127"/>
                </a:solidFill>
              </a:rPr>
              <a:t>Audit log </a:t>
            </a:r>
            <a:r>
              <a:rPr sz="1350" b="0" i="0" dirty="0" err="1">
                <a:solidFill>
                  <a:srgbClr val="183127"/>
                </a:solidFill>
              </a:rPr>
              <a:t>theo</a:t>
            </a:r>
            <a:r>
              <a:rPr sz="1350" b="0" i="0" dirty="0">
                <a:solidFill>
                  <a:srgbClr val="183127"/>
                </a:solidFill>
              </a:rPr>
              <a:t> </a:t>
            </a:r>
            <a:r>
              <a:rPr sz="1350" b="0" i="0" dirty="0" err="1">
                <a:solidFill>
                  <a:srgbClr val="183127"/>
                </a:solidFill>
              </a:rPr>
              <a:t>dõi</a:t>
            </a:r>
            <a:r>
              <a:rPr sz="1350" b="0" i="0" dirty="0">
                <a:solidFill>
                  <a:srgbClr val="183127"/>
                </a:solidFill>
              </a:rPr>
              <a:t> </a:t>
            </a:r>
            <a:r>
              <a:rPr sz="1350" b="0" i="0" dirty="0" err="1">
                <a:solidFill>
                  <a:srgbClr val="183127"/>
                </a:solidFill>
              </a:rPr>
              <a:t>thay</a:t>
            </a:r>
            <a:r>
              <a:rPr sz="1350" b="0" i="0" dirty="0">
                <a:solidFill>
                  <a:srgbClr val="183127"/>
                </a:solidFill>
              </a:rPr>
              <a:t> </a:t>
            </a:r>
            <a:r>
              <a:rPr sz="1350" b="0" i="0" dirty="0" err="1">
                <a:solidFill>
                  <a:srgbClr val="183127"/>
                </a:solidFill>
              </a:rPr>
              <a:t>đổi</a:t>
            </a:r>
            <a:r>
              <a:rPr sz="1350" b="0" i="0" dirty="0">
                <a:solidFill>
                  <a:srgbClr val="183127"/>
                </a:solidFill>
              </a:rPr>
              <a:t> </a:t>
            </a:r>
            <a:r>
              <a:rPr sz="1350" b="0" i="0" dirty="0" err="1">
                <a:solidFill>
                  <a:srgbClr val="183127"/>
                </a:solidFill>
              </a:rPr>
              <a:t>quan</a:t>
            </a:r>
            <a:r>
              <a:rPr sz="1350" b="0" i="0" dirty="0">
                <a:solidFill>
                  <a:srgbClr val="183127"/>
                </a:solidFill>
              </a:rPr>
              <a:t> </a:t>
            </a:r>
            <a:r>
              <a:rPr sz="1350" b="0" i="0" dirty="0" err="1">
                <a:solidFill>
                  <a:srgbClr val="183127"/>
                </a:solidFill>
              </a:rPr>
              <a:t>trọng</a:t>
            </a:r>
            <a:endParaRPr sz="1350" b="0" i="0" dirty="0">
              <a:solidFill>
                <a:srgbClr val="18312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82962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E3DF8A5-595E-45E4-B7EC-900356937947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3143250" cy="323850"/>
          </a:xfrm>
          <a:prstGeom prst="roundRect">
            <a:avLst>
              <a:gd name="adj" fmla="val 50000"/>
            </a:avLst>
          </a:prstGeom>
          <a:solidFill>
            <a:srgbClr val="2E5B3A"/>
          </a:solidFill>
          <a:ln w="9525">
            <a:solidFill>
              <a:srgbClr val="2E5B3A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4E228B-9ABD-4265-A953-BBB76AFFCFCF}"/>
              </a:ext>
            </a:extLst>
          </p:cNvPr>
          <p:cNvSpPr>
            <a:spLocks noGrp="1"/>
          </p:cNvSpPr>
          <p:nvPr/>
        </p:nvSpPr>
        <p:spPr>
          <a:xfrm>
            <a:off x="666750" y="37147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3. PHÂN TÍCH VÀ THIẾT KẾ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93EB37-4594-4809-B7BF-2D3261807CCB}"/>
              </a:ext>
            </a:extLst>
          </p:cNvPr>
          <p:cNvSpPr>
            <a:spLocks noGrp="1"/>
          </p:cNvSpPr>
          <p:nvPr/>
        </p:nvSpPr>
        <p:spPr>
          <a:xfrm>
            <a:off x="533400" y="800100"/>
            <a:ext cx="10287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 i="0">
                <a:solidFill>
                  <a:srgbClr val="193B2B"/>
                </a:solidFill>
              </a:defRPr>
            </a:pPr>
            <a:r>
              <a:rPr sz="2850" b="1" i="0">
                <a:solidFill>
                  <a:srgbClr val="193B2B"/>
                </a:solidFill>
              </a:rPr>
              <a:t>Wireframe chuyển yêu cầu thành màn hình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159D40A-F370-47AD-81FC-231B33534FAD}"/>
              </a:ext>
            </a:extLst>
          </p:cNvPr>
          <p:cNvSpPr>
            <a:spLocks noGrp="1"/>
          </p:cNvSpPr>
          <p:nvPr/>
        </p:nvSpPr>
        <p:spPr>
          <a:xfrm>
            <a:off x="11144250" y="3810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 i="0">
                <a:solidFill>
                  <a:srgbClr val="65756B"/>
                </a:solidFill>
              </a:defRPr>
            </a:pPr>
            <a:r>
              <a:rPr sz="1050" b="1" i="0">
                <a:solidFill>
                  <a:srgbClr val="65756B"/>
                </a:solidFill>
              </a:rPr>
              <a:t>16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14E16E-3EE3-4C1F-8775-7EAD44F989D0}"/>
              </a:ext>
            </a:extLst>
          </p:cNvPr>
          <p:cNvSpPr>
            <a:spLocks noGrp="1"/>
          </p:cNvSpPr>
          <p:nvPr/>
        </p:nvSpPr>
        <p:spPr>
          <a:xfrm>
            <a:off x="10572750" y="614362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875" b="1" i="1">
                <a:solidFill>
                  <a:srgbClr val="DDE8DA"/>
                </a:solidFill>
              </a:defRPr>
            </a:pPr>
            <a:r>
              <a:rPr sz="1875" b="1" i="1">
                <a:solidFill>
                  <a:srgbClr val="DDE8DA"/>
                </a:solidFill>
              </a:rPr>
              <a:t>eKYC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0D66D3-7D47-49F3-8F03-554AEC810E30}"/>
              </a:ext>
            </a:extLst>
          </p:cNvPr>
          <p:cNvSpPr>
            <a:spLocks noGrp="1"/>
          </p:cNvSpPr>
          <p:nvPr/>
        </p:nvSpPr>
        <p:spPr>
          <a:xfrm>
            <a:off x="1824317" y="6172200"/>
            <a:ext cx="838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425" b="0" i="1">
                <a:solidFill>
                  <a:srgbClr val="65756B"/>
                </a:solidFill>
              </a:defRPr>
            </a:pPr>
            <a:r>
              <a:rPr sz="1425" b="0" i="1">
                <a:solidFill>
                  <a:srgbClr val="65756B"/>
                </a:solidFill>
              </a:rPr>
              <a:t>Công cụ thiết kế: Figma</a:t>
            </a:r>
          </a:p>
        </p:txBody>
      </p:sp>
      <p:pic>
        <p:nvPicPr>
          <p:cNvPr id="26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045" y="1476375"/>
            <a:ext cx="2205006" cy="443524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27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8245" y="1485875"/>
            <a:ext cx="2205006" cy="439005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28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4685" y="1498967"/>
            <a:ext cx="2212548" cy="439005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2FD39C3-1B99-D796-DECE-70703C627A6A}"/>
              </a:ext>
            </a:extLst>
          </p:cNvPr>
          <p:cNvSpPr>
            <a:spLocks noGrp="1"/>
          </p:cNvSpPr>
          <p:nvPr/>
        </p:nvSpPr>
        <p:spPr>
          <a:xfrm>
            <a:off x="8696131" y="820275"/>
            <a:ext cx="16328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Link </a:t>
            </a:r>
            <a:r>
              <a:rPr>
                <a:hlinkClick r:id="rId6"/>
              </a:rPr>
              <a:t>Prototype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336113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731B774-BE5D-FF81-132C-7B59F1941CD1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3143250" cy="323850"/>
          </a:xfrm>
          <a:prstGeom prst="roundRect">
            <a:avLst>
              <a:gd name="adj" fmla="val 50000"/>
            </a:avLst>
          </a:prstGeom>
          <a:solidFill>
            <a:srgbClr val="2E5B3A"/>
          </a:solidFill>
          <a:ln w="9525">
            <a:solidFill>
              <a:srgbClr val="2E5B3A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772393C-A192-2450-C637-594DCF5D67ED}"/>
              </a:ext>
            </a:extLst>
          </p:cNvPr>
          <p:cNvSpPr>
            <a:spLocks noGrp="1"/>
          </p:cNvSpPr>
          <p:nvPr/>
        </p:nvSpPr>
        <p:spPr>
          <a:xfrm>
            <a:off x="666750" y="37147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3. PHÂN TÍCH VÀ THIẾT KẾ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18DEC9-AA6F-77E1-17A6-3F071388ECA4}"/>
              </a:ext>
            </a:extLst>
          </p:cNvPr>
          <p:cNvSpPr>
            <a:spLocks noGrp="1"/>
          </p:cNvSpPr>
          <p:nvPr/>
        </p:nvSpPr>
        <p:spPr>
          <a:xfrm>
            <a:off x="533400" y="800100"/>
            <a:ext cx="10287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 i="0">
                <a:solidFill>
                  <a:srgbClr val="193B2B"/>
                </a:solidFill>
              </a:defRPr>
            </a:pPr>
            <a:r>
              <a:rPr sz="2850" b="1" i="0">
                <a:solidFill>
                  <a:srgbClr val="193B2B"/>
                </a:solidFill>
              </a:rPr>
              <a:t>Wireframe chuyển yêu cầu thành màn hình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B4256EC-482F-713D-DE0E-4C7069D7354F}"/>
              </a:ext>
            </a:extLst>
          </p:cNvPr>
          <p:cNvSpPr>
            <a:spLocks noGrp="1"/>
          </p:cNvSpPr>
          <p:nvPr/>
        </p:nvSpPr>
        <p:spPr>
          <a:xfrm>
            <a:off x="11144250" y="3810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 i="0">
                <a:solidFill>
                  <a:srgbClr val="65756B"/>
                </a:solidFill>
              </a:defRPr>
            </a:pPr>
            <a:r>
              <a:rPr sz="1050" b="1" i="0">
                <a:solidFill>
                  <a:srgbClr val="65756B"/>
                </a:solidFill>
              </a:rPr>
              <a:t>17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59AA9B-A407-88FA-6682-886302F11323}"/>
              </a:ext>
            </a:extLst>
          </p:cNvPr>
          <p:cNvSpPr>
            <a:spLocks noGrp="1"/>
          </p:cNvSpPr>
          <p:nvPr/>
        </p:nvSpPr>
        <p:spPr>
          <a:xfrm>
            <a:off x="10572750" y="614362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875" b="1" i="1">
                <a:solidFill>
                  <a:srgbClr val="DDE8DA"/>
                </a:solidFill>
              </a:defRPr>
            </a:pPr>
            <a:r>
              <a:rPr sz="1875" b="1" i="1">
                <a:solidFill>
                  <a:srgbClr val="DDE8DA"/>
                </a:solidFill>
              </a:rPr>
              <a:t>eKYC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E6EE62-FDE3-6DA2-AB0C-D3B05F2EF82B}"/>
              </a:ext>
            </a:extLst>
          </p:cNvPr>
          <p:cNvSpPr>
            <a:spLocks noGrp="1"/>
          </p:cNvSpPr>
          <p:nvPr/>
        </p:nvSpPr>
        <p:spPr>
          <a:xfrm>
            <a:off x="1899892" y="6298824"/>
            <a:ext cx="838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425" b="0" i="1">
                <a:solidFill>
                  <a:srgbClr val="65756B"/>
                </a:solidFill>
              </a:defRPr>
            </a:pPr>
            <a:r>
              <a:rPr sz="1425" b="0" i="1">
                <a:solidFill>
                  <a:srgbClr val="65756B"/>
                </a:solidFill>
              </a:rPr>
              <a:t>Công cụ thiết kế: Figma</a:t>
            </a:r>
          </a:p>
        </p:txBody>
      </p:sp>
      <p:pic>
        <p:nvPicPr>
          <p:cNvPr id="26" name="Picture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4213" y="1386727"/>
            <a:ext cx="2253357" cy="448627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27" name="Picture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7453" y="1386726"/>
            <a:ext cx="2240580" cy="448627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28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1215" y="1386726"/>
            <a:ext cx="2283333" cy="453042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18886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C6AAC2A-540A-0C5C-7B8F-6D2AC14E2557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3143250" cy="323850"/>
          </a:xfrm>
          <a:prstGeom prst="roundRect">
            <a:avLst>
              <a:gd name="adj" fmla="val 50000"/>
            </a:avLst>
          </a:prstGeom>
          <a:solidFill>
            <a:srgbClr val="2E5B3A"/>
          </a:solidFill>
          <a:ln w="9525">
            <a:solidFill>
              <a:srgbClr val="2E5B3A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9779102-8DCC-AE39-D905-EC7D7CCA5F9C}"/>
              </a:ext>
            </a:extLst>
          </p:cNvPr>
          <p:cNvSpPr>
            <a:spLocks noGrp="1"/>
          </p:cNvSpPr>
          <p:nvPr/>
        </p:nvSpPr>
        <p:spPr>
          <a:xfrm>
            <a:off x="666750" y="37147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3. PHÂN TÍCH VÀ THIẾT KẾ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240AA9-1C34-D6E1-000C-731969DE8E31}"/>
              </a:ext>
            </a:extLst>
          </p:cNvPr>
          <p:cNvSpPr>
            <a:spLocks noGrp="1"/>
          </p:cNvSpPr>
          <p:nvPr/>
        </p:nvSpPr>
        <p:spPr>
          <a:xfrm>
            <a:off x="533400" y="800100"/>
            <a:ext cx="10287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 i="0">
                <a:solidFill>
                  <a:srgbClr val="193B2B"/>
                </a:solidFill>
              </a:defRPr>
            </a:pPr>
            <a:r>
              <a:rPr sz="2850" b="1" i="0">
                <a:solidFill>
                  <a:srgbClr val="193B2B"/>
                </a:solidFill>
              </a:rPr>
              <a:t>Wireframe chuyển yêu cầu thành màn hình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3FBA61-ADA6-E8CB-2DC9-22F6FD360621}"/>
              </a:ext>
            </a:extLst>
          </p:cNvPr>
          <p:cNvSpPr>
            <a:spLocks noGrp="1"/>
          </p:cNvSpPr>
          <p:nvPr/>
        </p:nvSpPr>
        <p:spPr>
          <a:xfrm>
            <a:off x="11144250" y="3810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 i="0">
                <a:solidFill>
                  <a:srgbClr val="65756B"/>
                </a:solidFill>
              </a:defRPr>
            </a:pPr>
            <a:r>
              <a:rPr sz="1050" b="1" i="0">
                <a:solidFill>
                  <a:srgbClr val="65756B"/>
                </a:solidFill>
              </a:rPr>
              <a:t>18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2055A7-D669-3797-0818-61EE50651E16}"/>
              </a:ext>
            </a:extLst>
          </p:cNvPr>
          <p:cNvSpPr>
            <a:spLocks noGrp="1"/>
          </p:cNvSpPr>
          <p:nvPr/>
        </p:nvSpPr>
        <p:spPr>
          <a:xfrm>
            <a:off x="10572750" y="614362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875" b="1" i="1">
                <a:solidFill>
                  <a:srgbClr val="DDE8DA"/>
                </a:solidFill>
              </a:defRPr>
            </a:pPr>
            <a:r>
              <a:rPr sz="1875" b="1" i="1">
                <a:solidFill>
                  <a:srgbClr val="DDE8DA"/>
                </a:solidFill>
              </a:rPr>
              <a:t>eKYC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6A2A644-8790-2869-078A-06AD47ADFA37}"/>
              </a:ext>
            </a:extLst>
          </p:cNvPr>
          <p:cNvSpPr>
            <a:spLocks noGrp="1"/>
          </p:cNvSpPr>
          <p:nvPr/>
        </p:nvSpPr>
        <p:spPr>
          <a:xfrm>
            <a:off x="1833282" y="6324600"/>
            <a:ext cx="838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425" b="0" i="1">
                <a:solidFill>
                  <a:srgbClr val="65756B"/>
                </a:solidFill>
              </a:defRPr>
            </a:pPr>
            <a:r>
              <a:rPr sz="1425" b="0" i="1">
                <a:solidFill>
                  <a:srgbClr val="65756B"/>
                </a:solidFill>
              </a:rPr>
              <a:t>Công cụ thiết kế: Figma</a:t>
            </a:r>
          </a:p>
        </p:txBody>
      </p:sp>
      <p:pic>
        <p:nvPicPr>
          <p:cNvPr id="26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736" y="1528763"/>
            <a:ext cx="2297092" cy="458376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27" name="Picture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5916" y="1474134"/>
            <a:ext cx="2294484" cy="458376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5971D6-D684-A8EF-1C18-42B0925352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1811" y="1528763"/>
            <a:ext cx="2310177" cy="458376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4483688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9DF63051-8590-E4D0-B182-4036C1657E89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3143250" cy="323850"/>
          </a:xfrm>
          <a:prstGeom prst="roundRect">
            <a:avLst>
              <a:gd name="adj" fmla="val 50000"/>
            </a:avLst>
          </a:prstGeom>
          <a:solidFill>
            <a:srgbClr val="2E5B3A"/>
          </a:solidFill>
          <a:ln w="9525">
            <a:solidFill>
              <a:srgbClr val="2E5B3A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FC7817-4978-97F3-0B56-A11F87231862}"/>
              </a:ext>
            </a:extLst>
          </p:cNvPr>
          <p:cNvSpPr>
            <a:spLocks noGrp="1"/>
          </p:cNvSpPr>
          <p:nvPr/>
        </p:nvSpPr>
        <p:spPr>
          <a:xfrm>
            <a:off x="666750" y="37147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3. PHÂN TÍCH VÀ THIẾT KẾ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966F2B-E625-A7D5-7468-C2293B43D7CF}"/>
              </a:ext>
            </a:extLst>
          </p:cNvPr>
          <p:cNvSpPr>
            <a:spLocks noGrp="1"/>
          </p:cNvSpPr>
          <p:nvPr/>
        </p:nvSpPr>
        <p:spPr>
          <a:xfrm>
            <a:off x="533400" y="800100"/>
            <a:ext cx="10287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 i="0">
                <a:solidFill>
                  <a:srgbClr val="193B2B"/>
                </a:solidFill>
              </a:defRPr>
            </a:pPr>
            <a:r>
              <a:rPr sz="2850" b="1" i="0">
                <a:solidFill>
                  <a:srgbClr val="193B2B"/>
                </a:solidFill>
              </a:rPr>
              <a:t>Wireframe chuyển yêu cầu thành màn hình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229D6F-A155-02A6-13FD-6DEAC28D386F}"/>
              </a:ext>
            </a:extLst>
          </p:cNvPr>
          <p:cNvSpPr>
            <a:spLocks noGrp="1"/>
          </p:cNvSpPr>
          <p:nvPr/>
        </p:nvSpPr>
        <p:spPr>
          <a:xfrm>
            <a:off x="11144250" y="3810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 i="0">
                <a:solidFill>
                  <a:srgbClr val="65756B"/>
                </a:solidFill>
              </a:defRPr>
            </a:pPr>
            <a:r>
              <a:rPr sz="1050" b="1" i="0">
                <a:solidFill>
                  <a:srgbClr val="65756B"/>
                </a:solidFill>
              </a:rPr>
              <a:t>19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BF1CAA-1932-D56A-2C01-97A1693C744C}"/>
              </a:ext>
            </a:extLst>
          </p:cNvPr>
          <p:cNvSpPr>
            <a:spLocks noGrp="1"/>
          </p:cNvSpPr>
          <p:nvPr/>
        </p:nvSpPr>
        <p:spPr>
          <a:xfrm>
            <a:off x="10572750" y="614362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875" b="1" i="1">
                <a:solidFill>
                  <a:srgbClr val="DDE8DA"/>
                </a:solidFill>
              </a:defRPr>
            </a:pPr>
            <a:r>
              <a:rPr sz="1875" b="1" i="1">
                <a:solidFill>
                  <a:srgbClr val="DDE8DA"/>
                </a:solidFill>
              </a:rPr>
              <a:t>eKYC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6901136-E48C-E054-9BD5-9E4B5965FF26}"/>
              </a:ext>
            </a:extLst>
          </p:cNvPr>
          <p:cNvSpPr>
            <a:spLocks noGrp="1"/>
          </p:cNvSpPr>
          <p:nvPr/>
        </p:nvSpPr>
        <p:spPr>
          <a:xfrm>
            <a:off x="1905000" y="6353175"/>
            <a:ext cx="838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425" b="0" i="1">
                <a:solidFill>
                  <a:srgbClr val="65756B"/>
                </a:solidFill>
              </a:defRPr>
            </a:pPr>
            <a:r>
              <a:rPr sz="1425" b="0" i="1">
                <a:solidFill>
                  <a:srgbClr val="65756B"/>
                </a:solidFill>
              </a:rPr>
              <a:t>Công cụ thiết kế: Figma</a:t>
            </a:r>
          </a:p>
        </p:txBody>
      </p:sp>
      <p:pic>
        <p:nvPicPr>
          <p:cNvPr id="26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2567" y="1481660"/>
            <a:ext cx="2254783" cy="450956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27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688" y="1479017"/>
            <a:ext cx="2239409" cy="450956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28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7011" y="1501936"/>
            <a:ext cx="2254783" cy="448400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586400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062DAC0-1288-946D-A91C-78733E437382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3143250" cy="323850"/>
          </a:xfrm>
          <a:prstGeom prst="roundRect">
            <a:avLst>
              <a:gd name="adj" fmla="val 50000"/>
            </a:avLst>
          </a:prstGeom>
          <a:solidFill>
            <a:srgbClr val="2E5B3A"/>
          </a:solidFill>
          <a:ln w="9525">
            <a:solidFill>
              <a:srgbClr val="2E5B3A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E6388B5-D805-496F-0046-B55390EAF282}"/>
              </a:ext>
            </a:extLst>
          </p:cNvPr>
          <p:cNvSpPr>
            <a:spLocks noGrp="1"/>
          </p:cNvSpPr>
          <p:nvPr/>
        </p:nvSpPr>
        <p:spPr>
          <a:xfrm>
            <a:off x="666750" y="37147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3. PHÂN TÍCH VÀ THIẾT KẾ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71E5E4-0019-EA3B-7372-F9CF67040D26}"/>
              </a:ext>
            </a:extLst>
          </p:cNvPr>
          <p:cNvSpPr>
            <a:spLocks noGrp="1"/>
          </p:cNvSpPr>
          <p:nvPr/>
        </p:nvSpPr>
        <p:spPr>
          <a:xfrm>
            <a:off x="533400" y="800100"/>
            <a:ext cx="10287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 i="0">
                <a:solidFill>
                  <a:srgbClr val="193B2B"/>
                </a:solidFill>
              </a:defRPr>
            </a:pPr>
            <a:r>
              <a:rPr sz="2850" b="1" i="0">
                <a:solidFill>
                  <a:srgbClr val="193B2B"/>
                </a:solidFill>
              </a:rPr>
              <a:t>Wireframe chuyển yêu cầu thành màn hình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4DCD7B-4A72-E32B-CB17-3B9ACB0C9DB8}"/>
              </a:ext>
            </a:extLst>
          </p:cNvPr>
          <p:cNvSpPr>
            <a:spLocks noGrp="1"/>
          </p:cNvSpPr>
          <p:nvPr/>
        </p:nvSpPr>
        <p:spPr>
          <a:xfrm>
            <a:off x="11144250" y="3810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 i="0">
                <a:solidFill>
                  <a:srgbClr val="65756B"/>
                </a:solidFill>
              </a:defRPr>
            </a:pPr>
            <a:r>
              <a:rPr sz="1050" b="1">
                <a:solidFill>
                  <a:srgbClr val="65756B"/>
                </a:solidFill>
              </a:rPr>
              <a:t>20</a:t>
            </a:r>
            <a:endParaRPr sz="1050" b="1" i="0">
              <a:solidFill>
                <a:srgbClr val="65756B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5D47EB-AF4F-8D0D-206C-88B6B0F211B0}"/>
              </a:ext>
            </a:extLst>
          </p:cNvPr>
          <p:cNvSpPr>
            <a:spLocks noGrp="1"/>
          </p:cNvSpPr>
          <p:nvPr/>
        </p:nvSpPr>
        <p:spPr>
          <a:xfrm>
            <a:off x="10572750" y="614362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875" b="1" i="1">
                <a:solidFill>
                  <a:srgbClr val="DDE8DA"/>
                </a:solidFill>
              </a:defRPr>
            </a:pPr>
            <a:r>
              <a:rPr sz="1875" b="1" i="1">
                <a:solidFill>
                  <a:srgbClr val="DDE8DA"/>
                </a:solidFill>
              </a:rPr>
              <a:t>eKYC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75A91F-E336-361F-8E46-CD48E8CFBA15}"/>
              </a:ext>
            </a:extLst>
          </p:cNvPr>
          <p:cNvSpPr>
            <a:spLocks noGrp="1"/>
          </p:cNvSpPr>
          <p:nvPr/>
        </p:nvSpPr>
        <p:spPr>
          <a:xfrm>
            <a:off x="1905000" y="6348130"/>
            <a:ext cx="838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425" b="0" i="1">
                <a:solidFill>
                  <a:srgbClr val="65756B"/>
                </a:solidFill>
              </a:defRPr>
            </a:pPr>
            <a:r>
              <a:rPr sz="1425" b="0" i="1">
                <a:solidFill>
                  <a:srgbClr val="65756B"/>
                </a:solidFill>
              </a:rPr>
              <a:t>Công cụ thiết kế: Figma</a:t>
            </a:r>
          </a:p>
        </p:txBody>
      </p:sp>
      <p:pic>
        <p:nvPicPr>
          <p:cNvPr id="26" name="Picture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808" y="1476375"/>
            <a:ext cx="2258433" cy="449131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27" name="Picture 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4639" y="1476375"/>
            <a:ext cx="2261040" cy="449131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28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2253" y="1476374"/>
            <a:ext cx="2240544" cy="449131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134708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2E19894-BE8A-F58B-B540-431930C86B00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3143250" cy="323850"/>
          </a:xfrm>
          <a:prstGeom prst="roundRect">
            <a:avLst>
              <a:gd name="adj" fmla="val 50000"/>
            </a:avLst>
          </a:prstGeom>
          <a:solidFill>
            <a:srgbClr val="2E5B3A"/>
          </a:solidFill>
          <a:ln w="9525">
            <a:solidFill>
              <a:srgbClr val="2E5B3A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0330444-15FF-7D76-E3EF-97C6D5AA6940}"/>
              </a:ext>
            </a:extLst>
          </p:cNvPr>
          <p:cNvSpPr>
            <a:spLocks noGrp="1"/>
          </p:cNvSpPr>
          <p:nvPr/>
        </p:nvSpPr>
        <p:spPr>
          <a:xfrm>
            <a:off x="666750" y="37147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3. PHÂN TÍCH VÀ THIẾT KẾ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5AF0FE-1E1F-BEA8-38E5-5B4A46EA90AC}"/>
              </a:ext>
            </a:extLst>
          </p:cNvPr>
          <p:cNvSpPr>
            <a:spLocks noGrp="1"/>
          </p:cNvSpPr>
          <p:nvPr/>
        </p:nvSpPr>
        <p:spPr>
          <a:xfrm>
            <a:off x="533400" y="800100"/>
            <a:ext cx="102870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 i="0">
                <a:solidFill>
                  <a:srgbClr val="193B2B"/>
                </a:solidFill>
              </a:defRPr>
            </a:pPr>
            <a:r>
              <a:rPr sz="2850" b="1" i="0">
                <a:solidFill>
                  <a:srgbClr val="193B2B"/>
                </a:solidFill>
              </a:rPr>
              <a:t>Wireframe chuyển yêu cầu thành màn hình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62718B-AB92-3368-764E-ACAAD736D131}"/>
              </a:ext>
            </a:extLst>
          </p:cNvPr>
          <p:cNvSpPr>
            <a:spLocks noGrp="1"/>
          </p:cNvSpPr>
          <p:nvPr/>
        </p:nvSpPr>
        <p:spPr>
          <a:xfrm>
            <a:off x="11144250" y="3810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 i="0">
                <a:solidFill>
                  <a:srgbClr val="65756B"/>
                </a:solidFill>
              </a:defRPr>
            </a:pPr>
            <a:r>
              <a:rPr sz="1050" b="1">
                <a:solidFill>
                  <a:srgbClr val="65756B"/>
                </a:solidFill>
              </a:rPr>
              <a:t>21</a:t>
            </a:r>
            <a:endParaRPr sz="1050" b="1" i="0">
              <a:solidFill>
                <a:srgbClr val="65756B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E70D28-D63D-18BC-AB71-756CC29D734E}"/>
              </a:ext>
            </a:extLst>
          </p:cNvPr>
          <p:cNvSpPr>
            <a:spLocks noGrp="1"/>
          </p:cNvSpPr>
          <p:nvPr/>
        </p:nvSpPr>
        <p:spPr>
          <a:xfrm>
            <a:off x="10572750" y="6143625"/>
            <a:ext cx="114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875" b="1" i="1">
                <a:solidFill>
                  <a:srgbClr val="DDE8DA"/>
                </a:solidFill>
              </a:defRPr>
            </a:pPr>
            <a:r>
              <a:rPr sz="1875" b="1" i="1">
                <a:solidFill>
                  <a:srgbClr val="DDE8DA"/>
                </a:solidFill>
              </a:rPr>
              <a:t>eKYC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2AAA152-A475-2336-365A-9707AB5D8B9B}"/>
              </a:ext>
            </a:extLst>
          </p:cNvPr>
          <p:cNvSpPr>
            <a:spLocks noGrp="1"/>
          </p:cNvSpPr>
          <p:nvPr/>
        </p:nvSpPr>
        <p:spPr>
          <a:xfrm>
            <a:off x="1905000" y="6348130"/>
            <a:ext cx="8382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buNone/>
              <a:defRPr sz="1425" b="0" i="1">
                <a:solidFill>
                  <a:srgbClr val="65756B"/>
                </a:solidFill>
              </a:defRPr>
            </a:pPr>
            <a:r>
              <a:rPr sz="1425" b="0" i="1">
                <a:solidFill>
                  <a:srgbClr val="65756B"/>
                </a:solidFill>
              </a:rPr>
              <a:t>Công cụ thiết kế: Figma</a:t>
            </a:r>
          </a:p>
        </p:txBody>
      </p:sp>
      <p:pic>
        <p:nvPicPr>
          <p:cNvPr id="25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3356" y="1466449"/>
            <a:ext cx="2346588" cy="467717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8297299-74ED-E79B-82A2-14768BB7DB1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9705" y="1428969"/>
            <a:ext cx="2346588" cy="4714656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3608140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416A9-CE40-CE8F-4313-455DB53F50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01801CE-2BDA-B6C5-97D5-B6B4792EC5EE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3143250" cy="323850"/>
          </a:xfrm>
          <a:prstGeom prst="roundRect">
            <a:avLst>
              <a:gd name="adj" fmla="val 50000"/>
            </a:avLst>
          </a:prstGeom>
          <a:solidFill>
            <a:srgbClr val="2E5B3A"/>
          </a:solidFill>
          <a:ln w="9525">
            <a:solidFill>
              <a:srgbClr val="2E5B3A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F62FCC-16C0-E47B-CB1E-614FEE8A8B15}"/>
              </a:ext>
            </a:extLst>
          </p:cNvPr>
          <p:cNvSpPr>
            <a:spLocks noGrp="1"/>
          </p:cNvSpPr>
          <p:nvPr/>
        </p:nvSpPr>
        <p:spPr>
          <a:xfrm>
            <a:off x="666750" y="371475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3. PHÂN TÍCH VÀ THIẾT KẾ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73B206-4EA9-6FBC-920E-CD7FE7F1980C}"/>
              </a:ext>
            </a:extLst>
          </p:cNvPr>
          <p:cNvSpPr>
            <a:spLocks noGrp="1"/>
          </p:cNvSpPr>
          <p:nvPr/>
        </p:nvSpPr>
        <p:spPr>
          <a:xfrm>
            <a:off x="309282" y="1093130"/>
            <a:ext cx="299085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 i="0">
                <a:solidFill>
                  <a:srgbClr val="193B2B"/>
                </a:solidFill>
              </a:defRPr>
            </a:pPr>
            <a:r>
              <a:rPr lang="en-US" sz="2850" b="1" i="0" dirty="0">
                <a:solidFill>
                  <a:srgbClr val="193B2B"/>
                </a:solidFill>
              </a:rPr>
              <a:t>Danh </a:t>
            </a:r>
            <a:r>
              <a:rPr lang="en-US" sz="2850" b="1" i="0" dirty="0" err="1">
                <a:solidFill>
                  <a:srgbClr val="193B2B"/>
                </a:solidFill>
              </a:rPr>
              <a:t>mục</a:t>
            </a:r>
            <a:r>
              <a:rPr lang="en-US" sz="2850" b="1" i="0" dirty="0">
                <a:solidFill>
                  <a:srgbClr val="193B2B"/>
                </a:solidFill>
              </a:rPr>
              <a:t> </a:t>
            </a:r>
            <a:r>
              <a:rPr lang="en-US" sz="2850" b="1" i="0" dirty="0" err="1">
                <a:solidFill>
                  <a:srgbClr val="193B2B"/>
                </a:solidFill>
              </a:rPr>
              <a:t>tài</a:t>
            </a:r>
            <a:r>
              <a:rPr lang="en-US" sz="2850" b="1" i="0" dirty="0">
                <a:solidFill>
                  <a:srgbClr val="193B2B"/>
                </a:solidFill>
              </a:rPr>
              <a:t> </a:t>
            </a:r>
            <a:r>
              <a:rPr lang="en-US" sz="2850" b="1" i="0" dirty="0" err="1">
                <a:solidFill>
                  <a:srgbClr val="193B2B"/>
                </a:solidFill>
              </a:rPr>
              <a:t>liệu</a:t>
            </a:r>
            <a:endParaRPr sz="2850" b="1" i="0" dirty="0">
              <a:solidFill>
                <a:srgbClr val="193B2B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FC9C17-B8EB-0D5A-CD9E-AA4EAC605594}"/>
              </a:ext>
            </a:extLst>
          </p:cNvPr>
          <p:cNvSpPr>
            <a:spLocks noGrp="1"/>
          </p:cNvSpPr>
          <p:nvPr/>
        </p:nvSpPr>
        <p:spPr>
          <a:xfrm>
            <a:off x="11144250" y="381000"/>
            <a:ext cx="514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buNone/>
              <a:defRPr sz="1050" b="1" i="0">
                <a:solidFill>
                  <a:srgbClr val="65756B"/>
                </a:solidFill>
              </a:defRPr>
            </a:pPr>
            <a:r>
              <a:rPr sz="1050" b="1">
                <a:solidFill>
                  <a:srgbClr val="65756B"/>
                </a:solidFill>
              </a:rPr>
              <a:t>21</a:t>
            </a:r>
            <a:endParaRPr sz="1050" b="1" i="0">
              <a:solidFill>
                <a:srgbClr val="65756B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362795A-623A-BEF6-E79A-FA2295B7BBDC}"/>
              </a:ext>
            </a:extLst>
          </p:cNvPr>
          <p:cNvSpPr>
            <a:spLocks noGrp="1"/>
          </p:cNvSpPr>
          <p:nvPr/>
        </p:nvSpPr>
        <p:spPr>
          <a:xfrm>
            <a:off x="4394949" y="1109804"/>
            <a:ext cx="2848533" cy="46391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200" b="1" i="0">
                <a:solidFill>
                  <a:srgbClr val="65756B"/>
                </a:solidFill>
              </a:defRPr>
            </a:pPr>
            <a:r>
              <a:rPr sz="2800" b="1" i="0" dirty="0">
                <a:solidFill>
                  <a:srgbClr val="65756B"/>
                </a:solidFill>
              </a:rPr>
              <a:t>NHU CẦU CHÍNH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4E63564-EE8A-B37E-CB93-FDB084C4A920}"/>
              </a:ext>
            </a:extLst>
          </p:cNvPr>
          <p:cNvSpPr>
            <a:spLocks noGrp="1"/>
          </p:cNvSpPr>
          <p:nvPr/>
        </p:nvSpPr>
        <p:spPr>
          <a:xfrm>
            <a:off x="762000" y="1750213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 i="0">
                <a:solidFill>
                  <a:srgbClr val="2E5B3A"/>
                </a:solidFill>
              </a:defRPr>
            </a:pPr>
            <a:r>
              <a:rPr lang="en-US" sz="1575" b="1" i="0" dirty="0">
                <a:solidFill>
                  <a:srgbClr val="2E5B3A"/>
                </a:solidFill>
              </a:rPr>
              <a:t>Tài </a:t>
            </a:r>
            <a:r>
              <a:rPr lang="en-US" sz="1575" b="1" i="0" dirty="0" err="1">
                <a:solidFill>
                  <a:srgbClr val="2E5B3A"/>
                </a:solidFill>
              </a:rPr>
              <a:t>liệu</a:t>
            </a:r>
            <a:r>
              <a:rPr lang="en-US" sz="1575" b="1" i="0" dirty="0">
                <a:solidFill>
                  <a:srgbClr val="2E5B3A"/>
                </a:solidFill>
              </a:rPr>
              <a:t> SRS</a:t>
            </a:r>
            <a:endParaRPr sz="1575" b="1" i="0" dirty="0">
              <a:solidFill>
                <a:srgbClr val="2E5B3A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84F539-3300-E313-C17C-00AE52285541}"/>
              </a:ext>
            </a:extLst>
          </p:cNvPr>
          <p:cNvSpPr>
            <a:spLocks noGrp="1"/>
          </p:cNvSpPr>
          <p:nvPr/>
        </p:nvSpPr>
        <p:spPr>
          <a:xfrm>
            <a:off x="4381500" y="1714500"/>
            <a:ext cx="1571065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 b="0" i="0">
                <a:solidFill>
                  <a:srgbClr val="183127"/>
                </a:solidFill>
              </a:defRPr>
            </a:pPr>
            <a:r>
              <a:rPr lang="en-US" sz="1425" dirty="0">
                <a:hlinkClick r:id="rId3"/>
              </a:rPr>
              <a:t>Link </a:t>
            </a:r>
            <a:r>
              <a:rPr lang="en-US" sz="1425" dirty="0" err="1">
                <a:hlinkClick r:id="rId3"/>
              </a:rPr>
              <a:t>tài</a:t>
            </a:r>
            <a:r>
              <a:rPr lang="en-US" sz="1425" dirty="0">
                <a:hlinkClick r:id="rId3"/>
              </a:rPr>
              <a:t> </a:t>
            </a:r>
            <a:r>
              <a:rPr lang="en-US" sz="1425" dirty="0" err="1">
                <a:hlinkClick r:id="rId3"/>
              </a:rPr>
              <a:t>liệu</a:t>
            </a:r>
            <a:endParaRPr sz="1425" b="0" i="0" dirty="0">
              <a:solidFill>
                <a:srgbClr val="183127"/>
              </a:solidFill>
            </a:endParaRPr>
          </a:p>
        </p:txBody>
      </p:sp>
      <p:sp>
        <p:nvSpPr>
          <p:cNvPr id="12" name="Straight Connector 11">
            <a:extLst>
              <a:ext uri="{FF2B5EF4-FFF2-40B4-BE49-F238E27FC236}">
                <a16:creationId xmlns:a16="http://schemas.microsoft.com/office/drawing/2014/main" id="{1147C215-BC7C-3560-8B66-EFE722F9982E}"/>
              </a:ext>
            </a:extLst>
          </p:cNvPr>
          <p:cNvSpPr>
            <a:spLocks noGrp="1"/>
          </p:cNvSpPr>
          <p:nvPr/>
        </p:nvSpPr>
        <p:spPr>
          <a:xfrm>
            <a:off x="762000" y="2206438"/>
            <a:ext cx="10191750" cy="9525"/>
          </a:xfrm>
          <a:prstGeom prst="line">
            <a:avLst/>
          </a:prstGeom>
          <a:noFill/>
          <a:ln w="9525">
            <a:solidFill>
              <a:srgbClr val="C8D9C5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172A13C-30DD-C8C6-588F-A4D9BC5382F2}"/>
              </a:ext>
            </a:extLst>
          </p:cNvPr>
          <p:cNvSpPr>
            <a:spLocks noGrp="1"/>
          </p:cNvSpPr>
          <p:nvPr/>
        </p:nvSpPr>
        <p:spPr>
          <a:xfrm>
            <a:off x="762000" y="2389513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 i="0">
                <a:solidFill>
                  <a:srgbClr val="2E5B3A"/>
                </a:solidFill>
              </a:defRPr>
            </a:pPr>
            <a:r>
              <a:rPr lang="en-US" sz="1575" b="1" i="0" dirty="0">
                <a:solidFill>
                  <a:srgbClr val="2E5B3A"/>
                </a:solidFill>
              </a:rPr>
              <a:t>Tài </a:t>
            </a:r>
            <a:r>
              <a:rPr lang="en-US" sz="1575" b="1" i="0" dirty="0" err="1">
                <a:solidFill>
                  <a:srgbClr val="2E5B3A"/>
                </a:solidFill>
              </a:rPr>
              <a:t>liệu</a:t>
            </a:r>
            <a:r>
              <a:rPr lang="en-US" sz="1575" b="1" i="0" dirty="0">
                <a:solidFill>
                  <a:srgbClr val="2E5B3A"/>
                </a:solidFill>
              </a:rPr>
              <a:t> </a:t>
            </a:r>
            <a:r>
              <a:rPr lang="en-US" sz="1575" b="1" i="0" dirty="0" err="1">
                <a:solidFill>
                  <a:srgbClr val="2E5B3A"/>
                </a:solidFill>
              </a:rPr>
              <a:t>đặc</a:t>
            </a:r>
            <a:r>
              <a:rPr lang="en-US" sz="1575" b="1" i="0" dirty="0">
                <a:solidFill>
                  <a:srgbClr val="2E5B3A"/>
                </a:solidFill>
              </a:rPr>
              <a:t> </a:t>
            </a:r>
            <a:r>
              <a:rPr lang="en-US" sz="1575" b="1" i="0" dirty="0" err="1">
                <a:solidFill>
                  <a:srgbClr val="2E5B3A"/>
                </a:solidFill>
              </a:rPr>
              <a:t>tả</a:t>
            </a:r>
            <a:r>
              <a:rPr lang="en-US" sz="1575" b="1" i="0" dirty="0">
                <a:solidFill>
                  <a:srgbClr val="2E5B3A"/>
                </a:solidFill>
              </a:rPr>
              <a:t> API</a:t>
            </a:r>
            <a:endParaRPr sz="1575" b="1" i="0" dirty="0">
              <a:solidFill>
                <a:srgbClr val="2E5B3A"/>
              </a:solidFill>
            </a:endParaRP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E06F25D8-5AE5-A50C-F148-F4DC6DE697AC}"/>
              </a:ext>
            </a:extLst>
          </p:cNvPr>
          <p:cNvSpPr>
            <a:spLocks noGrp="1"/>
          </p:cNvSpPr>
          <p:nvPr/>
        </p:nvSpPr>
        <p:spPr>
          <a:xfrm>
            <a:off x="762000" y="2872629"/>
            <a:ext cx="10191750" cy="9525"/>
          </a:xfrm>
          <a:prstGeom prst="line">
            <a:avLst/>
          </a:prstGeom>
          <a:noFill/>
          <a:ln w="9525">
            <a:solidFill>
              <a:srgbClr val="C8D9C5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3BA4B97-96AA-CFED-2CB4-F236474A2646}"/>
              </a:ext>
            </a:extLst>
          </p:cNvPr>
          <p:cNvSpPr>
            <a:spLocks noGrp="1"/>
          </p:cNvSpPr>
          <p:nvPr/>
        </p:nvSpPr>
        <p:spPr>
          <a:xfrm>
            <a:off x="762000" y="3100387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 i="0">
                <a:solidFill>
                  <a:srgbClr val="2E5B3A"/>
                </a:solidFill>
              </a:defRPr>
            </a:pPr>
            <a:r>
              <a:rPr lang="en-US" sz="1575" b="1" i="0" dirty="0">
                <a:solidFill>
                  <a:srgbClr val="2E5B3A"/>
                </a:solidFill>
              </a:rPr>
              <a:t>Tài </a:t>
            </a:r>
            <a:r>
              <a:rPr lang="en-US" sz="1575" b="1" i="0" dirty="0" err="1">
                <a:solidFill>
                  <a:srgbClr val="2E5B3A"/>
                </a:solidFill>
              </a:rPr>
              <a:t>liệu</a:t>
            </a:r>
            <a:r>
              <a:rPr lang="en-US" sz="1575" b="1" i="0" dirty="0">
                <a:solidFill>
                  <a:srgbClr val="2E5B3A"/>
                </a:solidFill>
              </a:rPr>
              <a:t> </a:t>
            </a:r>
            <a:r>
              <a:rPr lang="en-US" sz="1575" b="1" i="0" dirty="0" err="1">
                <a:solidFill>
                  <a:srgbClr val="2E5B3A"/>
                </a:solidFill>
              </a:rPr>
              <a:t>đặc</a:t>
            </a:r>
            <a:r>
              <a:rPr lang="en-US" sz="1575" b="1" i="0" dirty="0">
                <a:solidFill>
                  <a:srgbClr val="2E5B3A"/>
                </a:solidFill>
              </a:rPr>
              <a:t> </a:t>
            </a:r>
            <a:r>
              <a:rPr lang="en-US" sz="1575" b="1" i="0" dirty="0" err="1">
                <a:solidFill>
                  <a:srgbClr val="2E5B3A"/>
                </a:solidFill>
              </a:rPr>
              <a:t>tả</a:t>
            </a:r>
            <a:r>
              <a:rPr lang="en-US" sz="1575" b="1" i="0" dirty="0">
                <a:solidFill>
                  <a:srgbClr val="2E5B3A"/>
                </a:solidFill>
              </a:rPr>
              <a:t> Database</a:t>
            </a:r>
            <a:endParaRPr sz="1575" b="1" i="0" dirty="0">
              <a:solidFill>
                <a:srgbClr val="2E5B3A"/>
              </a:solidFill>
            </a:endParaRPr>
          </a:p>
        </p:txBody>
      </p:sp>
      <p:sp>
        <p:nvSpPr>
          <p:cNvPr id="20" name="Straight Connector 19">
            <a:extLst>
              <a:ext uri="{FF2B5EF4-FFF2-40B4-BE49-F238E27FC236}">
                <a16:creationId xmlns:a16="http://schemas.microsoft.com/office/drawing/2014/main" id="{CEABA785-D4C1-1F69-C462-059D054E0F7A}"/>
              </a:ext>
            </a:extLst>
          </p:cNvPr>
          <p:cNvSpPr>
            <a:spLocks noGrp="1"/>
          </p:cNvSpPr>
          <p:nvPr/>
        </p:nvSpPr>
        <p:spPr>
          <a:xfrm>
            <a:off x="762000" y="3637147"/>
            <a:ext cx="10191750" cy="9525"/>
          </a:xfrm>
          <a:prstGeom prst="line">
            <a:avLst/>
          </a:prstGeom>
          <a:noFill/>
          <a:ln w="9525">
            <a:solidFill>
              <a:srgbClr val="C8D9C5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E6D567-8D1E-7073-434D-F36E5B10D7EB}"/>
              </a:ext>
            </a:extLst>
          </p:cNvPr>
          <p:cNvSpPr>
            <a:spLocks noGrp="1"/>
          </p:cNvSpPr>
          <p:nvPr/>
        </p:nvSpPr>
        <p:spPr>
          <a:xfrm>
            <a:off x="762000" y="3855793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575" b="1" i="0">
                <a:solidFill>
                  <a:srgbClr val="2E5B3A"/>
                </a:solidFill>
              </a:defRPr>
            </a:pPr>
            <a:r>
              <a:rPr lang="en-US" sz="1575" b="1" i="0" dirty="0">
                <a:solidFill>
                  <a:srgbClr val="2E5B3A"/>
                </a:solidFill>
              </a:rPr>
              <a:t>Tài </a:t>
            </a:r>
            <a:r>
              <a:rPr lang="en-US" sz="1575" b="1" i="0" dirty="0" err="1">
                <a:solidFill>
                  <a:srgbClr val="2E5B3A"/>
                </a:solidFill>
              </a:rPr>
              <a:t>liệu</a:t>
            </a:r>
            <a:r>
              <a:rPr lang="en-US" sz="1575" b="1" i="0" dirty="0">
                <a:solidFill>
                  <a:srgbClr val="2E5B3A"/>
                </a:solidFill>
              </a:rPr>
              <a:t> BRD</a:t>
            </a:r>
            <a:endParaRPr sz="1575" b="1" i="0" dirty="0">
              <a:solidFill>
                <a:srgbClr val="2E5B3A"/>
              </a:solidFill>
            </a:endParaRPr>
          </a:p>
        </p:txBody>
      </p:sp>
      <p:sp>
        <p:nvSpPr>
          <p:cNvPr id="23" name="Straight Connector 22">
            <a:extLst>
              <a:ext uri="{FF2B5EF4-FFF2-40B4-BE49-F238E27FC236}">
                <a16:creationId xmlns:a16="http://schemas.microsoft.com/office/drawing/2014/main" id="{95B7C00B-C07C-C98E-B308-B0CDEAC7FFF9}"/>
              </a:ext>
            </a:extLst>
          </p:cNvPr>
          <p:cNvSpPr>
            <a:spLocks noGrp="1"/>
          </p:cNvSpPr>
          <p:nvPr/>
        </p:nvSpPr>
        <p:spPr>
          <a:xfrm>
            <a:off x="762000" y="4429122"/>
            <a:ext cx="10191750" cy="9525"/>
          </a:xfrm>
          <a:prstGeom prst="line">
            <a:avLst/>
          </a:prstGeom>
          <a:noFill/>
          <a:ln w="9525">
            <a:solidFill>
              <a:srgbClr val="C8D9C5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44BAA32-2C73-D65E-185B-29346BC52C32}"/>
              </a:ext>
            </a:extLst>
          </p:cNvPr>
          <p:cNvSpPr>
            <a:spLocks noGrp="1"/>
          </p:cNvSpPr>
          <p:nvPr/>
        </p:nvSpPr>
        <p:spPr>
          <a:xfrm>
            <a:off x="4394949" y="2389513"/>
            <a:ext cx="5596218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 b="0" i="0">
                <a:solidFill>
                  <a:srgbClr val="183127"/>
                </a:solidFill>
              </a:defRPr>
            </a:pPr>
            <a:r>
              <a:rPr lang="en-US" sz="1425" dirty="0">
                <a:hlinkClick r:id="rId4"/>
              </a:rPr>
              <a:t>Link </a:t>
            </a:r>
            <a:r>
              <a:rPr lang="en-US" sz="1425" dirty="0" err="1">
                <a:hlinkClick r:id="rId4"/>
              </a:rPr>
              <a:t>tài</a:t>
            </a:r>
            <a:r>
              <a:rPr lang="en-US" sz="1425" dirty="0">
                <a:hlinkClick r:id="rId4"/>
              </a:rPr>
              <a:t> </a:t>
            </a:r>
            <a:r>
              <a:rPr lang="en-US" sz="1425" dirty="0" err="1">
                <a:hlinkClick r:id="rId4"/>
              </a:rPr>
              <a:t>liệu</a:t>
            </a:r>
            <a:endParaRPr sz="1425" b="0" i="0" dirty="0">
              <a:solidFill>
                <a:srgbClr val="183127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83896B3-4A62-1820-6AF3-E0988B92482D}"/>
              </a:ext>
            </a:extLst>
          </p:cNvPr>
          <p:cNvSpPr>
            <a:spLocks noGrp="1"/>
          </p:cNvSpPr>
          <p:nvPr/>
        </p:nvSpPr>
        <p:spPr>
          <a:xfrm>
            <a:off x="4381500" y="3100387"/>
            <a:ext cx="5596218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 b="0" i="0">
                <a:solidFill>
                  <a:srgbClr val="183127"/>
                </a:solidFill>
              </a:defRPr>
            </a:pPr>
            <a:r>
              <a:rPr lang="en-US" sz="1425" dirty="0">
                <a:hlinkClick r:id="rId5"/>
              </a:rPr>
              <a:t>Link </a:t>
            </a:r>
            <a:r>
              <a:rPr lang="en-US" sz="1425" dirty="0" err="1">
                <a:hlinkClick r:id="rId5"/>
              </a:rPr>
              <a:t>tài</a:t>
            </a:r>
            <a:r>
              <a:rPr lang="en-US" sz="1425" dirty="0">
                <a:hlinkClick r:id="rId5"/>
              </a:rPr>
              <a:t> </a:t>
            </a:r>
            <a:r>
              <a:rPr lang="en-US" sz="1425" dirty="0" err="1">
                <a:hlinkClick r:id="rId5"/>
              </a:rPr>
              <a:t>liệu</a:t>
            </a:r>
            <a:endParaRPr sz="1425" b="0" i="0" dirty="0">
              <a:solidFill>
                <a:srgbClr val="183127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03E6052-F718-F769-C08A-2622BCB63B7E}"/>
              </a:ext>
            </a:extLst>
          </p:cNvPr>
          <p:cNvSpPr>
            <a:spLocks noGrp="1"/>
          </p:cNvSpPr>
          <p:nvPr/>
        </p:nvSpPr>
        <p:spPr>
          <a:xfrm>
            <a:off x="4394949" y="3905247"/>
            <a:ext cx="5596218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buNone/>
              <a:defRPr sz="1425" b="0" i="0">
                <a:solidFill>
                  <a:srgbClr val="183127"/>
                </a:solidFill>
              </a:defRPr>
            </a:pPr>
            <a:r>
              <a:rPr lang="en-US" sz="1425" dirty="0">
                <a:hlinkClick r:id="rId6"/>
              </a:rPr>
              <a:t>Link </a:t>
            </a:r>
            <a:r>
              <a:rPr lang="en-US" sz="1425" dirty="0" err="1">
                <a:hlinkClick r:id="rId6"/>
              </a:rPr>
              <a:t>tài</a:t>
            </a:r>
            <a:r>
              <a:rPr lang="en-US" sz="1425" dirty="0">
                <a:hlinkClick r:id="rId6"/>
              </a:rPr>
              <a:t> </a:t>
            </a:r>
            <a:r>
              <a:rPr lang="en-US" sz="1425" dirty="0" err="1">
                <a:hlinkClick r:id="rId6"/>
              </a:rPr>
              <a:t>liệu</a:t>
            </a:r>
            <a:endParaRPr sz="1425" b="0" i="0" dirty="0">
              <a:solidFill>
                <a:srgbClr val="18312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22657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A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:a16="http://schemas.microsoft.com/office/drawing/2014/main" id="{4A04B5C4-032E-4485-9613-BA2116DCE35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429000" cy="4095750"/>
          </a:xfrm>
          <a:prstGeom prst="ellipse">
            <a:avLst/>
          </a:prstGeom>
          <a:solidFill>
            <a:srgbClr val="EAF3E7"/>
          </a:solidFill>
          <a:ln w="0">
            <a:solidFill>
              <a:srgbClr val="EAF3E7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88F29B-731C-4C58-B5E2-61A03F481F8C}"/>
              </a:ext>
            </a:extLst>
          </p:cNvPr>
          <p:cNvSpPr>
            <a:spLocks noGrp="1"/>
          </p:cNvSpPr>
          <p:nvPr/>
        </p:nvSpPr>
        <p:spPr>
          <a:xfrm>
            <a:off x="762000" y="904875"/>
            <a:ext cx="2476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800" b="1" i="0">
                <a:solidFill>
                  <a:srgbClr val="6B9A6E"/>
                </a:solidFill>
              </a:defRPr>
            </a:pPr>
            <a:r>
              <a:rPr sz="1800" b="1" i="0">
                <a:solidFill>
                  <a:srgbClr val="6B9A6E"/>
                </a:solidFill>
              </a:rPr>
              <a:t>Kết luận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7070EA-5E4C-4591-A37B-E1D1C491F321}"/>
              </a:ext>
            </a:extLst>
          </p:cNvPr>
          <p:cNvSpPr>
            <a:spLocks noGrp="1"/>
          </p:cNvSpPr>
          <p:nvPr/>
        </p:nvSpPr>
        <p:spPr>
          <a:xfrm>
            <a:off x="762000" y="1524000"/>
            <a:ext cx="6858000" cy="1238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3600" b="1" i="0">
                <a:solidFill>
                  <a:srgbClr val="193B2B"/>
                </a:solidFill>
              </a:defRPr>
            </a:pPr>
            <a:r>
              <a:rPr sz="3600" b="1" i="0">
                <a:solidFill>
                  <a:srgbClr val="193B2B"/>
                </a:solidFill>
              </a:rPr>
              <a:t>Giải pháp kết nối</a:t>
            </a:r>
          </a:p>
          <a:p>
            <a:pPr algn="l">
              <a:buNone/>
              <a:defRPr sz="3600" b="1" i="0">
                <a:solidFill>
                  <a:srgbClr val="193B2B"/>
                </a:solidFill>
              </a:defRPr>
            </a:pPr>
            <a:r>
              <a:rPr sz="3600" b="1" i="0">
                <a:solidFill>
                  <a:srgbClr val="193B2B"/>
                </a:solidFill>
              </a:rPr>
              <a:t>nhu cầu - quy trình - dữ liệu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E14ECD-D313-41B8-864A-EC17D058DAB7}"/>
              </a:ext>
            </a:extLst>
          </p:cNvPr>
          <p:cNvSpPr>
            <a:spLocks noGrp="1"/>
          </p:cNvSpPr>
          <p:nvPr/>
        </p:nvSpPr>
        <p:spPr>
          <a:xfrm>
            <a:off x="809625" y="3095625"/>
            <a:ext cx="6286500" cy="1095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1725" b="0" i="0">
                <a:solidFill>
                  <a:srgbClr val="183127"/>
                </a:solidFill>
              </a:defRPr>
            </a:pPr>
            <a:r>
              <a:rPr sz="1725" b="0" i="0" dirty="0">
                <a:solidFill>
                  <a:srgbClr val="183127"/>
                </a:solidFill>
              </a:rPr>
              <a:t>Project </a:t>
            </a:r>
            <a:r>
              <a:rPr sz="1725" b="0" i="0" dirty="0" err="1">
                <a:solidFill>
                  <a:srgbClr val="183127"/>
                </a:solidFill>
              </a:rPr>
              <a:t>mô</a:t>
            </a:r>
            <a:r>
              <a:rPr sz="1725" b="0" i="0" dirty="0">
                <a:solidFill>
                  <a:srgbClr val="183127"/>
                </a:solidFill>
              </a:rPr>
              <a:t> </a:t>
            </a:r>
            <a:r>
              <a:rPr sz="1725" b="0" i="0" dirty="0" err="1">
                <a:solidFill>
                  <a:srgbClr val="183127"/>
                </a:solidFill>
              </a:rPr>
              <a:t>phỏng</a:t>
            </a:r>
            <a:r>
              <a:rPr sz="1725" b="0" i="0" dirty="0">
                <a:solidFill>
                  <a:srgbClr val="183127"/>
                </a:solidFill>
              </a:rPr>
              <a:t> </a:t>
            </a:r>
            <a:r>
              <a:rPr sz="1725" b="0" i="0" dirty="0" err="1">
                <a:solidFill>
                  <a:srgbClr val="183127"/>
                </a:solidFill>
              </a:rPr>
              <a:t>cách</a:t>
            </a:r>
            <a:r>
              <a:rPr sz="1725" b="0" i="0" dirty="0">
                <a:solidFill>
                  <a:srgbClr val="183127"/>
                </a:solidFill>
              </a:rPr>
              <a:t> </a:t>
            </a:r>
            <a:r>
              <a:rPr sz="1725" b="0" i="0" dirty="0" err="1">
                <a:solidFill>
                  <a:srgbClr val="183127"/>
                </a:solidFill>
              </a:rPr>
              <a:t>một</a:t>
            </a:r>
            <a:r>
              <a:rPr sz="1725" b="0" i="0" dirty="0">
                <a:solidFill>
                  <a:srgbClr val="183127"/>
                </a:solidFill>
              </a:rPr>
              <a:t> Business Analyst </a:t>
            </a:r>
            <a:r>
              <a:rPr sz="1725" b="0" i="0" dirty="0" err="1">
                <a:solidFill>
                  <a:srgbClr val="183127"/>
                </a:solidFill>
              </a:rPr>
              <a:t>chuyển</a:t>
            </a:r>
            <a:r>
              <a:rPr sz="1725" b="0" i="0" dirty="0">
                <a:solidFill>
                  <a:srgbClr val="183127"/>
                </a:solidFill>
              </a:rPr>
              <a:t> </a:t>
            </a:r>
            <a:r>
              <a:rPr sz="1725" b="0" i="0" dirty="0" err="1">
                <a:solidFill>
                  <a:srgbClr val="183127"/>
                </a:solidFill>
              </a:rPr>
              <a:t>bài</a:t>
            </a:r>
            <a:r>
              <a:rPr sz="1725" b="0" i="0" dirty="0">
                <a:solidFill>
                  <a:srgbClr val="183127"/>
                </a:solidFill>
              </a:rPr>
              <a:t> </a:t>
            </a:r>
            <a:r>
              <a:rPr sz="1725" b="0" i="0" dirty="0" err="1">
                <a:solidFill>
                  <a:srgbClr val="183127"/>
                </a:solidFill>
              </a:rPr>
              <a:t>toán</a:t>
            </a:r>
            <a:r>
              <a:rPr sz="1725" b="0" i="0" dirty="0">
                <a:solidFill>
                  <a:srgbClr val="183127"/>
                </a:solidFill>
              </a:rPr>
              <a:t> </a:t>
            </a:r>
            <a:r>
              <a:rPr sz="1725" b="0" i="0" dirty="0" err="1">
                <a:solidFill>
                  <a:srgbClr val="183127"/>
                </a:solidFill>
              </a:rPr>
              <a:t>mở</a:t>
            </a:r>
            <a:r>
              <a:rPr sz="1725" b="0" i="0" dirty="0">
                <a:solidFill>
                  <a:srgbClr val="183127"/>
                </a:solidFill>
              </a:rPr>
              <a:t> </a:t>
            </a:r>
            <a:r>
              <a:rPr sz="1725" b="0" i="0" dirty="0" err="1">
                <a:solidFill>
                  <a:srgbClr val="183127"/>
                </a:solidFill>
              </a:rPr>
              <a:t>tài</a:t>
            </a:r>
            <a:r>
              <a:rPr sz="1725" b="0" i="0" dirty="0">
                <a:solidFill>
                  <a:srgbClr val="183127"/>
                </a:solidFill>
              </a:rPr>
              <a:t> </a:t>
            </a:r>
            <a:r>
              <a:rPr sz="1725" b="0" i="0" dirty="0" err="1">
                <a:solidFill>
                  <a:srgbClr val="183127"/>
                </a:solidFill>
              </a:rPr>
              <a:t>khoản</a:t>
            </a:r>
            <a:r>
              <a:rPr sz="1725" b="0" i="0" dirty="0">
                <a:solidFill>
                  <a:srgbClr val="183127"/>
                </a:solidFill>
              </a:rPr>
              <a:t> online </a:t>
            </a:r>
            <a:r>
              <a:rPr sz="1725" b="0" i="0" dirty="0" err="1">
                <a:solidFill>
                  <a:srgbClr val="183127"/>
                </a:solidFill>
              </a:rPr>
              <a:t>thành</a:t>
            </a:r>
            <a:r>
              <a:rPr sz="1725" b="0" i="0" dirty="0">
                <a:solidFill>
                  <a:srgbClr val="183127"/>
                </a:solidFill>
              </a:rPr>
              <a:t> </a:t>
            </a:r>
            <a:r>
              <a:rPr sz="1725" b="0" i="0" dirty="0" err="1">
                <a:solidFill>
                  <a:srgbClr val="183127"/>
                </a:solidFill>
              </a:rPr>
              <a:t>yêu</a:t>
            </a:r>
            <a:r>
              <a:rPr sz="1725" b="0" i="0" dirty="0">
                <a:solidFill>
                  <a:srgbClr val="183127"/>
                </a:solidFill>
              </a:rPr>
              <a:t> </a:t>
            </a:r>
            <a:r>
              <a:rPr sz="1725" b="0" i="0" dirty="0" err="1">
                <a:solidFill>
                  <a:srgbClr val="183127"/>
                </a:solidFill>
              </a:rPr>
              <a:t>cầu</a:t>
            </a:r>
            <a:r>
              <a:rPr sz="1725" b="0" i="0" dirty="0">
                <a:solidFill>
                  <a:srgbClr val="183127"/>
                </a:solidFill>
              </a:rPr>
              <a:t>, </a:t>
            </a:r>
            <a:r>
              <a:rPr sz="1725" b="0" i="0" dirty="0" err="1">
                <a:solidFill>
                  <a:srgbClr val="183127"/>
                </a:solidFill>
              </a:rPr>
              <a:t>luồng</a:t>
            </a:r>
            <a:r>
              <a:rPr sz="1725" b="0" i="0" dirty="0">
                <a:solidFill>
                  <a:srgbClr val="183127"/>
                </a:solidFill>
              </a:rPr>
              <a:t> </a:t>
            </a:r>
            <a:r>
              <a:rPr sz="1725" b="0" i="0" dirty="0" err="1">
                <a:solidFill>
                  <a:srgbClr val="183127"/>
                </a:solidFill>
              </a:rPr>
              <a:t>nghiệp</a:t>
            </a:r>
            <a:r>
              <a:rPr sz="1725" b="0" i="0" dirty="0">
                <a:solidFill>
                  <a:srgbClr val="183127"/>
                </a:solidFill>
              </a:rPr>
              <a:t> </a:t>
            </a:r>
            <a:r>
              <a:rPr sz="1725" b="0" i="0" dirty="0" err="1">
                <a:solidFill>
                  <a:srgbClr val="183127"/>
                </a:solidFill>
              </a:rPr>
              <a:t>vụ</a:t>
            </a:r>
            <a:r>
              <a:rPr sz="1725" b="0" i="0" dirty="0">
                <a:solidFill>
                  <a:srgbClr val="183127"/>
                </a:solidFill>
              </a:rPr>
              <a:t>, </a:t>
            </a:r>
            <a:r>
              <a:rPr sz="1725" b="0" i="0" dirty="0" err="1">
                <a:solidFill>
                  <a:srgbClr val="183127"/>
                </a:solidFill>
              </a:rPr>
              <a:t>mô</a:t>
            </a:r>
            <a:r>
              <a:rPr sz="1725" b="0" i="0" dirty="0">
                <a:solidFill>
                  <a:srgbClr val="183127"/>
                </a:solidFill>
              </a:rPr>
              <a:t> </a:t>
            </a:r>
            <a:r>
              <a:rPr sz="1725" b="0" i="0" dirty="0" err="1">
                <a:solidFill>
                  <a:srgbClr val="183127"/>
                </a:solidFill>
              </a:rPr>
              <a:t>hình</a:t>
            </a:r>
            <a:r>
              <a:rPr sz="1725" b="0" i="0" dirty="0">
                <a:solidFill>
                  <a:srgbClr val="183127"/>
                </a:solidFill>
              </a:rPr>
              <a:t> </a:t>
            </a:r>
            <a:r>
              <a:rPr sz="1725" b="0" i="0" dirty="0" err="1">
                <a:solidFill>
                  <a:srgbClr val="183127"/>
                </a:solidFill>
              </a:rPr>
              <a:t>dữ</a:t>
            </a:r>
            <a:r>
              <a:rPr sz="1725" b="0" i="0" dirty="0">
                <a:solidFill>
                  <a:srgbClr val="183127"/>
                </a:solidFill>
              </a:rPr>
              <a:t> </a:t>
            </a:r>
            <a:r>
              <a:rPr sz="1725" b="0" i="0" dirty="0" err="1">
                <a:solidFill>
                  <a:srgbClr val="183127"/>
                </a:solidFill>
              </a:rPr>
              <a:t>liệu</a:t>
            </a:r>
            <a:r>
              <a:rPr sz="1725" b="0" i="0" dirty="0">
                <a:solidFill>
                  <a:srgbClr val="183127"/>
                </a:solidFill>
              </a:rPr>
              <a:t> </a:t>
            </a:r>
            <a:r>
              <a:rPr sz="1725" b="0" i="0" dirty="0" err="1">
                <a:solidFill>
                  <a:srgbClr val="183127"/>
                </a:solidFill>
              </a:rPr>
              <a:t>và</a:t>
            </a:r>
            <a:r>
              <a:rPr sz="1725" b="0" i="0" dirty="0">
                <a:solidFill>
                  <a:srgbClr val="183127"/>
                </a:solidFill>
              </a:rPr>
              <a:t> contract </a:t>
            </a:r>
            <a:r>
              <a:rPr sz="1725" b="0" i="0" dirty="0" err="1">
                <a:solidFill>
                  <a:srgbClr val="183127"/>
                </a:solidFill>
              </a:rPr>
              <a:t>tích</a:t>
            </a:r>
            <a:r>
              <a:rPr sz="1725" b="0" i="0" dirty="0">
                <a:solidFill>
                  <a:srgbClr val="183127"/>
                </a:solidFill>
              </a:rPr>
              <a:t> </a:t>
            </a:r>
            <a:r>
              <a:rPr sz="1725" b="0" i="0" dirty="0" err="1">
                <a:solidFill>
                  <a:srgbClr val="183127"/>
                </a:solidFill>
              </a:rPr>
              <a:t>hợp</a:t>
            </a:r>
            <a:r>
              <a:rPr sz="1725" b="0" i="0" dirty="0">
                <a:solidFill>
                  <a:srgbClr val="183127"/>
                </a:solidFill>
              </a:rPr>
              <a:t> </a:t>
            </a:r>
            <a:r>
              <a:rPr sz="1725" b="0" i="0" dirty="0" err="1">
                <a:solidFill>
                  <a:srgbClr val="183127"/>
                </a:solidFill>
              </a:rPr>
              <a:t>có</a:t>
            </a:r>
            <a:r>
              <a:rPr sz="1725" b="0" i="0" dirty="0">
                <a:solidFill>
                  <a:srgbClr val="183127"/>
                </a:solidFill>
              </a:rPr>
              <a:t> </a:t>
            </a:r>
            <a:r>
              <a:rPr sz="1725" b="0" i="0" dirty="0" err="1">
                <a:solidFill>
                  <a:srgbClr val="183127"/>
                </a:solidFill>
              </a:rPr>
              <a:t>thể</a:t>
            </a:r>
            <a:r>
              <a:rPr sz="1725" b="0" i="0" dirty="0">
                <a:solidFill>
                  <a:srgbClr val="183127"/>
                </a:solidFill>
              </a:rPr>
              <a:t> </a:t>
            </a:r>
            <a:r>
              <a:rPr sz="1725" b="0" i="0" dirty="0" err="1">
                <a:solidFill>
                  <a:srgbClr val="183127"/>
                </a:solidFill>
              </a:rPr>
              <a:t>bàn</a:t>
            </a:r>
            <a:r>
              <a:rPr sz="1725" b="0" i="0" dirty="0">
                <a:solidFill>
                  <a:srgbClr val="183127"/>
                </a:solidFill>
              </a:rPr>
              <a:t> </a:t>
            </a:r>
            <a:r>
              <a:rPr sz="1725" b="0" i="0" dirty="0" err="1">
                <a:solidFill>
                  <a:srgbClr val="183127"/>
                </a:solidFill>
              </a:rPr>
              <a:t>giao</a:t>
            </a:r>
            <a:r>
              <a:rPr sz="1725" b="0" i="0" dirty="0">
                <a:solidFill>
                  <a:srgbClr val="183127"/>
                </a:solidFill>
              </a:rPr>
              <a:t>.</a:t>
            </a:r>
            <a:r>
              <a:rPr lang="en-US" sz="1725" b="0" i="0" dirty="0">
                <a:solidFill>
                  <a:srgbClr val="183127"/>
                </a:solidFill>
              </a:rPr>
              <a:t> </a:t>
            </a:r>
            <a:endParaRPr sz="1725" b="0" i="0" dirty="0">
              <a:solidFill>
                <a:srgbClr val="183127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5753BC-81D4-4483-8BE5-2EE2D58802E2}"/>
              </a:ext>
            </a:extLst>
          </p:cNvPr>
          <p:cNvSpPr>
            <a:spLocks noGrp="1"/>
          </p:cNvSpPr>
          <p:nvPr/>
        </p:nvSpPr>
        <p:spPr>
          <a:xfrm>
            <a:off x="762000" y="5048250"/>
            <a:ext cx="5715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buNone/>
              <a:defRPr sz="2850" b="1" i="0">
                <a:solidFill>
                  <a:srgbClr val="2E5B3A"/>
                </a:solidFill>
              </a:defRPr>
            </a:pPr>
            <a:r>
              <a:rPr sz="2850" b="1" i="0">
                <a:solidFill>
                  <a:srgbClr val="2E5B3A"/>
                </a:solidFill>
              </a:rPr>
              <a:t>Thanks for watching!</a:t>
            </a:r>
          </a:p>
        </p:txBody>
      </p:sp>
    </p:spTree>
    <p:extLst>
      <p:ext uri="{BB962C8B-B14F-4D97-AF65-F5344CB8AC3E}">
        <p14:creationId xmlns:p14="http://schemas.microsoft.com/office/powerpoint/2010/main" val="92159601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</TotalTime>
  <Words>1629</Words>
  <Application>Microsoft Office PowerPoint</Application>
  <DocSecurity>0</DocSecurity>
  <PresentationFormat>Widescreen</PresentationFormat>
  <Paragraphs>297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5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Trung Đình</cp:lastModifiedBy>
  <cp:revision>24</cp:revision>
  <dcterms:created xsi:type="dcterms:W3CDTF">2026-08-09T17:50:45Z</dcterms:created>
  <dcterms:modified xsi:type="dcterms:W3CDTF">2026-10-14T15:00:47Z</dcterms:modified>
</cp:coreProperties>
</file>