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18"/>
    <p:sldId id="276" r:id="rId19"/>
    <p:sldId id="275" r:id="rId20"/>
    <p:sldId id="274" r:id="rId21"/>
    <p:sldId id="278" r:id="rId22"/>
    <p:sldId id="273" r:id="rId2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Giới thiệu ngắn gọn đây là project portfolio mô phỏng vai trò Business Analyst cho hành trình mở tài khoản online có eKYC.</a:t>
            </a:r>
          </a:p>
          <a:p>
            <a:endParaRPr/>
          </a:p>
          <a:p>
            <a:r>
              <a:t>[Sources]</a:t>
            </a:r>
          </a:p>
          <a:p>
            <a:r>
              <a:t>- User-provided reference PDF: [Lê Thị Hiền] ITBA_Portfolio (2).pdf (visual style)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Nêu 3 phần chính và nói rõ mỗi phần tương ứng với một nhóm công việc của BA.</a:t>
            </a:r>
          </a:p>
          <a:p>
            <a:endParaRPr/>
          </a:p>
          <a:p>
            <a:r>
              <a:t>[Sources]</a:t>
            </a:r>
          </a:p>
          <a:p>
            <a:r>
              <a:t>- User-provided project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Mở đầu bằng vấn đề của khách hàng và ngân hàng. Ba con số là mục tiêu kỳ vọng của project, không phải kết quả đã đo được.</a:t>
            </a:r>
          </a:p>
          <a:p>
            <a:endParaRPr/>
          </a:p>
          <a:p>
            <a:r>
              <a:t>[Sources]</a:t>
            </a:r>
          </a:p>
          <a:p>
            <a:r>
              <a:t>- User-provided project context and BACCM/value statements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Nhấn mạnh giới hạn phạm vi giúp project không bị mở rộng sang doanh nghiệp, người nước ngoài hoặc phát hành thẻ.</a:t>
            </a:r>
          </a:p>
          <a:p>
            <a:endParaRPr/>
          </a:p>
          <a:p>
            <a:r>
              <a:t>[Sources]</a:t>
            </a:r>
          </a:p>
          <a:p>
            <a:r>
              <a:t>- User-provided project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BACCM không phải quy trình. Đây là 6 góc nhìn giúp BA kiểm tra solution có thực sự giải quyết đúng nhu cầu và tạo giá trị hay không.</a:t>
            </a:r>
          </a:p>
          <a:p>
            <a:endParaRPr/>
          </a:p>
          <a:p>
            <a:r>
              <a:t>[Sources]</a:t>
            </a:r>
          </a:p>
          <a:p>
            <a:r>
              <a:t>- User-provided BACCM artifact summary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Nêu sự khác nhau giữa người sử dụng, người phê duyệt, đội tuân thủ và đội kỹ thuật. BA phải cân bằng các nhu cầu này.</a:t>
            </a:r>
          </a:p>
          <a:p>
            <a:endParaRPr/>
          </a:p>
          <a:p>
            <a:r>
              <a:t>[Sources]</a:t>
            </a:r>
          </a:p>
          <a:p>
            <a:r>
              <a:t>- User-provided stakeholder Q&amp;A and project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Tập trung vào bốn rule ảnh hưởng trực tiếp đến luồng. Nhắc rõ số lần thất bại OCR và Face Matching được đếm chung.</a:t>
            </a:r>
          </a:p>
          <a:p>
            <a:endParaRPr/>
          </a:p>
          <a:p>
            <a:r>
              <a:t>[Sources]</a:t>
            </a:r>
          </a:p>
          <a:p>
            <a:r>
              <a:t>- User-provided Business Rules, API Spec and database design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Backbone nằm trên cùng. R1 là happy path, R2 xử lý lỗi/ngoại lệ, R3 là cải tiến. Với production banking, R1 và R2 nên hoàn tất trước khi go-live.</a:t>
            </a:r>
          </a:p>
          <a:p>
            <a:endParaRPr/>
          </a:p>
          <a:p>
            <a:r>
              <a:t>[Sources]</a:t>
            </a:r>
          </a:p>
          <a:p>
            <a:r>
              <a:t>- User Story Map created for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Đi từ trái sang phải. Nêu rõ ngân hàng kiểm tra CCCD trùng lặp vì vendor eKYC không truy cập dữ liệu khách hàng nội bộ.</a:t>
            </a:r>
          </a:p>
          <a:p>
            <a:endParaRPr/>
          </a:p>
          <a:p>
            <a:r>
              <a:t>[Sources]</a:t>
            </a:r>
          </a:p>
          <a:p>
            <a:r>
              <a:t>- User-provided diagram: Mở_TK_eKYC-BPMN.drawio(2).png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BFD trả lời hệ thống có những nhóm chức năng nào, không mô tả thứ tự xử lý. Kiểm tra CCCD trùng thuộc nhóm Tạo tài khoản.</a:t>
            </a:r>
          </a:p>
          <a:p>
            <a:endParaRPr/>
          </a:p>
          <a:p>
            <a:r>
              <a:t>[Sources]</a:t>
            </a:r>
          </a:p>
          <a:p>
            <a:r>
              <a:t>- User-provided diagram: Mở_TK_eKYC-BFD.drawio(1).png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Chỉ ra các actor và Use Case chính. Các quan hệ include/extend thể hiện chức năng bắt buộc hoặc mở rộng trong hành trình.</a:t>
            </a:r>
          </a:p>
          <a:p>
            <a:endParaRPr/>
          </a:p>
          <a:p>
            <a:r>
              <a:t>[Sources]</a:t>
            </a:r>
          </a:p>
          <a:p>
            <a:r>
              <a:t>- User-provided diagram: Mở_TK_eKYC-UseCase.drawio(3).png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Sau khi thay ảnh, đi theo các decision node. Đây là nơi trình bày chi tiết hơn BPMN về retry và biến đếm thất bại chung.</a:t>
            </a:r>
          </a:p>
          <a:p>
            <a:endParaRPr/>
          </a:p>
          <a:p>
            <a:r>
              <a:t>[Sources]</a:t>
            </a:r>
          </a:p>
          <a:p>
            <a:r>
              <a:t>- User-provided project logic; updated Activity Diagram image not yet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Giải thích mã lỗi theo đúng bước phát sinh. ERR_EKYC_003 chỉ dùng khi tổng thất bại đạt 3 và hồ sơ chuyển xét duyệt thủ công.</a:t>
            </a:r>
          </a:p>
          <a:p>
            <a:endParaRPr/>
          </a:p>
          <a:p>
            <a:r>
              <a:t>[Sources]</a:t>
            </a:r>
          </a:p>
          <a:p>
            <a:r>
              <a:t>- Corrected Mermaid Sequence Diagram and updated API Specification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Hồ sơ được tạo từ bước nhập SĐT nên dữ liệu OCR có thể null trong giai đoạn nháp. Chỉ khách hàng chính thức mới bị ràng buộc CCCD duy nhất.</a:t>
            </a:r>
          </a:p>
          <a:p>
            <a:endParaRPr/>
          </a:p>
          <a:p>
            <a:r>
              <a:t>[Sources]</a:t>
            </a:r>
          </a:p>
          <a:p>
            <a:r>
              <a:t>- User-provided diagram: ERD(1).png</a:t>
            </a:r>
          </a:p>
          <a:p>
            <a:r>
              <a:t>- User-provided database design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Không đọc toàn bộ danh sách API. Chỉ giải thích cách API Spec, Database và Business Rules dùng cùng thuật ngữ và mã lỗi.</a:t>
            </a:r>
          </a:p>
          <a:p>
            <a:endParaRPr/>
          </a:p>
          <a:p>
            <a:r>
              <a:t>[Sources]</a:t>
            </a:r>
          </a:p>
          <a:p>
            <a:r>
              <a:t>- User-provided API Specification, DDD and database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Đây là slide chờ hoàn thiện. Sau khi có wireframe, thay ba khung bằng ảnh các màn hình chính và trình bày cách giao diện hỗ trợ các Business Rule.</a:t>
            </a:r>
          </a:p>
          <a:p>
            <a:endParaRPr/>
          </a:p>
          <a:p>
            <a:r>
              <a:t>[Sources]</a:t>
            </a:r>
          </a:p>
          <a:p>
            <a:r>
              <a:t>- Wireframe artifact not yet completed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30DD3-6C3B-C8A1-FC0B-832B6B877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046A8-7DD4-1E79-1E55-E0EEC2A86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24112-D2D5-A88A-BD01-943351C15FEB}"/>
              </a:ext>
            </a:extLst>
          </p:cNvPr>
          <p:cNvSpPr>
            <a:spLocks noGrp="1"/>
          </p:cNvSpPr>
          <p:nvPr>
            <p:ph type="body" idx="1"/>
          </p:nvPr>
        </p:nvSpPr>
        <p:spPr/>
        <p:txBody>
          <a:bodyPr/>
          <a:lstStyle/>
          <a:p>
            <a:r>
              <a:t>Gợi ý trình bày: Đây là slide chờ hoàn thiện. Sau khi có wireframe, thay ba khung bằng ảnh các màn hình chính và trình bày cách giao diện hỗ trợ các Business Rule.</a:t>
            </a:r>
          </a:p>
          <a:p>
            <a:endParaRPr/>
          </a:p>
          <a:p>
            <a:r>
              <a:t>[Sources]</a:t>
            </a:r>
          </a:p>
          <a:p>
            <a:r>
              <a:t>- Wireframe artifact not yet completed</a:t>
            </a:r>
          </a:p>
        </p:txBody>
      </p:sp>
      <p:sp>
        <p:nvSpPr>
          <p:cNvPr id="4" name="Slide Number Placeholder 3">
            <a:extLst>
              <a:ext uri="{FF2B5EF4-FFF2-40B4-BE49-F238E27FC236}">
                <a16:creationId xmlns:a16="http://schemas.microsoft.com/office/drawing/2014/main" id="{C67D86B7-97CA-97E3-859E-6EEC0DD390F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49638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14757-CDF2-B40F-2E19-102C64C06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17AD5-898A-D327-1D0C-44F4EA3BE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E0F96-A6F7-02B2-8B33-526D78CB85C7}"/>
              </a:ext>
            </a:extLst>
          </p:cNvPr>
          <p:cNvSpPr>
            <a:spLocks noGrp="1"/>
          </p:cNvSpPr>
          <p:nvPr>
            <p:ph type="body" idx="1"/>
          </p:nvPr>
        </p:nvSpPr>
        <p:spPr/>
        <p:txBody>
          <a:bodyPr/>
          <a:lstStyle/>
          <a:p>
            <a:r>
              <a:t>Gợi ý trình bày: Đây là slide chờ hoàn thiện. Sau khi có wireframe, thay ba khung bằng ảnh các màn hình chính và trình bày cách giao diện hỗ trợ các Business Rule.</a:t>
            </a:r>
          </a:p>
          <a:p>
            <a:endParaRPr/>
          </a:p>
          <a:p>
            <a:r>
              <a:t>[Sources]</a:t>
            </a:r>
          </a:p>
          <a:p>
            <a:r>
              <a:t>- Wireframe artifact not yet completed</a:t>
            </a:r>
          </a:p>
        </p:txBody>
      </p:sp>
      <p:sp>
        <p:nvSpPr>
          <p:cNvPr id="4" name="Slide Number Placeholder 3">
            <a:extLst>
              <a:ext uri="{FF2B5EF4-FFF2-40B4-BE49-F238E27FC236}">
                <a16:creationId xmlns:a16="http://schemas.microsoft.com/office/drawing/2014/main" id="{FC4B61C1-CCC9-4809-AE73-D7E1A7DE600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19110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A3564-717F-92BA-EE4E-17BE6BF8A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397FF-89D4-6EDC-0E8A-F014BB5B7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D3B9A-8805-D473-4481-10FDAD239F02}"/>
              </a:ext>
            </a:extLst>
          </p:cNvPr>
          <p:cNvSpPr>
            <a:spLocks noGrp="1"/>
          </p:cNvSpPr>
          <p:nvPr>
            <p:ph type="body" idx="1"/>
          </p:nvPr>
        </p:nvSpPr>
        <p:spPr/>
        <p:txBody>
          <a:bodyPr/>
          <a:lstStyle/>
          <a:p>
            <a:r>
              <a:t>Gợi ý trình bày: Đây là slide chờ hoàn thiện. Sau khi có wireframe, thay ba khung bằng ảnh các màn hình chính và trình bày cách giao diện hỗ trợ các Business Rule.</a:t>
            </a:r>
          </a:p>
          <a:p>
            <a:endParaRPr/>
          </a:p>
          <a:p>
            <a:r>
              <a:t>[Sources]</a:t>
            </a:r>
          </a:p>
          <a:p>
            <a:r>
              <a:t>- Wireframe artifact not yet completed</a:t>
            </a:r>
          </a:p>
        </p:txBody>
      </p:sp>
      <p:sp>
        <p:nvSpPr>
          <p:cNvPr id="4" name="Slide Number Placeholder 3">
            <a:extLst>
              <a:ext uri="{FF2B5EF4-FFF2-40B4-BE49-F238E27FC236}">
                <a16:creationId xmlns:a16="http://schemas.microsoft.com/office/drawing/2014/main" id="{25A8CE08-1721-32EB-9AB1-A76112E25D3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979233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2C95F-D7C8-8BBD-85CB-B5C0252A7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127D3-2DEE-1982-BA09-23D31DA32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E0841-D9B9-76AE-0A2F-B228C6360FB1}"/>
              </a:ext>
            </a:extLst>
          </p:cNvPr>
          <p:cNvSpPr>
            <a:spLocks noGrp="1"/>
          </p:cNvSpPr>
          <p:nvPr>
            <p:ph type="body" idx="1"/>
          </p:nvPr>
        </p:nvSpPr>
        <p:spPr/>
        <p:txBody>
          <a:bodyPr/>
          <a:lstStyle/>
          <a:p>
            <a:r>
              <a:t>Gợi ý trình bày: Đây là slide chờ hoàn thiện. Sau khi có wireframe, thay ba khung bằng ảnh các màn hình chính và trình bày cách giao diện hỗ trợ các Business Rule.</a:t>
            </a:r>
          </a:p>
          <a:p>
            <a:endParaRPr/>
          </a:p>
          <a:p>
            <a:r>
              <a:t>[Sources]</a:t>
            </a:r>
          </a:p>
          <a:p>
            <a:r>
              <a:t>- Wireframe artifact not yet completed</a:t>
            </a:r>
          </a:p>
        </p:txBody>
      </p:sp>
      <p:sp>
        <p:nvSpPr>
          <p:cNvPr id="4" name="Slide Number Placeholder 3">
            <a:extLst>
              <a:ext uri="{FF2B5EF4-FFF2-40B4-BE49-F238E27FC236}">
                <a16:creationId xmlns:a16="http://schemas.microsoft.com/office/drawing/2014/main" id="{3105DAA4-CE80-46FC-5A81-267790C399A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603004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3545C-CBF4-96F1-9D58-FEA514825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2DF37-BF49-398F-7CB7-26B09A0AE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8670F-5427-C79D-CE73-8E87A9C177C3}"/>
              </a:ext>
            </a:extLst>
          </p:cNvPr>
          <p:cNvSpPr>
            <a:spLocks noGrp="1"/>
          </p:cNvSpPr>
          <p:nvPr>
            <p:ph type="body" idx="1"/>
          </p:nvPr>
        </p:nvSpPr>
        <p:spPr/>
        <p:txBody>
          <a:bodyPr/>
          <a:lstStyle/>
          <a:p>
            <a:r>
              <a:t>Gợi ý trình bày: Đây là slide chờ hoàn thiện. Sau khi có wireframe, thay ba khung bằng ảnh các màn hình chính và trình bày cách giao diện hỗ trợ các Business Rule.</a:t>
            </a:r>
          </a:p>
          <a:p>
            <a:endParaRPr/>
          </a:p>
          <a:p>
            <a:r>
              <a:t>[Sources]</a:t>
            </a:r>
          </a:p>
          <a:p>
            <a:r>
              <a:t>- Wireframe artifact not yet completed</a:t>
            </a:r>
          </a:p>
        </p:txBody>
      </p:sp>
      <p:sp>
        <p:nvSpPr>
          <p:cNvPr id="4" name="Slide Number Placeholder 3">
            <a:extLst>
              <a:ext uri="{FF2B5EF4-FFF2-40B4-BE49-F238E27FC236}">
                <a16:creationId xmlns:a16="http://schemas.microsoft.com/office/drawing/2014/main" id="{37B22611-2238-12A7-42C4-3EA5628FB0B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02273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Chốt lại project đã liên kết nhu cầu kinh doanh với thiết kế hệ thống. Sau đó mời người nghe đặt câu hỏi.</a:t>
            </a:r>
          </a:p>
          <a:p>
            <a:endParaRPr/>
          </a:p>
          <a:p>
            <a:r>
              <a:t>[Sources]</a:t>
            </a:r>
          </a:p>
          <a:p>
            <a:r>
              <a:t>- User-provided project portfolio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drive.google.com/file/d/13VoSSl9xEnkSVLvPR0rvfTq303RBnOrI/view?usp=sharin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drive.google.com/file/d/13VoSSl9xEnkSVLvPR0rvfTq303RBnOrI/view?usp=sharin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drive.google.com/file/d/13VoSSl9xEnkSVLvPR0rvfTq303RBnOrI/view?usp=shari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drive.google.com/file/d/13VoSSl9xEnkSVLvPR0rvfTq303RBnOrI/view?usp=sharin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drive.google.com/file/d/13VoSSl9xEnkSVLvPR0rvfTq303RBnOrI/view?usp=sharin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figma.com/proto/zj0eHJI9i0ked7dSZaLMmR/%C4%90%C3%ACnh-Trung-K29?node-id=21-5&amp;viewport=294%2C186%2C0.17&amp;t=w0ywKWRqqhRrkOOo-1&amp;scaling=scale-down&amp;content-scaling=fixed&amp;starting-point-node-id=21%3A5&amp;page-id=0%3A1"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76EA75-04FC-4500-B847-243A837FBAF6}"/>
              </a:ext>
            </a:extLst>
          </p:cNvPr>
          <p:cNvSpPr>
            <a:spLocks noGrp="1"/>
          </p:cNvSpPr>
          <p:nvPr/>
        </p:nvSpPr>
        <p:spPr>
          <a:xfrm>
            <a:off x="685800" y="685800"/>
            <a:ext cx="5334000" cy="285750"/>
          </a:xfrm>
          <a:prstGeom prst="rect">
            <a:avLst/>
          </a:prstGeom>
          <a:noFill/>
          <a:ln w="0">
            <a:noFill/>
            <a:prstDash val="solid"/>
          </a:ln>
        </p:spPr>
        <p:txBody>
          <a:bodyPr/>
          <a:lstStyle/>
          <a:p>
            <a:pPr algn="l">
              <a:defRPr sz="1350" b="1" i="0">
                <a:solidFill>
                  <a:srgbClr val="65756B"/>
                </a:solidFill>
              </a:defRPr>
            </a:pPr>
            <a:r>
              <a:rPr lang="en-US" sz="1350" b="1" i="0" dirty="0">
                <a:solidFill>
                  <a:srgbClr val="65756B"/>
                </a:solidFill>
              </a:rPr>
              <a:t>PHÂN TÍCH NGHIỆP VỤ </a:t>
            </a:r>
            <a:r>
              <a:rPr sz="1350" b="1" i="0" dirty="0">
                <a:solidFill>
                  <a:srgbClr val="65756B"/>
                </a:solidFill>
              </a:rPr>
              <a:t>HỆ THỐNG</a:t>
            </a:r>
          </a:p>
        </p:txBody>
      </p:sp>
      <p:sp>
        <p:nvSpPr>
          <p:cNvPr id="3" name="Rectangle 2">
            <a:extLst>
              <a:ext uri="{FF2B5EF4-FFF2-40B4-BE49-F238E27FC236}">
                <a16:creationId xmlns:a16="http://schemas.microsoft.com/office/drawing/2014/main" id="{0AA4C6F8-EB95-43E6-9239-41E4C3EC8957}"/>
              </a:ext>
            </a:extLst>
          </p:cNvPr>
          <p:cNvSpPr>
            <a:spLocks noGrp="1"/>
          </p:cNvSpPr>
          <p:nvPr/>
        </p:nvSpPr>
        <p:spPr>
          <a:xfrm>
            <a:off x="685800" y="1257300"/>
            <a:ext cx="6572250" cy="1428750"/>
          </a:xfrm>
          <a:prstGeom prst="rect">
            <a:avLst/>
          </a:prstGeom>
          <a:noFill/>
          <a:ln w="0">
            <a:noFill/>
            <a:prstDash val="solid"/>
          </a:ln>
        </p:spPr>
        <p:txBody>
          <a:bodyPr/>
          <a:lstStyle/>
          <a:p>
            <a:pPr algn="l">
              <a:defRPr sz="4050" b="1" i="0">
                <a:solidFill>
                  <a:srgbClr val="193B2B"/>
                </a:solidFill>
              </a:defRPr>
            </a:pPr>
            <a:r>
              <a:rPr sz="4050" b="1" i="0" dirty="0">
                <a:solidFill>
                  <a:srgbClr val="193B2B"/>
                </a:solidFill>
              </a:rPr>
              <a:t>Digital Account</a:t>
            </a:r>
          </a:p>
          <a:p>
            <a:pPr algn="l">
              <a:defRPr sz="4050" b="1" i="0">
                <a:solidFill>
                  <a:srgbClr val="193B2B"/>
                </a:solidFill>
              </a:defRPr>
            </a:pPr>
            <a:r>
              <a:rPr sz="4050" b="1" i="0" dirty="0">
                <a:solidFill>
                  <a:srgbClr val="193B2B"/>
                </a:solidFill>
              </a:rPr>
              <a:t>Opening with </a:t>
            </a:r>
            <a:r>
              <a:rPr sz="4050" b="1" i="0" dirty="0" err="1">
                <a:solidFill>
                  <a:srgbClr val="193B2B"/>
                </a:solidFill>
              </a:rPr>
              <a:t>eKYC</a:t>
            </a:r>
            <a:endParaRPr sz="4050" b="1" i="0" dirty="0">
              <a:solidFill>
                <a:srgbClr val="193B2B"/>
              </a:solidFill>
            </a:endParaRPr>
          </a:p>
        </p:txBody>
      </p:sp>
      <p:sp>
        <p:nvSpPr>
          <p:cNvPr id="4" name="Rectangle 3">
            <a:extLst>
              <a:ext uri="{FF2B5EF4-FFF2-40B4-BE49-F238E27FC236}">
                <a16:creationId xmlns:a16="http://schemas.microsoft.com/office/drawing/2014/main" id="{EF8A57DD-62FC-43AA-BEAA-0DBCEFE80932}"/>
              </a:ext>
            </a:extLst>
          </p:cNvPr>
          <p:cNvSpPr>
            <a:spLocks noGrp="1"/>
          </p:cNvSpPr>
          <p:nvPr/>
        </p:nvSpPr>
        <p:spPr>
          <a:xfrm>
            <a:off x="723900" y="2857500"/>
            <a:ext cx="5905500" cy="571500"/>
          </a:xfrm>
          <a:prstGeom prst="rect">
            <a:avLst/>
          </a:prstGeom>
          <a:noFill/>
          <a:ln w="0">
            <a:noFill/>
            <a:prstDash val="solid"/>
          </a:ln>
        </p:spPr>
        <p:txBody>
          <a:bodyPr/>
          <a:lstStyle/>
          <a:p>
            <a:pPr algn="l">
              <a:defRPr sz="1800" b="0" i="0">
                <a:solidFill>
                  <a:srgbClr val="2E5B3A"/>
                </a:solidFill>
              </a:defRPr>
            </a:pPr>
            <a:r>
              <a:rPr sz="1800" b="0" i="0">
                <a:solidFill>
                  <a:srgbClr val="2E5B3A"/>
                </a:solidFill>
              </a:rPr>
              <a:t>Mở tài khoản ngân hàng online có xác thực eKYC</a:t>
            </a:r>
          </a:p>
        </p:txBody>
      </p:sp>
      <p:sp>
        <p:nvSpPr>
          <p:cNvPr id="5" name="Straight Connector 4">
            <a:extLst>
              <a:ext uri="{FF2B5EF4-FFF2-40B4-BE49-F238E27FC236}">
                <a16:creationId xmlns:a16="http://schemas.microsoft.com/office/drawing/2014/main" id="{FBE6C504-9902-4EAC-A7B1-8719C2FE2942}"/>
              </a:ext>
            </a:extLst>
          </p:cNvPr>
          <p:cNvSpPr>
            <a:spLocks noGrp="1"/>
          </p:cNvSpPr>
          <p:nvPr/>
        </p:nvSpPr>
        <p:spPr>
          <a:xfrm>
            <a:off x="723900" y="3638550"/>
            <a:ext cx="3143250" cy="9525"/>
          </a:xfrm>
          <a:prstGeom prst="line">
            <a:avLst/>
          </a:prstGeom>
          <a:noFill/>
          <a:ln w="9525">
            <a:solidFill>
              <a:srgbClr val="6B9A6E"/>
            </a:solidFill>
            <a:prstDash val="solid"/>
          </a:ln>
        </p:spPr>
      </p:sp>
      <p:sp>
        <p:nvSpPr>
          <p:cNvPr id="6" name="Rectangle 5">
            <a:extLst>
              <a:ext uri="{FF2B5EF4-FFF2-40B4-BE49-F238E27FC236}">
                <a16:creationId xmlns:a16="http://schemas.microsoft.com/office/drawing/2014/main" id="{4A29CB6C-0D44-4D0D-8DAF-9554C3F87C61}"/>
              </a:ext>
            </a:extLst>
          </p:cNvPr>
          <p:cNvSpPr>
            <a:spLocks noGrp="1"/>
          </p:cNvSpPr>
          <p:nvPr/>
        </p:nvSpPr>
        <p:spPr>
          <a:xfrm>
            <a:off x="723900" y="3848100"/>
            <a:ext cx="4000500" cy="3238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IT BUSINESS ANALYST PORTFOLIO</a:t>
            </a:r>
          </a:p>
        </p:txBody>
      </p:sp>
      <p:sp>
        <p:nvSpPr>
          <p:cNvPr id="8" name="Rectangle 7">
            <a:extLst>
              <a:ext uri="{FF2B5EF4-FFF2-40B4-BE49-F238E27FC236}">
                <a16:creationId xmlns:a16="http://schemas.microsoft.com/office/drawing/2014/main" id="{AF7A7DD1-EE74-41CF-8AB7-32FF81944241}"/>
              </a:ext>
            </a:extLst>
          </p:cNvPr>
          <p:cNvSpPr>
            <a:spLocks noGrp="1"/>
          </p:cNvSpPr>
          <p:nvPr/>
        </p:nvSpPr>
        <p:spPr>
          <a:xfrm>
            <a:off x="8743950" y="1600200"/>
            <a:ext cx="2514600" cy="285750"/>
          </a:xfrm>
          <a:prstGeom prst="rect">
            <a:avLst/>
          </a:prstGeom>
          <a:noFill/>
          <a:ln w="0">
            <a:noFill/>
            <a:prstDash val="solid"/>
          </a:ln>
        </p:spPr>
        <p:txBody>
          <a:bodyPr/>
          <a:lstStyle/>
          <a:p>
            <a:pPr algn="ctr">
              <a:defRPr sz="1500" b="1" i="0">
                <a:solidFill>
                  <a:srgbClr val="735B14"/>
                </a:solidFill>
              </a:defRPr>
            </a:pPr>
            <a:endParaRPr sz="1500" b="1" i="0" dirty="0">
              <a:solidFill>
                <a:srgbClr val="735B14"/>
              </a:solidFill>
            </a:endParaRPr>
          </a:p>
        </p:txBody>
      </p:sp>
      <p:sp>
        <p:nvSpPr>
          <p:cNvPr id="9" name="Rectangle 8">
            <a:extLst>
              <a:ext uri="{FF2B5EF4-FFF2-40B4-BE49-F238E27FC236}">
                <a16:creationId xmlns:a16="http://schemas.microsoft.com/office/drawing/2014/main" id="{A31EB9CE-0524-477E-9F1C-8EBA18899BF0}"/>
              </a:ext>
            </a:extLst>
          </p:cNvPr>
          <p:cNvSpPr>
            <a:spLocks noGrp="1"/>
          </p:cNvSpPr>
          <p:nvPr/>
        </p:nvSpPr>
        <p:spPr>
          <a:xfrm>
            <a:off x="8820150" y="1981200"/>
            <a:ext cx="2362200" cy="2400300"/>
          </a:xfrm>
          <a:prstGeom prst="rect">
            <a:avLst/>
          </a:prstGeom>
          <a:noFill/>
          <a:ln w="0">
            <a:noFill/>
            <a:prstDash val="solid"/>
          </a:ln>
        </p:spPr>
        <p:txBody>
          <a:bodyPr/>
          <a:lstStyle/>
          <a:p>
            <a:pPr algn="ctr">
              <a:defRPr sz="1200" b="0" i="0">
                <a:solidFill>
                  <a:srgbClr val="735B14"/>
                </a:solidFill>
              </a:defRPr>
            </a:pPr>
            <a:endParaRPr sz="1200" b="0" i="0" dirty="0">
              <a:solidFill>
                <a:srgbClr val="735B14"/>
              </a:solidFill>
            </a:endParaRPr>
          </a:p>
        </p:txBody>
      </p:sp>
      <p:sp>
        <p:nvSpPr>
          <p:cNvPr id="10" name="Rectangle 9">
            <a:extLst>
              <a:ext uri="{FF2B5EF4-FFF2-40B4-BE49-F238E27FC236}">
                <a16:creationId xmlns:a16="http://schemas.microsoft.com/office/drawing/2014/main" id="{C5D497F6-01FD-4628-8EC7-A15DB0C4047F}"/>
              </a:ext>
            </a:extLst>
          </p:cNvPr>
          <p:cNvSpPr>
            <a:spLocks noGrp="1"/>
          </p:cNvSpPr>
          <p:nvPr/>
        </p:nvSpPr>
        <p:spPr>
          <a:xfrm>
            <a:off x="723900" y="5619750"/>
            <a:ext cx="4953000" cy="285750"/>
          </a:xfrm>
          <a:prstGeom prst="rect">
            <a:avLst/>
          </a:prstGeom>
          <a:noFill/>
          <a:ln w="0">
            <a:noFill/>
            <a:prstDash val="solid"/>
          </a:ln>
        </p:spPr>
        <p:txBody>
          <a:bodyPr/>
          <a:lstStyle/>
          <a:p>
            <a:pPr algn="l">
              <a:defRPr sz="1500" b="1" i="0">
                <a:solidFill>
                  <a:srgbClr val="183127"/>
                </a:solidFill>
              </a:defRPr>
            </a:pPr>
            <a:r>
              <a:rPr sz="1500" b="1" i="0" dirty="0" err="1">
                <a:solidFill>
                  <a:srgbClr val="183127"/>
                </a:solidFill>
              </a:rPr>
              <a:t>Thực</a:t>
            </a:r>
            <a:r>
              <a:rPr sz="1500" b="1" i="0" dirty="0">
                <a:solidFill>
                  <a:srgbClr val="183127"/>
                </a:solidFill>
              </a:rPr>
              <a:t> </a:t>
            </a:r>
            <a:r>
              <a:rPr sz="1500" b="1" i="0" dirty="0" err="1">
                <a:solidFill>
                  <a:srgbClr val="183127"/>
                </a:solidFill>
              </a:rPr>
              <a:t>hiện</a:t>
            </a:r>
            <a:r>
              <a:rPr sz="1500" b="1" i="0" dirty="0">
                <a:solidFill>
                  <a:srgbClr val="183127"/>
                </a:solidFill>
              </a:rPr>
              <a:t> </a:t>
            </a:r>
            <a:r>
              <a:rPr sz="1500" b="1" i="0" dirty="0" err="1">
                <a:solidFill>
                  <a:srgbClr val="183127"/>
                </a:solidFill>
              </a:rPr>
              <a:t>bởi</a:t>
            </a:r>
            <a:r>
              <a:rPr sz="1500" b="1" i="0" dirty="0">
                <a:solidFill>
                  <a:srgbClr val="183127"/>
                </a:solidFill>
              </a:rPr>
              <a:t>:</a:t>
            </a:r>
            <a:r>
              <a:rPr lang="en-US" sz="1500" b="1" i="0" dirty="0">
                <a:solidFill>
                  <a:srgbClr val="183127"/>
                </a:solidFill>
              </a:rPr>
              <a:t> Đào Đình Trung</a:t>
            </a:r>
            <a:endParaRPr sz="1500" b="1" i="0" dirty="0">
              <a:solidFill>
                <a:srgbClr val="183127"/>
              </a:solidFill>
            </a:endParaRPr>
          </a:p>
        </p:txBody>
      </p:sp>
      <p:sp>
        <p:nvSpPr>
          <p:cNvPr id="11" name="Rectangle 10">
            <a:extLst>
              <a:ext uri="{FF2B5EF4-FFF2-40B4-BE49-F238E27FC236}">
                <a16:creationId xmlns:a16="http://schemas.microsoft.com/office/drawing/2014/main" id="{7590BDBA-9E76-4DB7-A129-A131177B89D8}"/>
              </a:ext>
            </a:extLst>
          </p:cNvPr>
          <p:cNvSpPr>
            <a:spLocks noGrp="1"/>
          </p:cNvSpPr>
          <p:nvPr/>
        </p:nvSpPr>
        <p:spPr>
          <a:xfrm>
            <a:off x="723900" y="6038850"/>
            <a:ext cx="3269602" cy="266700"/>
          </a:xfrm>
          <a:prstGeom prst="rect">
            <a:avLst/>
          </a:prstGeom>
          <a:noFill/>
          <a:ln w="0">
            <a:noFill/>
            <a:prstDash val="solid"/>
          </a:ln>
        </p:spPr>
        <p:txBody>
          <a:bodyPr/>
          <a:lstStyle/>
          <a:p>
            <a:pPr algn="l">
              <a:defRPr sz="1200" b="0" i="0">
                <a:solidFill>
                  <a:srgbClr val="65756B"/>
                </a:solidFill>
              </a:defRPr>
            </a:pPr>
            <a:r>
              <a:rPr lang="en-US" sz="1200" dirty="0">
                <a:solidFill>
                  <a:srgbClr val="65756B"/>
                </a:solidFill>
              </a:rPr>
              <a:t>dinhtrungg3012@gmail.com</a:t>
            </a:r>
            <a:r>
              <a:rPr sz="1200" b="0" i="0" dirty="0">
                <a:solidFill>
                  <a:srgbClr val="65756B"/>
                </a:solidFill>
              </a:rPr>
              <a:t>  |  </a:t>
            </a:r>
            <a:r>
              <a:rPr lang="en-US" sz="1200" b="0" i="0" dirty="0">
                <a:solidFill>
                  <a:srgbClr val="65756B"/>
                </a:solidFill>
              </a:rPr>
              <a:t>0982970875</a:t>
            </a:r>
            <a:endParaRPr sz="1200" b="0" i="0" dirty="0">
              <a:solidFill>
                <a:srgbClr val="65756B"/>
              </a:solidFill>
            </a:endParaRPr>
          </a:p>
        </p:txBody>
      </p:sp>
      <p:pic>
        <p:nvPicPr>
          <p:cNvPr id="16" name="Picture 15">
            <a:extLst>
              <a:ext uri="{FF2B5EF4-FFF2-40B4-BE49-F238E27FC236}">
                <a16:creationId xmlns:a16="http://schemas.microsoft.com/office/drawing/2014/main" id="{7A04EB29-9EC6-D555-6F66-0277AFFD43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8319" y="310037"/>
            <a:ext cx="3061996" cy="6237926"/>
          </a:xfrm>
          <a:prstGeom prst="round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00004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F43AB53-6DDE-452D-B86E-18DC891F2CF5}"/>
              </a:ext>
            </a:extLst>
          </p:cNvPr>
          <p:cNvSpPr>
            <a:spLocks noGrp="1"/>
          </p:cNvSpPr>
          <p:nvPr/>
        </p:nvSpPr>
        <p:spPr>
          <a:xfrm>
            <a:off x="666750" y="571500"/>
            <a:ext cx="4000500" cy="666750"/>
          </a:xfrm>
          <a:prstGeom prst="rect">
            <a:avLst/>
          </a:prstGeom>
          <a:noFill/>
          <a:ln w="0">
            <a:noFill/>
            <a:prstDash val="solid"/>
          </a:ln>
        </p:spPr>
        <p:txBody>
          <a:bodyPr/>
          <a:lstStyle/>
          <a:p>
            <a:pPr algn="l">
              <a:defRPr sz="3600" b="1" i="0">
                <a:solidFill>
                  <a:srgbClr val="193B2B"/>
                </a:solidFill>
              </a:defRPr>
            </a:pPr>
            <a:r>
              <a:rPr sz="3600" b="1" i="0">
                <a:solidFill>
                  <a:srgbClr val="193B2B"/>
                </a:solidFill>
              </a:rPr>
              <a:t>Nội dung</a:t>
            </a:r>
          </a:p>
        </p:txBody>
      </p:sp>
      <p:sp>
        <p:nvSpPr>
          <p:cNvPr id="2" name="Rectangle 1">
            <a:extLst>
              <a:ext uri="{FF2B5EF4-FFF2-40B4-BE49-F238E27FC236}">
                <a16:creationId xmlns:a16="http://schemas.microsoft.com/office/drawing/2014/main" id="{D95C1170-570E-4CD4-9685-68AE8CD78936}"/>
              </a:ext>
            </a:extLst>
          </p:cNvPr>
          <p:cNvSpPr>
            <a:spLocks noGrp="1"/>
          </p:cNvSpPr>
          <p:nvPr/>
        </p:nvSpPr>
        <p:spPr>
          <a:xfrm>
            <a:off x="762000" y="1714500"/>
            <a:ext cx="952500" cy="666750"/>
          </a:xfrm>
          <a:prstGeom prst="rect">
            <a:avLst/>
          </a:prstGeom>
          <a:noFill/>
          <a:ln w="0">
            <a:noFill/>
            <a:prstDash val="solid"/>
          </a:ln>
        </p:spPr>
        <p:txBody>
          <a:bodyPr/>
          <a:lstStyle/>
          <a:p>
            <a:pPr algn="l">
              <a:defRPr sz="3900" b="1" i="0">
                <a:solidFill>
                  <a:srgbClr val="A7C7A4"/>
                </a:solidFill>
              </a:defRPr>
            </a:pPr>
            <a:r>
              <a:rPr sz="3900" b="1" i="0">
                <a:solidFill>
                  <a:srgbClr val="A7C7A4"/>
                </a:solidFill>
              </a:rPr>
              <a:t>01</a:t>
            </a:r>
          </a:p>
        </p:txBody>
      </p:sp>
      <p:sp>
        <p:nvSpPr>
          <p:cNvPr id="3" name="Rectangle 2">
            <a:extLst>
              <a:ext uri="{FF2B5EF4-FFF2-40B4-BE49-F238E27FC236}">
                <a16:creationId xmlns:a16="http://schemas.microsoft.com/office/drawing/2014/main" id="{28841AA8-22A4-4A94-830E-2FF6202FA088}"/>
              </a:ext>
            </a:extLst>
          </p:cNvPr>
          <p:cNvSpPr>
            <a:spLocks noGrp="1"/>
          </p:cNvSpPr>
          <p:nvPr/>
        </p:nvSpPr>
        <p:spPr>
          <a:xfrm>
            <a:off x="762000" y="2381250"/>
            <a:ext cx="2667000" cy="342900"/>
          </a:xfrm>
          <a:prstGeom prst="rect">
            <a:avLst/>
          </a:prstGeom>
          <a:noFill/>
          <a:ln w="0">
            <a:noFill/>
            <a:prstDash val="solid"/>
          </a:ln>
        </p:spPr>
        <p:txBody>
          <a:bodyPr/>
          <a:lstStyle/>
          <a:p>
            <a:pPr algn="l">
              <a:defRPr sz="1950" b="1" i="0">
                <a:solidFill>
                  <a:srgbClr val="2E5B3A"/>
                </a:solidFill>
              </a:defRPr>
            </a:pPr>
            <a:r>
              <a:rPr sz="1950" b="1" i="0">
                <a:solidFill>
                  <a:srgbClr val="2E5B3A"/>
                </a:solidFill>
              </a:rPr>
              <a:t>Xác định nhu cầu</a:t>
            </a:r>
          </a:p>
        </p:txBody>
      </p:sp>
      <p:sp>
        <p:nvSpPr>
          <p:cNvPr id="4" name="Rectangle 3">
            <a:extLst>
              <a:ext uri="{FF2B5EF4-FFF2-40B4-BE49-F238E27FC236}">
                <a16:creationId xmlns:a16="http://schemas.microsoft.com/office/drawing/2014/main" id="{D8943B0C-A79B-405A-8E47-B889C9B3AE62}"/>
              </a:ext>
            </a:extLst>
          </p:cNvPr>
          <p:cNvSpPr>
            <a:spLocks noGrp="1"/>
          </p:cNvSpPr>
          <p:nvPr/>
        </p:nvSpPr>
        <p:spPr>
          <a:xfrm>
            <a:off x="762000" y="290512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5" name="Rectangle 4">
            <a:extLst>
              <a:ext uri="{FF2B5EF4-FFF2-40B4-BE49-F238E27FC236}">
                <a16:creationId xmlns:a16="http://schemas.microsoft.com/office/drawing/2014/main" id="{FC292B8F-08D5-49A8-9859-2BC94B33C972}"/>
              </a:ext>
            </a:extLst>
          </p:cNvPr>
          <p:cNvSpPr>
            <a:spLocks noGrp="1"/>
          </p:cNvSpPr>
          <p:nvPr/>
        </p:nvSpPr>
        <p:spPr>
          <a:xfrm>
            <a:off x="1028700" y="290512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Bối cảnh và vấn đề</a:t>
            </a:r>
          </a:p>
        </p:txBody>
      </p:sp>
      <p:sp>
        <p:nvSpPr>
          <p:cNvPr id="6" name="Rectangle 5">
            <a:extLst>
              <a:ext uri="{FF2B5EF4-FFF2-40B4-BE49-F238E27FC236}">
                <a16:creationId xmlns:a16="http://schemas.microsoft.com/office/drawing/2014/main" id="{8A542B38-B4A2-4201-98BD-78927EA98B8D}"/>
              </a:ext>
            </a:extLst>
          </p:cNvPr>
          <p:cNvSpPr>
            <a:spLocks noGrp="1"/>
          </p:cNvSpPr>
          <p:nvPr/>
        </p:nvSpPr>
        <p:spPr>
          <a:xfrm>
            <a:off x="762000" y="326707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7" name="Rectangle 6">
            <a:extLst>
              <a:ext uri="{FF2B5EF4-FFF2-40B4-BE49-F238E27FC236}">
                <a16:creationId xmlns:a16="http://schemas.microsoft.com/office/drawing/2014/main" id="{4F34F76F-1895-4DEC-A87B-7D85711C771A}"/>
              </a:ext>
            </a:extLst>
          </p:cNvPr>
          <p:cNvSpPr>
            <a:spLocks noGrp="1"/>
          </p:cNvSpPr>
          <p:nvPr/>
        </p:nvSpPr>
        <p:spPr>
          <a:xfrm>
            <a:off x="1028700" y="326707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BACCM, Stakeholder</a:t>
            </a:r>
          </a:p>
        </p:txBody>
      </p:sp>
      <p:sp>
        <p:nvSpPr>
          <p:cNvPr id="8" name="Rectangle 7">
            <a:extLst>
              <a:ext uri="{FF2B5EF4-FFF2-40B4-BE49-F238E27FC236}">
                <a16:creationId xmlns:a16="http://schemas.microsoft.com/office/drawing/2014/main" id="{2D994AD8-4801-4A9C-BDD2-5FBFB44DC5BE}"/>
              </a:ext>
            </a:extLst>
          </p:cNvPr>
          <p:cNvSpPr>
            <a:spLocks noGrp="1"/>
          </p:cNvSpPr>
          <p:nvPr/>
        </p:nvSpPr>
        <p:spPr>
          <a:xfrm>
            <a:off x="762000" y="362902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9" name="Rectangle 8">
            <a:extLst>
              <a:ext uri="{FF2B5EF4-FFF2-40B4-BE49-F238E27FC236}">
                <a16:creationId xmlns:a16="http://schemas.microsoft.com/office/drawing/2014/main" id="{9B65C069-C364-4CDC-AA3B-87B141C59411}"/>
              </a:ext>
            </a:extLst>
          </p:cNvPr>
          <p:cNvSpPr>
            <a:spLocks noGrp="1"/>
          </p:cNvSpPr>
          <p:nvPr/>
        </p:nvSpPr>
        <p:spPr>
          <a:xfrm>
            <a:off x="1028700" y="362902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Scope và Business Rules</a:t>
            </a:r>
          </a:p>
        </p:txBody>
      </p:sp>
      <p:sp>
        <p:nvSpPr>
          <p:cNvPr id="10" name="Rectangle 9">
            <a:extLst>
              <a:ext uri="{FF2B5EF4-FFF2-40B4-BE49-F238E27FC236}">
                <a16:creationId xmlns:a16="http://schemas.microsoft.com/office/drawing/2014/main" id="{5BB7BE30-351A-48D5-BF28-8BA836C60E1B}"/>
              </a:ext>
            </a:extLst>
          </p:cNvPr>
          <p:cNvSpPr>
            <a:spLocks noGrp="1"/>
          </p:cNvSpPr>
          <p:nvPr/>
        </p:nvSpPr>
        <p:spPr>
          <a:xfrm>
            <a:off x="762000" y="399097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11" name="Rectangle 10">
            <a:extLst>
              <a:ext uri="{FF2B5EF4-FFF2-40B4-BE49-F238E27FC236}">
                <a16:creationId xmlns:a16="http://schemas.microsoft.com/office/drawing/2014/main" id="{64365B66-F8C7-439B-ADB1-3D1644B2A455}"/>
              </a:ext>
            </a:extLst>
          </p:cNvPr>
          <p:cNvSpPr>
            <a:spLocks noGrp="1"/>
          </p:cNvSpPr>
          <p:nvPr/>
        </p:nvSpPr>
        <p:spPr>
          <a:xfrm>
            <a:off x="1028700" y="399097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User Story Map</a:t>
            </a:r>
          </a:p>
        </p:txBody>
      </p:sp>
      <p:sp>
        <p:nvSpPr>
          <p:cNvPr id="12" name="Rectangle 11">
            <a:extLst>
              <a:ext uri="{FF2B5EF4-FFF2-40B4-BE49-F238E27FC236}">
                <a16:creationId xmlns:a16="http://schemas.microsoft.com/office/drawing/2014/main" id="{8D44E55D-C2E6-49BA-8EB8-30824C31B5F1}"/>
              </a:ext>
            </a:extLst>
          </p:cNvPr>
          <p:cNvSpPr>
            <a:spLocks noGrp="1"/>
          </p:cNvSpPr>
          <p:nvPr/>
        </p:nvSpPr>
        <p:spPr>
          <a:xfrm>
            <a:off x="4381500" y="1714500"/>
            <a:ext cx="952500" cy="666750"/>
          </a:xfrm>
          <a:prstGeom prst="rect">
            <a:avLst/>
          </a:prstGeom>
          <a:noFill/>
          <a:ln w="0">
            <a:noFill/>
            <a:prstDash val="solid"/>
          </a:ln>
        </p:spPr>
        <p:txBody>
          <a:bodyPr/>
          <a:lstStyle/>
          <a:p>
            <a:pPr algn="l">
              <a:defRPr sz="3900" b="1" i="0">
                <a:solidFill>
                  <a:srgbClr val="A7C7A4"/>
                </a:solidFill>
              </a:defRPr>
            </a:pPr>
            <a:r>
              <a:rPr sz="3900" b="1" i="0">
                <a:solidFill>
                  <a:srgbClr val="A7C7A4"/>
                </a:solidFill>
              </a:rPr>
              <a:t>02</a:t>
            </a:r>
          </a:p>
        </p:txBody>
      </p:sp>
      <p:sp>
        <p:nvSpPr>
          <p:cNvPr id="13" name="Rectangle 12">
            <a:extLst>
              <a:ext uri="{FF2B5EF4-FFF2-40B4-BE49-F238E27FC236}">
                <a16:creationId xmlns:a16="http://schemas.microsoft.com/office/drawing/2014/main" id="{90246879-2C4A-44CF-9E2D-CB4C4C5A7D16}"/>
              </a:ext>
            </a:extLst>
          </p:cNvPr>
          <p:cNvSpPr>
            <a:spLocks noGrp="1"/>
          </p:cNvSpPr>
          <p:nvPr/>
        </p:nvSpPr>
        <p:spPr>
          <a:xfrm>
            <a:off x="4381500" y="2381250"/>
            <a:ext cx="2952750" cy="342900"/>
          </a:xfrm>
          <a:prstGeom prst="rect">
            <a:avLst/>
          </a:prstGeom>
          <a:noFill/>
          <a:ln w="0">
            <a:noFill/>
            <a:prstDash val="solid"/>
          </a:ln>
        </p:spPr>
        <p:txBody>
          <a:bodyPr/>
          <a:lstStyle/>
          <a:p>
            <a:pPr algn="l">
              <a:defRPr sz="1950" b="1" i="0">
                <a:solidFill>
                  <a:srgbClr val="2E5B3A"/>
                </a:solidFill>
              </a:defRPr>
            </a:pPr>
            <a:r>
              <a:rPr sz="1950" b="1" i="0">
                <a:solidFill>
                  <a:srgbClr val="2E5B3A"/>
                </a:solidFill>
              </a:rPr>
              <a:t>Quy trình nghiệp vụ</a:t>
            </a:r>
          </a:p>
        </p:txBody>
      </p:sp>
      <p:sp>
        <p:nvSpPr>
          <p:cNvPr id="14" name="Rectangle 13">
            <a:extLst>
              <a:ext uri="{FF2B5EF4-FFF2-40B4-BE49-F238E27FC236}">
                <a16:creationId xmlns:a16="http://schemas.microsoft.com/office/drawing/2014/main" id="{FF0E7E00-C023-443E-ABA3-ADEC686EC0EA}"/>
              </a:ext>
            </a:extLst>
          </p:cNvPr>
          <p:cNvSpPr>
            <a:spLocks noGrp="1"/>
          </p:cNvSpPr>
          <p:nvPr/>
        </p:nvSpPr>
        <p:spPr>
          <a:xfrm>
            <a:off x="4381500" y="290512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15" name="Rectangle 14">
            <a:extLst>
              <a:ext uri="{FF2B5EF4-FFF2-40B4-BE49-F238E27FC236}">
                <a16:creationId xmlns:a16="http://schemas.microsoft.com/office/drawing/2014/main" id="{072392FD-7E90-46A0-81E9-48D4175138CC}"/>
              </a:ext>
            </a:extLst>
          </p:cNvPr>
          <p:cNvSpPr>
            <a:spLocks noGrp="1"/>
          </p:cNvSpPr>
          <p:nvPr/>
        </p:nvSpPr>
        <p:spPr>
          <a:xfrm>
            <a:off x="4648200" y="290512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BPMN To-Be</a:t>
            </a:r>
          </a:p>
        </p:txBody>
      </p:sp>
      <p:sp>
        <p:nvSpPr>
          <p:cNvPr id="16" name="Rectangle 15">
            <a:extLst>
              <a:ext uri="{FF2B5EF4-FFF2-40B4-BE49-F238E27FC236}">
                <a16:creationId xmlns:a16="http://schemas.microsoft.com/office/drawing/2014/main" id="{081B34A5-F986-4CAB-AE13-9812841776DA}"/>
              </a:ext>
            </a:extLst>
          </p:cNvPr>
          <p:cNvSpPr>
            <a:spLocks noGrp="1"/>
          </p:cNvSpPr>
          <p:nvPr/>
        </p:nvSpPr>
        <p:spPr>
          <a:xfrm>
            <a:off x="4381500" y="326707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17" name="Rectangle 16">
            <a:extLst>
              <a:ext uri="{FF2B5EF4-FFF2-40B4-BE49-F238E27FC236}">
                <a16:creationId xmlns:a16="http://schemas.microsoft.com/office/drawing/2014/main" id="{3D1FA1B0-0E9F-44DD-95BB-CA688C9829A5}"/>
              </a:ext>
            </a:extLst>
          </p:cNvPr>
          <p:cNvSpPr>
            <a:spLocks noGrp="1"/>
          </p:cNvSpPr>
          <p:nvPr/>
        </p:nvSpPr>
        <p:spPr>
          <a:xfrm>
            <a:off x="4648200" y="326707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BFD</a:t>
            </a:r>
          </a:p>
        </p:txBody>
      </p:sp>
      <p:sp>
        <p:nvSpPr>
          <p:cNvPr id="18" name="Rectangle 17">
            <a:extLst>
              <a:ext uri="{FF2B5EF4-FFF2-40B4-BE49-F238E27FC236}">
                <a16:creationId xmlns:a16="http://schemas.microsoft.com/office/drawing/2014/main" id="{D3CB7AA0-1E4B-401A-B57C-2526D0601526}"/>
              </a:ext>
            </a:extLst>
          </p:cNvPr>
          <p:cNvSpPr>
            <a:spLocks noGrp="1"/>
          </p:cNvSpPr>
          <p:nvPr/>
        </p:nvSpPr>
        <p:spPr>
          <a:xfrm>
            <a:off x="4381500" y="362902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19" name="Rectangle 18">
            <a:extLst>
              <a:ext uri="{FF2B5EF4-FFF2-40B4-BE49-F238E27FC236}">
                <a16:creationId xmlns:a16="http://schemas.microsoft.com/office/drawing/2014/main" id="{DF6ED054-5953-43AD-9D6D-260ECF1A2C5C}"/>
              </a:ext>
            </a:extLst>
          </p:cNvPr>
          <p:cNvSpPr>
            <a:spLocks noGrp="1"/>
          </p:cNvSpPr>
          <p:nvPr/>
        </p:nvSpPr>
        <p:spPr>
          <a:xfrm>
            <a:off x="4648200" y="362902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Use Case Diagram</a:t>
            </a:r>
          </a:p>
        </p:txBody>
      </p:sp>
      <p:sp>
        <p:nvSpPr>
          <p:cNvPr id="20" name="Rectangle 19">
            <a:extLst>
              <a:ext uri="{FF2B5EF4-FFF2-40B4-BE49-F238E27FC236}">
                <a16:creationId xmlns:a16="http://schemas.microsoft.com/office/drawing/2014/main" id="{D6DA0624-1ECF-4512-AC7E-AE779073573F}"/>
              </a:ext>
            </a:extLst>
          </p:cNvPr>
          <p:cNvSpPr>
            <a:spLocks noGrp="1"/>
          </p:cNvSpPr>
          <p:nvPr/>
        </p:nvSpPr>
        <p:spPr>
          <a:xfrm>
            <a:off x="4381500" y="399097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21" name="Rectangle 20">
            <a:extLst>
              <a:ext uri="{FF2B5EF4-FFF2-40B4-BE49-F238E27FC236}">
                <a16:creationId xmlns:a16="http://schemas.microsoft.com/office/drawing/2014/main" id="{96DA76BA-A286-410F-9814-40BD575C9518}"/>
              </a:ext>
            </a:extLst>
          </p:cNvPr>
          <p:cNvSpPr>
            <a:spLocks noGrp="1"/>
          </p:cNvSpPr>
          <p:nvPr/>
        </p:nvSpPr>
        <p:spPr>
          <a:xfrm>
            <a:off x="4648200" y="3990975"/>
            <a:ext cx="259080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Activity &amp; Sequence</a:t>
            </a:r>
          </a:p>
        </p:txBody>
      </p:sp>
      <p:sp>
        <p:nvSpPr>
          <p:cNvPr id="22" name="Rectangle 21">
            <a:extLst>
              <a:ext uri="{FF2B5EF4-FFF2-40B4-BE49-F238E27FC236}">
                <a16:creationId xmlns:a16="http://schemas.microsoft.com/office/drawing/2014/main" id="{8AEA9D30-D9F3-41E8-B9D1-CEC21D8F9BD4}"/>
              </a:ext>
            </a:extLst>
          </p:cNvPr>
          <p:cNvSpPr>
            <a:spLocks noGrp="1"/>
          </p:cNvSpPr>
          <p:nvPr/>
        </p:nvSpPr>
        <p:spPr>
          <a:xfrm>
            <a:off x="8001000" y="1714500"/>
            <a:ext cx="952500" cy="666750"/>
          </a:xfrm>
          <a:prstGeom prst="rect">
            <a:avLst/>
          </a:prstGeom>
          <a:noFill/>
          <a:ln w="0">
            <a:noFill/>
            <a:prstDash val="solid"/>
          </a:ln>
        </p:spPr>
        <p:txBody>
          <a:bodyPr/>
          <a:lstStyle/>
          <a:p>
            <a:pPr algn="l">
              <a:defRPr sz="3900" b="1" i="0">
                <a:solidFill>
                  <a:srgbClr val="A7C7A4"/>
                </a:solidFill>
              </a:defRPr>
            </a:pPr>
            <a:r>
              <a:rPr sz="3900" b="1" i="0">
                <a:solidFill>
                  <a:srgbClr val="A7C7A4"/>
                </a:solidFill>
              </a:rPr>
              <a:t>03</a:t>
            </a:r>
          </a:p>
        </p:txBody>
      </p:sp>
      <p:sp>
        <p:nvSpPr>
          <p:cNvPr id="23" name="Rectangle 22">
            <a:extLst>
              <a:ext uri="{FF2B5EF4-FFF2-40B4-BE49-F238E27FC236}">
                <a16:creationId xmlns:a16="http://schemas.microsoft.com/office/drawing/2014/main" id="{117A78A6-B971-40AB-9DDF-3146F49E2F2B}"/>
              </a:ext>
            </a:extLst>
          </p:cNvPr>
          <p:cNvSpPr>
            <a:spLocks noGrp="1"/>
          </p:cNvSpPr>
          <p:nvPr/>
        </p:nvSpPr>
        <p:spPr>
          <a:xfrm>
            <a:off x="8001000" y="2381250"/>
            <a:ext cx="3143250" cy="342900"/>
          </a:xfrm>
          <a:prstGeom prst="rect">
            <a:avLst/>
          </a:prstGeom>
          <a:noFill/>
          <a:ln w="0">
            <a:noFill/>
            <a:prstDash val="solid"/>
          </a:ln>
        </p:spPr>
        <p:txBody>
          <a:bodyPr/>
          <a:lstStyle/>
          <a:p>
            <a:pPr algn="l">
              <a:defRPr sz="1950" b="1" i="0">
                <a:solidFill>
                  <a:srgbClr val="2E5B3A"/>
                </a:solidFill>
              </a:defRPr>
            </a:pPr>
            <a:r>
              <a:rPr sz="1950" b="1" i="0">
                <a:solidFill>
                  <a:srgbClr val="2E5B3A"/>
                </a:solidFill>
              </a:rPr>
              <a:t>Phân tích và thiết kế</a:t>
            </a:r>
          </a:p>
        </p:txBody>
      </p:sp>
      <p:sp>
        <p:nvSpPr>
          <p:cNvPr id="24" name="Rectangle 23">
            <a:extLst>
              <a:ext uri="{FF2B5EF4-FFF2-40B4-BE49-F238E27FC236}">
                <a16:creationId xmlns:a16="http://schemas.microsoft.com/office/drawing/2014/main" id="{CDA59580-4EAD-438E-BCF9-0F3E6CFED8EC}"/>
              </a:ext>
            </a:extLst>
          </p:cNvPr>
          <p:cNvSpPr>
            <a:spLocks noGrp="1"/>
          </p:cNvSpPr>
          <p:nvPr/>
        </p:nvSpPr>
        <p:spPr>
          <a:xfrm>
            <a:off x="8001000" y="290512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25" name="Rectangle 24">
            <a:extLst>
              <a:ext uri="{FF2B5EF4-FFF2-40B4-BE49-F238E27FC236}">
                <a16:creationId xmlns:a16="http://schemas.microsoft.com/office/drawing/2014/main" id="{8BBF6AD9-A576-4736-A107-143597A66F38}"/>
              </a:ext>
            </a:extLst>
          </p:cNvPr>
          <p:cNvSpPr>
            <a:spLocks noGrp="1"/>
          </p:cNvSpPr>
          <p:nvPr/>
        </p:nvSpPr>
        <p:spPr>
          <a:xfrm>
            <a:off x="8267700" y="2905125"/>
            <a:ext cx="287655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ERD và dữ liệu</a:t>
            </a:r>
          </a:p>
        </p:txBody>
      </p:sp>
      <p:sp>
        <p:nvSpPr>
          <p:cNvPr id="26" name="Rectangle 25">
            <a:extLst>
              <a:ext uri="{FF2B5EF4-FFF2-40B4-BE49-F238E27FC236}">
                <a16:creationId xmlns:a16="http://schemas.microsoft.com/office/drawing/2014/main" id="{B50E0348-53C7-4920-9358-3C085518B585}"/>
              </a:ext>
            </a:extLst>
          </p:cNvPr>
          <p:cNvSpPr>
            <a:spLocks noGrp="1"/>
          </p:cNvSpPr>
          <p:nvPr/>
        </p:nvSpPr>
        <p:spPr>
          <a:xfrm>
            <a:off x="8001000" y="326707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27" name="Rectangle 26">
            <a:extLst>
              <a:ext uri="{FF2B5EF4-FFF2-40B4-BE49-F238E27FC236}">
                <a16:creationId xmlns:a16="http://schemas.microsoft.com/office/drawing/2014/main" id="{F877D086-C8B6-44A9-BDBC-DC622C3BD203}"/>
              </a:ext>
            </a:extLst>
          </p:cNvPr>
          <p:cNvSpPr>
            <a:spLocks noGrp="1"/>
          </p:cNvSpPr>
          <p:nvPr/>
        </p:nvSpPr>
        <p:spPr>
          <a:xfrm>
            <a:off x="8267700" y="3267075"/>
            <a:ext cx="287655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API &amp; mã lỗi</a:t>
            </a:r>
          </a:p>
        </p:txBody>
      </p:sp>
      <p:sp>
        <p:nvSpPr>
          <p:cNvPr id="28" name="Rectangle 27">
            <a:extLst>
              <a:ext uri="{FF2B5EF4-FFF2-40B4-BE49-F238E27FC236}">
                <a16:creationId xmlns:a16="http://schemas.microsoft.com/office/drawing/2014/main" id="{0D398780-BB0B-464F-89C1-D59E2780ED80}"/>
              </a:ext>
            </a:extLst>
          </p:cNvPr>
          <p:cNvSpPr>
            <a:spLocks noGrp="1"/>
          </p:cNvSpPr>
          <p:nvPr/>
        </p:nvSpPr>
        <p:spPr>
          <a:xfrm>
            <a:off x="8001000" y="362902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29" name="Rectangle 28">
            <a:extLst>
              <a:ext uri="{FF2B5EF4-FFF2-40B4-BE49-F238E27FC236}">
                <a16:creationId xmlns:a16="http://schemas.microsoft.com/office/drawing/2014/main" id="{8B9D20EF-9402-46D5-9264-0E2035E85153}"/>
              </a:ext>
            </a:extLst>
          </p:cNvPr>
          <p:cNvSpPr>
            <a:spLocks noGrp="1"/>
          </p:cNvSpPr>
          <p:nvPr/>
        </p:nvSpPr>
        <p:spPr>
          <a:xfrm>
            <a:off x="8267700" y="3629025"/>
            <a:ext cx="287655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Wireframe</a:t>
            </a:r>
          </a:p>
        </p:txBody>
      </p:sp>
      <p:sp>
        <p:nvSpPr>
          <p:cNvPr id="30" name="Rectangle 29">
            <a:extLst>
              <a:ext uri="{FF2B5EF4-FFF2-40B4-BE49-F238E27FC236}">
                <a16:creationId xmlns:a16="http://schemas.microsoft.com/office/drawing/2014/main" id="{26F872BC-A115-47B5-B6B3-CDE76166E422}"/>
              </a:ext>
            </a:extLst>
          </p:cNvPr>
          <p:cNvSpPr>
            <a:spLocks noGrp="1"/>
          </p:cNvSpPr>
          <p:nvPr/>
        </p:nvSpPr>
        <p:spPr>
          <a:xfrm>
            <a:off x="8001000" y="3990975"/>
            <a:ext cx="228600" cy="361950"/>
          </a:xfrm>
          <a:prstGeom prst="rect">
            <a:avLst/>
          </a:prstGeom>
          <a:noFill/>
          <a:ln w="0">
            <a:noFill/>
            <a:prstDash val="solid"/>
          </a:ln>
        </p:spPr>
        <p:txBody>
          <a:bodyPr/>
          <a:lstStyle/>
          <a:p>
            <a:pPr algn="l">
              <a:defRPr sz="1275" b="1" i="0">
                <a:solidFill>
                  <a:srgbClr val="6B9A6E"/>
                </a:solidFill>
              </a:defRPr>
            </a:pPr>
            <a:r>
              <a:rPr sz="1275" b="1" i="0">
                <a:solidFill>
                  <a:srgbClr val="6B9A6E"/>
                </a:solidFill>
              </a:rPr>
              <a:t>•</a:t>
            </a:r>
          </a:p>
        </p:txBody>
      </p:sp>
      <p:sp>
        <p:nvSpPr>
          <p:cNvPr id="31" name="Rectangle 30">
            <a:extLst>
              <a:ext uri="{FF2B5EF4-FFF2-40B4-BE49-F238E27FC236}">
                <a16:creationId xmlns:a16="http://schemas.microsoft.com/office/drawing/2014/main" id="{6B9F6E8F-FB91-49FB-A59A-122BD60C8507}"/>
              </a:ext>
            </a:extLst>
          </p:cNvPr>
          <p:cNvSpPr>
            <a:spLocks noGrp="1"/>
          </p:cNvSpPr>
          <p:nvPr/>
        </p:nvSpPr>
        <p:spPr>
          <a:xfrm>
            <a:off x="8267700" y="3990975"/>
            <a:ext cx="2876550" cy="361950"/>
          </a:xfrm>
          <a:prstGeom prst="rect">
            <a:avLst/>
          </a:prstGeom>
          <a:noFill/>
          <a:ln w="0">
            <a:noFill/>
            <a:prstDash val="solid"/>
          </a:ln>
        </p:spPr>
        <p:txBody>
          <a:bodyPr/>
          <a:lstStyle/>
          <a:p>
            <a:pPr algn="l">
              <a:defRPr sz="1275" b="0" i="0">
                <a:solidFill>
                  <a:srgbClr val="183127"/>
                </a:solidFill>
              </a:defRPr>
            </a:pPr>
            <a:r>
              <a:rPr sz="1275" b="0" i="0">
                <a:solidFill>
                  <a:srgbClr val="183127"/>
                </a:solidFill>
              </a:rPr>
              <a:t>Kết quả và bước tiếp theo</a:t>
            </a:r>
          </a:p>
        </p:txBody>
      </p:sp>
      <p:sp>
        <p:nvSpPr>
          <p:cNvPr id="32" name="Rectangle 31">
            <a:extLst>
              <a:ext uri="{FF2B5EF4-FFF2-40B4-BE49-F238E27FC236}">
                <a16:creationId xmlns:a16="http://schemas.microsoft.com/office/drawing/2014/main" id="{6BE02ABF-75F0-4BE7-AC4D-CA5EA8024286}"/>
              </a:ext>
            </a:extLst>
          </p:cNvPr>
          <p:cNvSpPr>
            <a:spLocks noGrp="1"/>
          </p:cNvSpPr>
          <p:nvPr/>
        </p:nvSpPr>
        <p:spPr>
          <a:xfrm>
            <a:off x="762000" y="5715000"/>
            <a:ext cx="10096500" cy="400050"/>
          </a:xfrm>
          <a:prstGeom prst="rect">
            <a:avLst/>
          </a:prstGeom>
          <a:noFill/>
          <a:ln w="0">
            <a:noFill/>
            <a:prstDash val="solid"/>
          </a:ln>
        </p:spPr>
        <p:txBody>
          <a:bodyPr/>
          <a:lstStyle/>
          <a:p>
            <a:pPr algn="ctr">
              <a:defRPr sz="1575" b="0" i="1">
                <a:solidFill>
                  <a:srgbClr val="65756B"/>
                </a:solidFill>
              </a:defRPr>
            </a:pPr>
            <a:r>
              <a:rPr sz="1575" b="0" i="1">
                <a:solidFill>
                  <a:srgbClr val="65756B"/>
                </a:solidFill>
              </a:rPr>
              <a:t>Mạch trình bày đi từ nhu cầu kinh doanh đến giải pháp và các artifact bàn giao.</a:t>
            </a:r>
          </a:p>
        </p:txBody>
      </p:sp>
    </p:spTree>
    <p:extLst>
      <p:ext uri="{BB962C8B-B14F-4D97-AF65-F5344CB8AC3E}">
        <p14:creationId xmlns:p14="http://schemas.microsoft.com/office/powerpoint/2010/main" val="956901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D37DC2D0-4C76-4D2B-BA79-6907C2292FED}"/>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6C29A3DE-4357-426C-B187-8E701EE92626}"/>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1. XÁC ĐỊNH NHU CẦU</a:t>
            </a:r>
          </a:p>
        </p:txBody>
      </p:sp>
      <p:sp>
        <p:nvSpPr>
          <p:cNvPr id="3" name="Rectangle 2">
            <a:extLst>
              <a:ext uri="{FF2B5EF4-FFF2-40B4-BE49-F238E27FC236}">
                <a16:creationId xmlns:a16="http://schemas.microsoft.com/office/drawing/2014/main" id="{4109E4A4-3AA8-4B13-A5B7-CE2F9F583EA5}"/>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Mở tài khoản tại quầy tạo ra nhiều điểm nghẽn</a:t>
            </a:r>
          </a:p>
        </p:txBody>
      </p:sp>
      <p:sp>
        <p:nvSpPr>
          <p:cNvPr id="4" name="Rectangle 3">
            <a:extLst>
              <a:ext uri="{FF2B5EF4-FFF2-40B4-BE49-F238E27FC236}">
                <a16:creationId xmlns:a16="http://schemas.microsoft.com/office/drawing/2014/main" id="{02C395F2-EAEA-44A0-94B8-E3E2D75FA2C2}"/>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03</a:t>
            </a:r>
          </a:p>
        </p:txBody>
      </p:sp>
      <p:sp>
        <p:nvSpPr>
          <p:cNvPr id="5" name="Rectangle 4">
            <a:extLst>
              <a:ext uri="{FF2B5EF4-FFF2-40B4-BE49-F238E27FC236}">
                <a16:creationId xmlns:a16="http://schemas.microsoft.com/office/drawing/2014/main" id="{DFD4D150-A1C2-41CC-9C8B-36C2E57289B7}"/>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dirty="0" err="1">
                <a:solidFill>
                  <a:srgbClr val="DDE8DA"/>
                </a:solidFill>
              </a:rPr>
              <a:t>eKYC</a:t>
            </a:r>
            <a:endParaRPr sz="1875" b="1" i="1" dirty="0">
              <a:solidFill>
                <a:srgbClr val="DDE8DA"/>
              </a:solidFill>
            </a:endParaRPr>
          </a:p>
        </p:txBody>
      </p:sp>
      <p:sp>
        <p:nvSpPr>
          <p:cNvPr id="6" name="Rectangle 5">
            <a:extLst>
              <a:ext uri="{FF2B5EF4-FFF2-40B4-BE49-F238E27FC236}">
                <a16:creationId xmlns:a16="http://schemas.microsoft.com/office/drawing/2014/main" id="{86997ED0-6C8C-4B02-8A23-07FFA8F57286}"/>
              </a:ext>
            </a:extLst>
          </p:cNvPr>
          <p:cNvSpPr>
            <a:spLocks noGrp="1"/>
          </p:cNvSpPr>
          <p:nvPr/>
        </p:nvSpPr>
        <p:spPr>
          <a:xfrm>
            <a:off x="666750" y="1619250"/>
            <a:ext cx="2857500" cy="323850"/>
          </a:xfrm>
          <a:prstGeom prst="rect">
            <a:avLst/>
          </a:prstGeom>
          <a:noFill/>
          <a:ln w="0">
            <a:noFill/>
            <a:prstDash val="solid"/>
          </a:ln>
        </p:spPr>
        <p:txBody>
          <a:bodyPr/>
          <a:lstStyle/>
          <a:p>
            <a:pPr algn="l">
              <a:defRPr sz="1800" b="1" i="0">
                <a:solidFill>
                  <a:srgbClr val="2E5B3A"/>
                </a:solidFill>
              </a:defRPr>
            </a:pPr>
            <a:r>
              <a:rPr sz="1800" b="1" i="0">
                <a:solidFill>
                  <a:srgbClr val="2E5B3A"/>
                </a:solidFill>
              </a:rPr>
              <a:t>Bối cảnh</a:t>
            </a:r>
          </a:p>
        </p:txBody>
      </p:sp>
      <p:sp>
        <p:nvSpPr>
          <p:cNvPr id="7" name="Rectangle 6">
            <a:extLst>
              <a:ext uri="{FF2B5EF4-FFF2-40B4-BE49-F238E27FC236}">
                <a16:creationId xmlns:a16="http://schemas.microsoft.com/office/drawing/2014/main" id="{3A36DD13-D605-4CF3-BE99-7CB7413C3F70}"/>
              </a:ext>
            </a:extLst>
          </p:cNvPr>
          <p:cNvSpPr>
            <a:spLocks noGrp="1"/>
          </p:cNvSpPr>
          <p:nvPr/>
        </p:nvSpPr>
        <p:spPr>
          <a:xfrm>
            <a:off x="666750" y="2095500"/>
            <a:ext cx="228600" cy="7429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8" name="Rectangle 7">
            <a:extLst>
              <a:ext uri="{FF2B5EF4-FFF2-40B4-BE49-F238E27FC236}">
                <a16:creationId xmlns:a16="http://schemas.microsoft.com/office/drawing/2014/main" id="{50825BD4-7ECB-48A8-8DD5-AB660CEC780F}"/>
              </a:ext>
            </a:extLst>
          </p:cNvPr>
          <p:cNvSpPr>
            <a:spLocks noGrp="1"/>
          </p:cNvSpPr>
          <p:nvPr/>
        </p:nvSpPr>
        <p:spPr>
          <a:xfrm>
            <a:off x="933450" y="2095500"/>
            <a:ext cx="5067300" cy="7429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Khách hàng phải đến điểm giao dịch và phụ thuộc thời gian làm việc.</a:t>
            </a:r>
          </a:p>
        </p:txBody>
      </p:sp>
      <p:sp>
        <p:nvSpPr>
          <p:cNvPr id="9" name="Rectangle 8">
            <a:extLst>
              <a:ext uri="{FF2B5EF4-FFF2-40B4-BE49-F238E27FC236}">
                <a16:creationId xmlns:a16="http://schemas.microsoft.com/office/drawing/2014/main" id="{2C494412-ED8C-4FD5-9FE3-B263BD568A60}"/>
              </a:ext>
            </a:extLst>
          </p:cNvPr>
          <p:cNvSpPr>
            <a:spLocks noGrp="1"/>
          </p:cNvSpPr>
          <p:nvPr/>
        </p:nvSpPr>
        <p:spPr>
          <a:xfrm>
            <a:off x="666750" y="2838450"/>
            <a:ext cx="228600" cy="7429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0" name="Rectangle 9">
            <a:extLst>
              <a:ext uri="{FF2B5EF4-FFF2-40B4-BE49-F238E27FC236}">
                <a16:creationId xmlns:a16="http://schemas.microsoft.com/office/drawing/2014/main" id="{0606A9A5-C07F-4343-8372-117DB033966A}"/>
              </a:ext>
            </a:extLst>
          </p:cNvPr>
          <p:cNvSpPr>
            <a:spLocks noGrp="1"/>
          </p:cNvSpPr>
          <p:nvPr/>
        </p:nvSpPr>
        <p:spPr>
          <a:xfrm>
            <a:off x="933450" y="2838450"/>
            <a:ext cx="5067300" cy="7429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Nhân viên thực hiện nhiều bước kiểm tra giấy tờ và nhập liệu thủ công.</a:t>
            </a:r>
          </a:p>
        </p:txBody>
      </p:sp>
      <p:sp>
        <p:nvSpPr>
          <p:cNvPr id="11" name="Rectangle 10">
            <a:extLst>
              <a:ext uri="{FF2B5EF4-FFF2-40B4-BE49-F238E27FC236}">
                <a16:creationId xmlns:a16="http://schemas.microsoft.com/office/drawing/2014/main" id="{122C1ED2-3549-4903-BC40-C2F8FA2579D4}"/>
              </a:ext>
            </a:extLst>
          </p:cNvPr>
          <p:cNvSpPr>
            <a:spLocks noGrp="1"/>
          </p:cNvSpPr>
          <p:nvPr/>
        </p:nvSpPr>
        <p:spPr>
          <a:xfrm>
            <a:off x="666750" y="3581400"/>
            <a:ext cx="228600" cy="7429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2" name="Rectangle 11">
            <a:extLst>
              <a:ext uri="{FF2B5EF4-FFF2-40B4-BE49-F238E27FC236}">
                <a16:creationId xmlns:a16="http://schemas.microsoft.com/office/drawing/2014/main" id="{37D3B7A0-4512-46DF-A273-1D180D21CD28}"/>
              </a:ext>
            </a:extLst>
          </p:cNvPr>
          <p:cNvSpPr>
            <a:spLocks noGrp="1"/>
          </p:cNvSpPr>
          <p:nvPr/>
        </p:nvSpPr>
        <p:spPr>
          <a:xfrm>
            <a:off x="933450" y="3581400"/>
            <a:ext cx="5067300" cy="7429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Ngân hàng khó tiếp cận khách hàng ở xa hoặc cần mở tài khoản nhanh.</a:t>
            </a:r>
          </a:p>
        </p:txBody>
      </p:sp>
      <p:sp>
        <p:nvSpPr>
          <p:cNvPr id="13" name="Rectangle 12">
            <a:extLst>
              <a:ext uri="{FF2B5EF4-FFF2-40B4-BE49-F238E27FC236}">
                <a16:creationId xmlns:a16="http://schemas.microsoft.com/office/drawing/2014/main" id="{28507856-9332-4E49-A93B-8A6264AD5213}"/>
              </a:ext>
            </a:extLst>
          </p:cNvPr>
          <p:cNvSpPr>
            <a:spLocks noGrp="1"/>
          </p:cNvSpPr>
          <p:nvPr/>
        </p:nvSpPr>
        <p:spPr>
          <a:xfrm>
            <a:off x="666750" y="4619625"/>
            <a:ext cx="2857500" cy="323850"/>
          </a:xfrm>
          <a:prstGeom prst="rect">
            <a:avLst/>
          </a:prstGeom>
          <a:noFill/>
          <a:ln w="0">
            <a:noFill/>
            <a:prstDash val="solid"/>
          </a:ln>
        </p:spPr>
        <p:txBody>
          <a:bodyPr/>
          <a:lstStyle/>
          <a:p>
            <a:pPr algn="l">
              <a:defRPr sz="1800" b="1" i="0">
                <a:solidFill>
                  <a:srgbClr val="2E5B3A"/>
                </a:solidFill>
              </a:defRPr>
            </a:pPr>
            <a:r>
              <a:rPr sz="1800" b="1" i="0">
                <a:solidFill>
                  <a:srgbClr val="2E5B3A"/>
                </a:solidFill>
              </a:rPr>
              <a:t>Câu hỏi trung tâm</a:t>
            </a:r>
          </a:p>
        </p:txBody>
      </p:sp>
      <p:sp>
        <p:nvSpPr>
          <p:cNvPr id="14" name="Rectangle 13">
            <a:extLst>
              <a:ext uri="{FF2B5EF4-FFF2-40B4-BE49-F238E27FC236}">
                <a16:creationId xmlns:a16="http://schemas.microsoft.com/office/drawing/2014/main" id="{CEFA8A56-D5A4-413D-ACBB-C6A2F1FDDEAD}"/>
              </a:ext>
            </a:extLst>
          </p:cNvPr>
          <p:cNvSpPr>
            <a:spLocks noGrp="1"/>
          </p:cNvSpPr>
          <p:nvPr/>
        </p:nvSpPr>
        <p:spPr>
          <a:xfrm>
            <a:off x="666750" y="5048250"/>
            <a:ext cx="5334000" cy="952500"/>
          </a:xfrm>
          <a:prstGeom prst="rect">
            <a:avLst/>
          </a:prstGeom>
          <a:noFill/>
          <a:ln w="0">
            <a:noFill/>
            <a:prstDash val="solid"/>
          </a:ln>
        </p:spPr>
        <p:txBody>
          <a:bodyPr/>
          <a:lstStyle/>
          <a:p>
            <a:pPr algn="l">
              <a:defRPr sz="1875" b="1" i="0">
                <a:solidFill>
                  <a:srgbClr val="193B2B"/>
                </a:solidFill>
              </a:defRPr>
            </a:pPr>
            <a:r>
              <a:rPr sz="1875" b="1" i="0">
                <a:solidFill>
                  <a:srgbClr val="193B2B"/>
                </a:solidFill>
              </a:rPr>
              <a:t>Làm thế nào để khách hàng đủ điều kiện có thể mở tài khoản an toàn, nhanh chóng và hoàn toàn online?</a:t>
            </a:r>
          </a:p>
        </p:txBody>
      </p:sp>
      <p:sp>
        <p:nvSpPr>
          <p:cNvPr id="15" name="Rectangle 14">
            <a:extLst>
              <a:ext uri="{FF2B5EF4-FFF2-40B4-BE49-F238E27FC236}">
                <a16:creationId xmlns:a16="http://schemas.microsoft.com/office/drawing/2014/main" id="{61B9FB7C-0946-4D8B-91AA-9668605EAA25}"/>
              </a:ext>
            </a:extLst>
          </p:cNvPr>
          <p:cNvSpPr>
            <a:spLocks noGrp="1"/>
          </p:cNvSpPr>
          <p:nvPr/>
        </p:nvSpPr>
        <p:spPr>
          <a:xfrm>
            <a:off x="6667500" y="1857375"/>
            <a:ext cx="2095500" cy="685800"/>
          </a:xfrm>
          <a:prstGeom prst="rect">
            <a:avLst/>
          </a:prstGeom>
          <a:noFill/>
          <a:ln w="0">
            <a:noFill/>
            <a:prstDash val="solid"/>
          </a:ln>
        </p:spPr>
        <p:txBody>
          <a:bodyPr/>
          <a:lstStyle/>
          <a:p>
            <a:pPr algn="ctr">
              <a:defRPr sz="4050" b="1" i="0">
                <a:solidFill>
                  <a:srgbClr val="2E5B3A"/>
                </a:solidFill>
              </a:defRPr>
            </a:pPr>
            <a:r>
              <a:rPr sz="4050" b="1" i="0">
                <a:solidFill>
                  <a:srgbClr val="2E5B3A"/>
                </a:solidFill>
              </a:rPr>
              <a:t>&lt;10</a:t>
            </a:r>
          </a:p>
        </p:txBody>
      </p:sp>
      <p:sp>
        <p:nvSpPr>
          <p:cNvPr id="16" name="Rectangle 15">
            <a:extLst>
              <a:ext uri="{FF2B5EF4-FFF2-40B4-BE49-F238E27FC236}">
                <a16:creationId xmlns:a16="http://schemas.microsoft.com/office/drawing/2014/main" id="{6C5AA896-DB6B-4068-8992-45EC12E52C1D}"/>
              </a:ext>
            </a:extLst>
          </p:cNvPr>
          <p:cNvSpPr>
            <a:spLocks noGrp="1"/>
          </p:cNvSpPr>
          <p:nvPr/>
        </p:nvSpPr>
        <p:spPr>
          <a:xfrm>
            <a:off x="6762750" y="2543175"/>
            <a:ext cx="190500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phút - mục tiêu hoàn tất hành trình</a:t>
            </a:r>
          </a:p>
        </p:txBody>
      </p:sp>
      <p:sp>
        <p:nvSpPr>
          <p:cNvPr id="17" name="Rectangle 16">
            <a:extLst>
              <a:ext uri="{FF2B5EF4-FFF2-40B4-BE49-F238E27FC236}">
                <a16:creationId xmlns:a16="http://schemas.microsoft.com/office/drawing/2014/main" id="{4DE0F73F-2B6E-4C62-B131-2FF17A34E9EF}"/>
              </a:ext>
            </a:extLst>
          </p:cNvPr>
          <p:cNvSpPr>
            <a:spLocks noGrp="1"/>
          </p:cNvSpPr>
          <p:nvPr/>
        </p:nvSpPr>
        <p:spPr>
          <a:xfrm>
            <a:off x="9048750" y="1857375"/>
            <a:ext cx="2095500" cy="685800"/>
          </a:xfrm>
          <a:prstGeom prst="rect">
            <a:avLst/>
          </a:prstGeom>
          <a:noFill/>
          <a:ln w="0">
            <a:noFill/>
            <a:prstDash val="solid"/>
          </a:ln>
        </p:spPr>
        <p:txBody>
          <a:bodyPr/>
          <a:lstStyle/>
          <a:p>
            <a:pPr algn="ctr">
              <a:defRPr sz="4050" b="1" i="0">
                <a:solidFill>
                  <a:srgbClr val="6B9A6E"/>
                </a:solidFill>
              </a:defRPr>
            </a:pPr>
            <a:r>
              <a:rPr sz="4050" b="1" i="0">
                <a:solidFill>
                  <a:srgbClr val="6B9A6E"/>
                </a:solidFill>
              </a:rPr>
              <a:t>70%</a:t>
            </a:r>
          </a:p>
        </p:txBody>
      </p:sp>
      <p:sp>
        <p:nvSpPr>
          <p:cNvPr id="18" name="Rectangle 17">
            <a:extLst>
              <a:ext uri="{FF2B5EF4-FFF2-40B4-BE49-F238E27FC236}">
                <a16:creationId xmlns:a16="http://schemas.microsoft.com/office/drawing/2014/main" id="{1B1E428D-F676-4EDB-892A-DEB23BE530B4}"/>
              </a:ext>
            </a:extLst>
          </p:cNvPr>
          <p:cNvSpPr>
            <a:spLocks noGrp="1"/>
          </p:cNvSpPr>
          <p:nvPr/>
        </p:nvSpPr>
        <p:spPr>
          <a:xfrm>
            <a:off x="9144000" y="2543175"/>
            <a:ext cx="190500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Mục tiêu giảm khối lượng xử lý thủ công</a:t>
            </a:r>
          </a:p>
        </p:txBody>
      </p:sp>
      <p:sp>
        <p:nvSpPr>
          <p:cNvPr id="19" name="Rectangle 18">
            <a:extLst>
              <a:ext uri="{FF2B5EF4-FFF2-40B4-BE49-F238E27FC236}">
                <a16:creationId xmlns:a16="http://schemas.microsoft.com/office/drawing/2014/main" id="{6705103F-AE00-4969-B48E-52016DFA7275}"/>
              </a:ext>
            </a:extLst>
          </p:cNvPr>
          <p:cNvSpPr>
            <a:spLocks noGrp="1"/>
          </p:cNvSpPr>
          <p:nvPr/>
        </p:nvSpPr>
        <p:spPr>
          <a:xfrm>
            <a:off x="7858125" y="3619500"/>
            <a:ext cx="2381250" cy="685800"/>
          </a:xfrm>
          <a:prstGeom prst="rect">
            <a:avLst/>
          </a:prstGeom>
          <a:noFill/>
          <a:ln w="0">
            <a:noFill/>
            <a:prstDash val="solid"/>
          </a:ln>
        </p:spPr>
        <p:txBody>
          <a:bodyPr/>
          <a:lstStyle/>
          <a:p>
            <a:pPr algn="ctr">
              <a:defRPr sz="4050" b="1" i="0">
                <a:solidFill>
                  <a:srgbClr val="294C64"/>
                </a:solidFill>
              </a:defRPr>
            </a:pPr>
            <a:r>
              <a:rPr sz="4050" b="1" i="0">
                <a:solidFill>
                  <a:srgbClr val="294C64"/>
                </a:solidFill>
              </a:rPr>
              <a:t>40-50%</a:t>
            </a:r>
          </a:p>
        </p:txBody>
      </p:sp>
      <p:sp>
        <p:nvSpPr>
          <p:cNvPr id="20" name="Rectangle 19">
            <a:extLst>
              <a:ext uri="{FF2B5EF4-FFF2-40B4-BE49-F238E27FC236}">
                <a16:creationId xmlns:a16="http://schemas.microsoft.com/office/drawing/2014/main" id="{5060DB37-1D2C-4EDC-914A-B1A403737E1B}"/>
              </a:ext>
            </a:extLst>
          </p:cNvPr>
          <p:cNvSpPr>
            <a:spLocks noGrp="1"/>
          </p:cNvSpPr>
          <p:nvPr/>
        </p:nvSpPr>
        <p:spPr>
          <a:xfrm>
            <a:off x="7953375" y="4305300"/>
            <a:ext cx="219075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Mục tiêu giảm chi phí xử lý</a:t>
            </a:r>
          </a:p>
        </p:txBody>
      </p:sp>
    </p:spTree>
    <p:extLst>
      <p:ext uri="{BB962C8B-B14F-4D97-AF65-F5344CB8AC3E}">
        <p14:creationId xmlns:p14="http://schemas.microsoft.com/office/powerpoint/2010/main" val="85628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4173BEAA-1827-425C-A32C-2A6656314E77}"/>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AF86CE07-B240-47CD-ABB1-9F729935351F}"/>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1. XÁC ĐỊNH NHU CẦU</a:t>
            </a:r>
          </a:p>
        </p:txBody>
      </p:sp>
      <p:sp>
        <p:nvSpPr>
          <p:cNvPr id="3" name="Rectangle 2">
            <a:extLst>
              <a:ext uri="{FF2B5EF4-FFF2-40B4-BE49-F238E27FC236}">
                <a16:creationId xmlns:a16="http://schemas.microsoft.com/office/drawing/2014/main" id="{E2F88821-38DB-4A99-BE6D-92E854804F63}"/>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Phạm vi MVP tập trung vào một hành trình rõ ràng</a:t>
            </a:r>
          </a:p>
        </p:txBody>
      </p:sp>
      <p:sp>
        <p:nvSpPr>
          <p:cNvPr id="4" name="Rectangle 3">
            <a:extLst>
              <a:ext uri="{FF2B5EF4-FFF2-40B4-BE49-F238E27FC236}">
                <a16:creationId xmlns:a16="http://schemas.microsoft.com/office/drawing/2014/main" id="{B26F55EC-E0AB-422E-8FD6-FB2900583A1B}"/>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04</a:t>
            </a:r>
          </a:p>
        </p:txBody>
      </p:sp>
      <p:sp>
        <p:nvSpPr>
          <p:cNvPr id="5" name="Rectangle 4">
            <a:extLst>
              <a:ext uri="{FF2B5EF4-FFF2-40B4-BE49-F238E27FC236}">
                <a16:creationId xmlns:a16="http://schemas.microsoft.com/office/drawing/2014/main" id="{E895C833-414B-480D-962D-987E8F55E41B}"/>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5">
            <a:extLst>
              <a:ext uri="{FF2B5EF4-FFF2-40B4-BE49-F238E27FC236}">
                <a16:creationId xmlns:a16="http://schemas.microsoft.com/office/drawing/2014/main" id="{A46B7C5D-2EC4-42CC-8BFF-BD2AF850E095}"/>
              </a:ext>
            </a:extLst>
          </p:cNvPr>
          <p:cNvSpPr>
            <a:spLocks noGrp="1"/>
          </p:cNvSpPr>
          <p:nvPr/>
        </p:nvSpPr>
        <p:spPr>
          <a:xfrm>
            <a:off x="666750" y="1571625"/>
            <a:ext cx="2857500" cy="323850"/>
          </a:xfrm>
          <a:prstGeom prst="rect">
            <a:avLst/>
          </a:prstGeom>
          <a:noFill/>
          <a:ln w="0">
            <a:noFill/>
            <a:prstDash val="solid"/>
          </a:ln>
        </p:spPr>
        <p:txBody>
          <a:bodyPr/>
          <a:lstStyle/>
          <a:p>
            <a:pPr algn="l">
              <a:defRPr sz="1800" b="1" i="0">
                <a:solidFill>
                  <a:srgbClr val="2E5B3A"/>
                </a:solidFill>
              </a:defRPr>
            </a:pPr>
            <a:r>
              <a:rPr sz="1800" b="1" i="0">
                <a:solidFill>
                  <a:srgbClr val="2E5B3A"/>
                </a:solidFill>
              </a:rPr>
              <a:t>Đối tượng chính</a:t>
            </a:r>
          </a:p>
        </p:txBody>
      </p:sp>
      <p:sp>
        <p:nvSpPr>
          <p:cNvPr id="7" name="Rectangle 6">
            <a:extLst>
              <a:ext uri="{FF2B5EF4-FFF2-40B4-BE49-F238E27FC236}">
                <a16:creationId xmlns:a16="http://schemas.microsoft.com/office/drawing/2014/main" id="{A3B025D3-A1CD-48C7-B51D-ED85D2969E66}"/>
              </a:ext>
            </a:extLst>
          </p:cNvPr>
          <p:cNvSpPr>
            <a:spLocks noGrp="1"/>
          </p:cNvSpPr>
          <p:nvPr/>
        </p:nvSpPr>
        <p:spPr>
          <a:xfrm>
            <a:off x="666750" y="2047875"/>
            <a:ext cx="4762500" cy="457200"/>
          </a:xfrm>
          <a:prstGeom prst="rect">
            <a:avLst/>
          </a:prstGeom>
          <a:noFill/>
          <a:ln w="0">
            <a:noFill/>
            <a:prstDash val="solid"/>
          </a:ln>
        </p:spPr>
        <p:txBody>
          <a:bodyPr/>
          <a:lstStyle/>
          <a:p>
            <a:pPr algn="l">
              <a:defRPr sz="2325" b="1" i="0">
                <a:solidFill>
                  <a:srgbClr val="193B2B"/>
                </a:solidFill>
              </a:defRPr>
            </a:pPr>
            <a:r>
              <a:rPr sz="2325" b="1" i="0">
                <a:solidFill>
                  <a:srgbClr val="193B2B"/>
                </a:solidFill>
              </a:rPr>
              <a:t>Khách hàng cá nhân Việt Nam</a:t>
            </a:r>
          </a:p>
        </p:txBody>
      </p:sp>
      <p:sp>
        <p:nvSpPr>
          <p:cNvPr id="8" name="Rectangle 7">
            <a:extLst>
              <a:ext uri="{FF2B5EF4-FFF2-40B4-BE49-F238E27FC236}">
                <a16:creationId xmlns:a16="http://schemas.microsoft.com/office/drawing/2014/main" id="{288B3AE4-D58F-412E-8C57-9EE8FF6EFD0D}"/>
              </a:ext>
            </a:extLst>
          </p:cNvPr>
          <p:cNvSpPr>
            <a:spLocks noGrp="1"/>
          </p:cNvSpPr>
          <p:nvPr/>
        </p:nvSpPr>
        <p:spPr>
          <a:xfrm>
            <a:off x="666750" y="2571750"/>
            <a:ext cx="4953000" cy="333375"/>
          </a:xfrm>
          <a:prstGeom prst="rect">
            <a:avLst/>
          </a:prstGeom>
          <a:noFill/>
          <a:ln w="0">
            <a:noFill/>
            <a:prstDash val="solid"/>
          </a:ln>
        </p:spPr>
        <p:txBody>
          <a:bodyPr/>
          <a:lstStyle/>
          <a:p>
            <a:pPr algn="l">
              <a:defRPr sz="1575" b="0" i="0">
                <a:solidFill>
                  <a:srgbClr val="65756B"/>
                </a:solidFill>
              </a:defRPr>
            </a:pPr>
            <a:r>
              <a:rPr sz="1575" b="0" i="0" dirty="0" err="1">
                <a:solidFill>
                  <a:srgbClr val="65756B"/>
                </a:solidFill>
              </a:rPr>
              <a:t>Từ</a:t>
            </a:r>
            <a:r>
              <a:rPr sz="1575" b="0" i="0" dirty="0">
                <a:solidFill>
                  <a:srgbClr val="65756B"/>
                </a:solidFill>
              </a:rPr>
              <a:t> </a:t>
            </a:r>
            <a:r>
              <a:rPr sz="1575" b="0" i="0" dirty="0" err="1">
                <a:solidFill>
                  <a:srgbClr val="65756B"/>
                </a:solidFill>
              </a:rPr>
              <a:t>đủ</a:t>
            </a:r>
            <a:r>
              <a:rPr sz="1575" b="0" i="0" dirty="0">
                <a:solidFill>
                  <a:srgbClr val="65756B"/>
                </a:solidFill>
              </a:rPr>
              <a:t> 18 </a:t>
            </a:r>
            <a:r>
              <a:rPr sz="1575" b="0" i="0" dirty="0" err="1">
                <a:solidFill>
                  <a:srgbClr val="65756B"/>
                </a:solidFill>
              </a:rPr>
              <a:t>tuổi</a:t>
            </a:r>
            <a:r>
              <a:rPr lang="en-US" sz="1575" b="0" i="0" dirty="0">
                <a:solidFill>
                  <a:srgbClr val="65756B"/>
                </a:solidFill>
              </a:rPr>
              <a:t> </a:t>
            </a:r>
            <a:r>
              <a:rPr lang="en-US" sz="1575" b="0" i="0" dirty="0" err="1">
                <a:solidFill>
                  <a:srgbClr val="65756B"/>
                </a:solidFill>
              </a:rPr>
              <a:t>trở</a:t>
            </a:r>
            <a:r>
              <a:rPr lang="en-US" sz="1575" b="0" i="0" dirty="0">
                <a:solidFill>
                  <a:srgbClr val="65756B"/>
                </a:solidFill>
              </a:rPr>
              <a:t> </a:t>
            </a:r>
            <a:r>
              <a:rPr lang="en-US" sz="1575" b="0" i="0" dirty="0" err="1">
                <a:solidFill>
                  <a:srgbClr val="65756B"/>
                </a:solidFill>
              </a:rPr>
              <a:t>lên</a:t>
            </a:r>
            <a:r>
              <a:rPr sz="1575" b="0" i="0" dirty="0">
                <a:solidFill>
                  <a:srgbClr val="65756B"/>
                </a:solidFill>
              </a:rPr>
              <a:t> </a:t>
            </a:r>
            <a:r>
              <a:rPr sz="1575" b="0" i="0" dirty="0" err="1">
                <a:solidFill>
                  <a:srgbClr val="65756B"/>
                </a:solidFill>
              </a:rPr>
              <a:t>và</a:t>
            </a:r>
            <a:r>
              <a:rPr sz="1575" b="0" i="0" dirty="0">
                <a:solidFill>
                  <a:srgbClr val="65756B"/>
                </a:solidFill>
              </a:rPr>
              <a:t> </a:t>
            </a:r>
            <a:r>
              <a:rPr sz="1575" b="0" i="0" dirty="0" err="1">
                <a:solidFill>
                  <a:srgbClr val="65756B"/>
                </a:solidFill>
              </a:rPr>
              <a:t>có</a:t>
            </a:r>
            <a:r>
              <a:rPr sz="1575" b="0" i="0" dirty="0">
                <a:solidFill>
                  <a:srgbClr val="65756B"/>
                </a:solidFill>
              </a:rPr>
              <a:t> CCCD </a:t>
            </a:r>
            <a:r>
              <a:rPr sz="1575" b="0" i="0" dirty="0" err="1">
                <a:solidFill>
                  <a:srgbClr val="65756B"/>
                </a:solidFill>
              </a:rPr>
              <a:t>gắn</a:t>
            </a:r>
            <a:r>
              <a:rPr sz="1575" b="0" i="0" dirty="0">
                <a:solidFill>
                  <a:srgbClr val="65756B"/>
                </a:solidFill>
              </a:rPr>
              <a:t> chip</a:t>
            </a:r>
          </a:p>
        </p:txBody>
      </p:sp>
      <p:sp>
        <p:nvSpPr>
          <p:cNvPr id="9" name="Rectangle: Rounded Corners 8">
            <a:extLst>
              <a:ext uri="{FF2B5EF4-FFF2-40B4-BE49-F238E27FC236}">
                <a16:creationId xmlns:a16="http://schemas.microsoft.com/office/drawing/2014/main" id="{788DD922-0D04-4013-8DEB-F87AD93D4F76}"/>
              </a:ext>
            </a:extLst>
          </p:cNvPr>
          <p:cNvSpPr>
            <a:spLocks noGrp="1"/>
          </p:cNvSpPr>
          <p:nvPr/>
        </p:nvSpPr>
        <p:spPr>
          <a:xfrm>
            <a:off x="666750" y="3333750"/>
            <a:ext cx="4857750" cy="2190750"/>
          </a:xfrm>
          <a:prstGeom prst="roundRect">
            <a:avLst>
              <a:gd name="adj" fmla="val 5217"/>
            </a:avLst>
          </a:prstGeom>
          <a:solidFill>
            <a:srgbClr val="E4F1E2"/>
          </a:solidFill>
          <a:ln w="9525">
            <a:solidFill>
              <a:srgbClr val="A7C7A4"/>
            </a:solidFill>
            <a:prstDash val="solid"/>
          </a:ln>
        </p:spPr>
      </p:sp>
      <p:sp>
        <p:nvSpPr>
          <p:cNvPr id="10" name="Rectangle 9">
            <a:extLst>
              <a:ext uri="{FF2B5EF4-FFF2-40B4-BE49-F238E27FC236}">
                <a16:creationId xmlns:a16="http://schemas.microsoft.com/office/drawing/2014/main" id="{AF58D261-646F-424E-B1FE-28E7D822FFB1}"/>
              </a:ext>
            </a:extLst>
          </p:cNvPr>
          <p:cNvSpPr>
            <a:spLocks noGrp="1"/>
          </p:cNvSpPr>
          <p:nvPr/>
        </p:nvSpPr>
        <p:spPr>
          <a:xfrm>
            <a:off x="904875" y="3571875"/>
            <a:ext cx="4381500" cy="285750"/>
          </a:xfrm>
          <a:prstGeom prst="rect">
            <a:avLst/>
          </a:prstGeom>
          <a:noFill/>
          <a:ln w="0">
            <a:noFill/>
            <a:prstDash val="solid"/>
          </a:ln>
        </p:spPr>
        <p:txBody>
          <a:bodyPr/>
          <a:lstStyle/>
          <a:p>
            <a:pPr algn="l">
              <a:defRPr sz="1500" b="1" i="0">
                <a:solidFill>
                  <a:srgbClr val="2E5B3A"/>
                </a:solidFill>
              </a:defRPr>
            </a:pPr>
            <a:r>
              <a:rPr sz="1500" b="1" i="0">
                <a:solidFill>
                  <a:srgbClr val="2E5B3A"/>
                </a:solidFill>
              </a:rPr>
              <a:t>TRONG PHẠM VI</a:t>
            </a:r>
          </a:p>
        </p:txBody>
      </p:sp>
      <p:sp>
        <p:nvSpPr>
          <p:cNvPr id="11" name="Rectangle 10">
            <a:extLst>
              <a:ext uri="{FF2B5EF4-FFF2-40B4-BE49-F238E27FC236}">
                <a16:creationId xmlns:a16="http://schemas.microsoft.com/office/drawing/2014/main" id="{731B66AE-0B7A-4058-A6A7-3273EB4CA92B}"/>
              </a:ext>
            </a:extLst>
          </p:cNvPr>
          <p:cNvSpPr>
            <a:spLocks noGrp="1"/>
          </p:cNvSpPr>
          <p:nvPr/>
        </p:nvSpPr>
        <p:spPr>
          <a:xfrm>
            <a:off x="904875" y="4000500"/>
            <a:ext cx="228600" cy="38100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2" name="Rectangle 11">
            <a:extLst>
              <a:ext uri="{FF2B5EF4-FFF2-40B4-BE49-F238E27FC236}">
                <a16:creationId xmlns:a16="http://schemas.microsoft.com/office/drawing/2014/main" id="{FF14F320-BE46-4D61-BB17-CDFAE551A405}"/>
              </a:ext>
            </a:extLst>
          </p:cNvPr>
          <p:cNvSpPr>
            <a:spLocks noGrp="1"/>
          </p:cNvSpPr>
          <p:nvPr/>
        </p:nvSpPr>
        <p:spPr>
          <a:xfrm>
            <a:off x="1171575" y="4000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Xác thực số điện thoại bằng OTP</a:t>
            </a:r>
          </a:p>
        </p:txBody>
      </p:sp>
      <p:sp>
        <p:nvSpPr>
          <p:cNvPr id="13" name="Rectangle 12">
            <a:extLst>
              <a:ext uri="{FF2B5EF4-FFF2-40B4-BE49-F238E27FC236}">
                <a16:creationId xmlns:a16="http://schemas.microsoft.com/office/drawing/2014/main" id="{C52BB6E4-8686-40A8-8CAA-2D8F96E8C176}"/>
              </a:ext>
            </a:extLst>
          </p:cNvPr>
          <p:cNvSpPr>
            <a:spLocks noGrp="1"/>
          </p:cNvSpPr>
          <p:nvPr/>
        </p:nvSpPr>
        <p:spPr>
          <a:xfrm>
            <a:off x="904875" y="4381500"/>
            <a:ext cx="228600" cy="38100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4" name="Rectangle 13">
            <a:extLst>
              <a:ext uri="{FF2B5EF4-FFF2-40B4-BE49-F238E27FC236}">
                <a16:creationId xmlns:a16="http://schemas.microsoft.com/office/drawing/2014/main" id="{F88B08BA-5C61-4559-8CEC-14E8364D4B6A}"/>
              </a:ext>
            </a:extLst>
          </p:cNvPr>
          <p:cNvSpPr>
            <a:spLocks noGrp="1"/>
          </p:cNvSpPr>
          <p:nvPr/>
        </p:nvSpPr>
        <p:spPr>
          <a:xfrm>
            <a:off x="1171575" y="4381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OCR CCCD, Face Matching, Liveness</a:t>
            </a:r>
          </a:p>
        </p:txBody>
      </p:sp>
      <p:sp>
        <p:nvSpPr>
          <p:cNvPr id="15" name="Rectangle 14">
            <a:extLst>
              <a:ext uri="{FF2B5EF4-FFF2-40B4-BE49-F238E27FC236}">
                <a16:creationId xmlns:a16="http://schemas.microsoft.com/office/drawing/2014/main" id="{98756708-39BA-437E-B5C6-023601D0D91D}"/>
              </a:ext>
            </a:extLst>
          </p:cNvPr>
          <p:cNvSpPr>
            <a:spLocks noGrp="1"/>
          </p:cNvSpPr>
          <p:nvPr/>
        </p:nvSpPr>
        <p:spPr>
          <a:xfrm>
            <a:off x="904875" y="4762500"/>
            <a:ext cx="228600" cy="38100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6" name="Rectangle 15">
            <a:extLst>
              <a:ext uri="{FF2B5EF4-FFF2-40B4-BE49-F238E27FC236}">
                <a16:creationId xmlns:a16="http://schemas.microsoft.com/office/drawing/2014/main" id="{F6AC4EDA-A750-463E-96E1-A3FB1F3E17F9}"/>
              </a:ext>
            </a:extLst>
          </p:cNvPr>
          <p:cNvSpPr>
            <a:spLocks noGrp="1"/>
          </p:cNvSpPr>
          <p:nvPr/>
        </p:nvSpPr>
        <p:spPr>
          <a:xfrm>
            <a:off x="1171575" y="4762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Tạo CIF và số tài khoản</a:t>
            </a:r>
          </a:p>
        </p:txBody>
      </p:sp>
      <p:sp>
        <p:nvSpPr>
          <p:cNvPr id="17" name="Rectangle 16">
            <a:extLst>
              <a:ext uri="{FF2B5EF4-FFF2-40B4-BE49-F238E27FC236}">
                <a16:creationId xmlns:a16="http://schemas.microsoft.com/office/drawing/2014/main" id="{603D3733-F82B-4547-AFDC-EB6CC1601C0E}"/>
              </a:ext>
            </a:extLst>
          </p:cNvPr>
          <p:cNvSpPr>
            <a:spLocks noGrp="1"/>
          </p:cNvSpPr>
          <p:nvPr/>
        </p:nvSpPr>
        <p:spPr>
          <a:xfrm>
            <a:off x="904875" y="5143500"/>
            <a:ext cx="228600" cy="38100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8" name="Rectangle 17">
            <a:extLst>
              <a:ext uri="{FF2B5EF4-FFF2-40B4-BE49-F238E27FC236}">
                <a16:creationId xmlns:a16="http://schemas.microsoft.com/office/drawing/2014/main" id="{9E695861-E1FF-4B95-9D46-E677EDA9A13A}"/>
              </a:ext>
            </a:extLst>
          </p:cNvPr>
          <p:cNvSpPr>
            <a:spLocks noGrp="1"/>
          </p:cNvSpPr>
          <p:nvPr/>
        </p:nvSpPr>
        <p:spPr>
          <a:xfrm>
            <a:off x="1171575" y="5143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Thiết lập mật khẩu eBanking và PIN</a:t>
            </a:r>
          </a:p>
        </p:txBody>
      </p:sp>
      <p:sp>
        <p:nvSpPr>
          <p:cNvPr id="19" name="Rectangle: Rounded Corners 18">
            <a:extLst>
              <a:ext uri="{FF2B5EF4-FFF2-40B4-BE49-F238E27FC236}">
                <a16:creationId xmlns:a16="http://schemas.microsoft.com/office/drawing/2014/main" id="{C4FFD232-E347-4B79-BEB1-1527AC60CC30}"/>
              </a:ext>
            </a:extLst>
          </p:cNvPr>
          <p:cNvSpPr>
            <a:spLocks noGrp="1"/>
          </p:cNvSpPr>
          <p:nvPr/>
        </p:nvSpPr>
        <p:spPr>
          <a:xfrm>
            <a:off x="6191250" y="3333750"/>
            <a:ext cx="4857750" cy="2190750"/>
          </a:xfrm>
          <a:prstGeom prst="roundRect">
            <a:avLst>
              <a:gd name="adj" fmla="val 5217"/>
            </a:avLst>
          </a:prstGeom>
          <a:solidFill>
            <a:srgbClr val="F7E7E5"/>
          </a:solidFill>
          <a:ln w="9525">
            <a:solidFill>
              <a:srgbClr val="D9A19C"/>
            </a:solidFill>
            <a:prstDash val="solid"/>
          </a:ln>
        </p:spPr>
      </p:sp>
      <p:sp>
        <p:nvSpPr>
          <p:cNvPr id="20" name="Rectangle 19">
            <a:extLst>
              <a:ext uri="{FF2B5EF4-FFF2-40B4-BE49-F238E27FC236}">
                <a16:creationId xmlns:a16="http://schemas.microsoft.com/office/drawing/2014/main" id="{6DC9A588-944B-453B-BEEE-70E26A776E3B}"/>
              </a:ext>
            </a:extLst>
          </p:cNvPr>
          <p:cNvSpPr>
            <a:spLocks noGrp="1"/>
          </p:cNvSpPr>
          <p:nvPr/>
        </p:nvSpPr>
        <p:spPr>
          <a:xfrm>
            <a:off x="6429375" y="3571875"/>
            <a:ext cx="4381500" cy="285750"/>
          </a:xfrm>
          <a:prstGeom prst="rect">
            <a:avLst/>
          </a:prstGeom>
          <a:noFill/>
          <a:ln w="0">
            <a:noFill/>
            <a:prstDash val="solid"/>
          </a:ln>
        </p:spPr>
        <p:txBody>
          <a:bodyPr/>
          <a:lstStyle/>
          <a:p>
            <a:pPr algn="l">
              <a:defRPr sz="1500" b="1" i="0">
                <a:solidFill>
                  <a:srgbClr val="8A3B35"/>
                </a:solidFill>
              </a:defRPr>
            </a:pPr>
            <a:r>
              <a:rPr sz="1500" b="1" i="0">
                <a:solidFill>
                  <a:srgbClr val="8A3B35"/>
                </a:solidFill>
              </a:rPr>
              <a:t>NGOÀI PHẠM VI</a:t>
            </a:r>
          </a:p>
        </p:txBody>
      </p:sp>
      <p:sp>
        <p:nvSpPr>
          <p:cNvPr id="21" name="Rectangle 20">
            <a:extLst>
              <a:ext uri="{FF2B5EF4-FFF2-40B4-BE49-F238E27FC236}">
                <a16:creationId xmlns:a16="http://schemas.microsoft.com/office/drawing/2014/main" id="{918960A7-CEC8-40C0-978A-49144F0BF6AE}"/>
              </a:ext>
            </a:extLst>
          </p:cNvPr>
          <p:cNvSpPr>
            <a:spLocks noGrp="1"/>
          </p:cNvSpPr>
          <p:nvPr/>
        </p:nvSpPr>
        <p:spPr>
          <a:xfrm>
            <a:off x="6429375" y="4000500"/>
            <a:ext cx="228600" cy="381000"/>
          </a:xfrm>
          <a:prstGeom prst="rect">
            <a:avLst/>
          </a:prstGeom>
          <a:noFill/>
          <a:ln w="0">
            <a:noFill/>
            <a:prstDash val="solid"/>
          </a:ln>
        </p:spPr>
        <p:txBody>
          <a:bodyPr/>
          <a:lstStyle/>
          <a:p>
            <a:pPr algn="l">
              <a:defRPr sz="1350" b="1" i="0">
                <a:solidFill>
                  <a:srgbClr val="C96A60"/>
                </a:solidFill>
              </a:defRPr>
            </a:pPr>
            <a:r>
              <a:rPr sz="1350" b="1" i="0">
                <a:solidFill>
                  <a:srgbClr val="C96A60"/>
                </a:solidFill>
              </a:rPr>
              <a:t>•</a:t>
            </a:r>
          </a:p>
        </p:txBody>
      </p:sp>
      <p:sp>
        <p:nvSpPr>
          <p:cNvPr id="22" name="Rectangle 21">
            <a:extLst>
              <a:ext uri="{FF2B5EF4-FFF2-40B4-BE49-F238E27FC236}">
                <a16:creationId xmlns:a16="http://schemas.microsoft.com/office/drawing/2014/main" id="{10E57C71-D17A-4E12-8383-DAFEFF658E39}"/>
              </a:ext>
            </a:extLst>
          </p:cNvPr>
          <p:cNvSpPr>
            <a:spLocks noGrp="1"/>
          </p:cNvSpPr>
          <p:nvPr/>
        </p:nvSpPr>
        <p:spPr>
          <a:xfrm>
            <a:off x="6696075" y="4000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Khách hàng doanh nghiệp</a:t>
            </a:r>
          </a:p>
        </p:txBody>
      </p:sp>
      <p:sp>
        <p:nvSpPr>
          <p:cNvPr id="23" name="Rectangle 22">
            <a:extLst>
              <a:ext uri="{FF2B5EF4-FFF2-40B4-BE49-F238E27FC236}">
                <a16:creationId xmlns:a16="http://schemas.microsoft.com/office/drawing/2014/main" id="{F37E2A09-739D-46D8-A4BD-78CD6993CED4}"/>
              </a:ext>
            </a:extLst>
          </p:cNvPr>
          <p:cNvSpPr>
            <a:spLocks noGrp="1"/>
          </p:cNvSpPr>
          <p:nvPr/>
        </p:nvSpPr>
        <p:spPr>
          <a:xfrm>
            <a:off x="6429375" y="4381500"/>
            <a:ext cx="228600" cy="381000"/>
          </a:xfrm>
          <a:prstGeom prst="rect">
            <a:avLst/>
          </a:prstGeom>
          <a:noFill/>
          <a:ln w="0">
            <a:noFill/>
            <a:prstDash val="solid"/>
          </a:ln>
        </p:spPr>
        <p:txBody>
          <a:bodyPr/>
          <a:lstStyle/>
          <a:p>
            <a:pPr algn="l">
              <a:defRPr sz="1350" b="1" i="0">
                <a:solidFill>
                  <a:srgbClr val="C96A60"/>
                </a:solidFill>
              </a:defRPr>
            </a:pPr>
            <a:r>
              <a:rPr sz="1350" b="1" i="0">
                <a:solidFill>
                  <a:srgbClr val="C96A60"/>
                </a:solidFill>
              </a:rPr>
              <a:t>•</a:t>
            </a:r>
          </a:p>
        </p:txBody>
      </p:sp>
      <p:sp>
        <p:nvSpPr>
          <p:cNvPr id="24" name="Rectangle 23">
            <a:extLst>
              <a:ext uri="{FF2B5EF4-FFF2-40B4-BE49-F238E27FC236}">
                <a16:creationId xmlns:a16="http://schemas.microsoft.com/office/drawing/2014/main" id="{A012E76C-82E5-4962-BAF3-2405EB841EC0}"/>
              </a:ext>
            </a:extLst>
          </p:cNvPr>
          <p:cNvSpPr>
            <a:spLocks noGrp="1"/>
          </p:cNvSpPr>
          <p:nvPr/>
        </p:nvSpPr>
        <p:spPr>
          <a:xfrm>
            <a:off x="6696075" y="4381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Người nước ngoài</a:t>
            </a:r>
          </a:p>
        </p:txBody>
      </p:sp>
      <p:sp>
        <p:nvSpPr>
          <p:cNvPr id="25" name="Rectangle 24">
            <a:extLst>
              <a:ext uri="{FF2B5EF4-FFF2-40B4-BE49-F238E27FC236}">
                <a16:creationId xmlns:a16="http://schemas.microsoft.com/office/drawing/2014/main" id="{A1F92078-2873-4CDF-AB88-DC8AAF071B77}"/>
              </a:ext>
            </a:extLst>
          </p:cNvPr>
          <p:cNvSpPr>
            <a:spLocks noGrp="1"/>
          </p:cNvSpPr>
          <p:nvPr/>
        </p:nvSpPr>
        <p:spPr>
          <a:xfrm>
            <a:off x="6429375" y="4762500"/>
            <a:ext cx="228600" cy="381000"/>
          </a:xfrm>
          <a:prstGeom prst="rect">
            <a:avLst/>
          </a:prstGeom>
          <a:noFill/>
          <a:ln w="0">
            <a:noFill/>
            <a:prstDash val="solid"/>
          </a:ln>
        </p:spPr>
        <p:txBody>
          <a:bodyPr/>
          <a:lstStyle/>
          <a:p>
            <a:pPr algn="l">
              <a:defRPr sz="1350" b="1" i="0">
                <a:solidFill>
                  <a:srgbClr val="C96A60"/>
                </a:solidFill>
              </a:defRPr>
            </a:pPr>
            <a:r>
              <a:rPr sz="1350" b="1" i="0">
                <a:solidFill>
                  <a:srgbClr val="C96A60"/>
                </a:solidFill>
              </a:rPr>
              <a:t>•</a:t>
            </a:r>
          </a:p>
        </p:txBody>
      </p:sp>
      <p:sp>
        <p:nvSpPr>
          <p:cNvPr id="26" name="Rectangle 25">
            <a:extLst>
              <a:ext uri="{FF2B5EF4-FFF2-40B4-BE49-F238E27FC236}">
                <a16:creationId xmlns:a16="http://schemas.microsoft.com/office/drawing/2014/main" id="{08005F9B-D85A-436D-A458-83A286B7BB91}"/>
              </a:ext>
            </a:extLst>
          </p:cNvPr>
          <p:cNvSpPr>
            <a:spLocks noGrp="1"/>
          </p:cNvSpPr>
          <p:nvPr/>
        </p:nvSpPr>
        <p:spPr>
          <a:xfrm>
            <a:off x="6696075" y="4762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Phát hành và giao thẻ vật lý</a:t>
            </a:r>
          </a:p>
        </p:txBody>
      </p:sp>
      <p:sp>
        <p:nvSpPr>
          <p:cNvPr id="27" name="Rectangle 26">
            <a:extLst>
              <a:ext uri="{FF2B5EF4-FFF2-40B4-BE49-F238E27FC236}">
                <a16:creationId xmlns:a16="http://schemas.microsoft.com/office/drawing/2014/main" id="{D855FFCD-B820-4136-B947-86CD728AC191}"/>
              </a:ext>
            </a:extLst>
          </p:cNvPr>
          <p:cNvSpPr>
            <a:spLocks noGrp="1"/>
          </p:cNvSpPr>
          <p:nvPr/>
        </p:nvSpPr>
        <p:spPr>
          <a:xfrm>
            <a:off x="6429375" y="5143500"/>
            <a:ext cx="228600" cy="381000"/>
          </a:xfrm>
          <a:prstGeom prst="rect">
            <a:avLst/>
          </a:prstGeom>
          <a:noFill/>
          <a:ln w="0">
            <a:noFill/>
            <a:prstDash val="solid"/>
          </a:ln>
        </p:spPr>
        <p:txBody>
          <a:bodyPr/>
          <a:lstStyle/>
          <a:p>
            <a:pPr algn="l">
              <a:defRPr sz="1350" b="1" i="0">
                <a:solidFill>
                  <a:srgbClr val="C96A60"/>
                </a:solidFill>
              </a:defRPr>
            </a:pPr>
            <a:r>
              <a:rPr sz="1350" b="1" i="0">
                <a:solidFill>
                  <a:srgbClr val="C96A60"/>
                </a:solidFill>
              </a:rPr>
              <a:t>•</a:t>
            </a:r>
          </a:p>
        </p:txBody>
      </p:sp>
      <p:sp>
        <p:nvSpPr>
          <p:cNvPr id="28" name="Rectangle 27">
            <a:extLst>
              <a:ext uri="{FF2B5EF4-FFF2-40B4-BE49-F238E27FC236}">
                <a16:creationId xmlns:a16="http://schemas.microsoft.com/office/drawing/2014/main" id="{A3B95D3D-81AB-4162-A944-8D715C9F4030}"/>
              </a:ext>
            </a:extLst>
          </p:cNvPr>
          <p:cNvSpPr>
            <a:spLocks noGrp="1"/>
          </p:cNvSpPr>
          <p:nvPr/>
        </p:nvSpPr>
        <p:spPr>
          <a:xfrm>
            <a:off x="6696075" y="5143500"/>
            <a:ext cx="3924300" cy="38100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Các sản phẩm tín dụng hoặc đầu tư</a:t>
            </a:r>
          </a:p>
        </p:txBody>
      </p:sp>
    </p:spTree>
    <p:extLst>
      <p:ext uri="{BB962C8B-B14F-4D97-AF65-F5344CB8AC3E}">
        <p14:creationId xmlns:p14="http://schemas.microsoft.com/office/powerpoint/2010/main" val="492152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B69A72A7-1448-4267-9D95-1E7108EFE023}"/>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49BBDD84-E4F9-4915-973E-BF1277C6AE52}"/>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1. XÁC ĐỊNH NHU CẦU</a:t>
            </a:r>
          </a:p>
        </p:txBody>
      </p:sp>
      <p:sp>
        <p:nvSpPr>
          <p:cNvPr id="3" name="Rectangle 2">
            <a:extLst>
              <a:ext uri="{FF2B5EF4-FFF2-40B4-BE49-F238E27FC236}">
                <a16:creationId xmlns:a16="http://schemas.microsoft.com/office/drawing/2014/main" id="{1F8252C1-DCF7-4140-9B71-C3C7BB9DB991}"/>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BACCM kết nối nhu cầu kinh doanh với giải pháp</a:t>
            </a:r>
          </a:p>
        </p:txBody>
      </p:sp>
      <p:sp>
        <p:nvSpPr>
          <p:cNvPr id="4" name="Rectangle 3">
            <a:extLst>
              <a:ext uri="{FF2B5EF4-FFF2-40B4-BE49-F238E27FC236}">
                <a16:creationId xmlns:a16="http://schemas.microsoft.com/office/drawing/2014/main" id="{214DA2E6-6C15-45D5-A6D2-4BBDBB51145D}"/>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05</a:t>
            </a:r>
          </a:p>
        </p:txBody>
      </p:sp>
      <p:sp>
        <p:nvSpPr>
          <p:cNvPr id="5" name="Rectangle 4">
            <a:extLst>
              <a:ext uri="{FF2B5EF4-FFF2-40B4-BE49-F238E27FC236}">
                <a16:creationId xmlns:a16="http://schemas.microsoft.com/office/drawing/2014/main" id="{2297F0C5-46F4-43B9-B3B9-19879928E022}"/>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5">
            <a:extLst>
              <a:ext uri="{FF2B5EF4-FFF2-40B4-BE49-F238E27FC236}">
                <a16:creationId xmlns:a16="http://schemas.microsoft.com/office/drawing/2014/main" id="{E806424B-BD78-4510-87D4-3ED33FEA2BC9}"/>
              </a:ext>
            </a:extLst>
          </p:cNvPr>
          <p:cNvSpPr>
            <a:spLocks noGrp="1"/>
          </p:cNvSpPr>
          <p:nvPr/>
        </p:nvSpPr>
        <p:spPr>
          <a:xfrm>
            <a:off x="666750" y="1666875"/>
            <a:ext cx="2857500" cy="30480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CONTEXT</a:t>
            </a:r>
          </a:p>
        </p:txBody>
      </p:sp>
      <p:sp>
        <p:nvSpPr>
          <p:cNvPr id="7" name="Straight Connector 6">
            <a:extLst>
              <a:ext uri="{FF2B5EF4-FFF2-40B4-BE49-F238E27FC236}">
                <a16:creationId xmlns:a16="http://schemas.microsoft.com/office/drawing/2014/main" id="{57F2F9EA-8568-4DE0-9530-98E5FC35097B}"/>
              </a:ext>
            </a:extLst>
          </p:cNvPr>
          <p:cNvSpPr>
            <a:spLocks noGrp="1"/>
          </p:cNvSpPr>
          <p:nvPr/>
        </p:nvSpPr>
        <p:spPr>
          <a:xfrm>
            <a:off x="666750" y="2066925"/>
            <a:ext cx="2857500" cy="9525"/>
          </a:xfrm>
          <a:prstGeom prst="line">
            <a:avLst/>
          </a:prstGeom>
          <a:noFill/>
          <a:ln w="9525">
            <a:solidFill>
              <a:srgbClr val="A7C7A4"/>
            </a:solidFill>
            <a:prstDash val="solid"/>
          </a:ln>
        </p:spPr>
      </p:sp>
      <p:sp>
        <p:nvSpPr>
          <p:cNvPr id="8" name="Rectangle 7">
            <a:extLst>
              <a:ext uri="{FF2B5EF4-FFF2-40B4-BE49-F238E27FC236}">
                <a16:creationId xmlns:a16="http://schemas.microsoft.com/office/drawing/2014/main" id="{47E1B047-BF78-48AB-B80B-77489C255563}"/>
              </a:ext>
            </a:extLst>
          </p:cNvPr>
          <p:cNvSpPr>
            <a:spLocks noGrp="1"/>
          </p:cNvSpPr>
          <p:nvPr/>
        </p:nvSpPr>
        <p:spPr>
          <a:xfrm>
            <a:off x="666750" y="2219325"/>
            <a:ext cx="3143250" cy="1066800"/>
          </a:xfrm>
          <a:prstGeom prst="rect">
            <a:avLst/>
          </a:prstGeom>
          <a:noFill/>
          <a:ln w="0">
            <a:noFill/>
            <a:prstDash val="solid"/>
          </a:ln>
        </p:spPr>
        <p:txBody>
          <a:bodyPr/>
          <a:lstStyle/>
          <a:p>
            <a:pPr>
              <a:defRPr sz="1350" b="0" i="0">
                <a:solidFill>
                  <a:srgbClr val="183127"/>
                </a:solidFill>
              </a:defRPr>
            </a:pPr>
            <a:r>
              <a:rPr lang="vi-VN" sz="1350" dirty="0"/>
              <a:t>Cạnh tranh ngân hàng, xu hướng số hóa, smartphone phổ biến và hành lang pháp lý eKYC tạo điều kiện mở tài khoản online.</a:t>
            </a:r>
            <a:endParaRPr sz="1350" b="0" i="0" dirty="0">
              <a:solidFill>
                <a:srgbClr val="183127"/>
              </a:solidFill>
            </a:endParaRPr>
          </a:p>
        </p:txBody>
      </p:sp>
      <p:sp>
        <p:nvSpPr>
          <p:cNvPr id="9" name="Rectangle 8">
            <a:extLst>
              <a:ext uri="{FF2B5EF4-FFF2-40B4-BE49-F238E27FC236}">
                <a16:creationId xmlns:a16="http://schemas.microsoft.com/office/drawing/2014/main" id="{7374F4EF-F089-46C4-8558-9A4B410B06C2}"/>
              </a:ext>
            </a:extLst>
          </p:cNvPr>
          <p:cNvSpPr>
            <a:spLocks noGrp="1"/>
          </p:cNvSpPr>
          <p:nvPr/>
        </p:nvSpPr>
        <p:spPr>
          <a:xfrm>
            <a:off x="4381500" y="1666875"/>
            <a:ext cx="2857500" cy="30480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CHANGE</a:t>
            </a:r>
          </a:p>
        </p:txBody>
      </p:sp>
      <p:sp>
        <p:nvSpPr>
          <p:cNvPr id="10" name="Straight Connector 9">
            <a:extLst>
              <a:ext uri="{FF2B5EF4-FFF2-40B4-BE49-F238E27FC236}">
                <a16:creationId xmlns:a16="http://schemas.microsoft.com/office/drawing/2014/main" id="{E9392CBD-915B-46A8-BEB3-16C5A2F164AC}"/>
              </a:ext>
            </a:extLst>
          </p:cNvPr>
          <p:cNvSpPr>
            <a:spLocks noGrp="1"/>
          </p:cNvSpPr>
          <p:nvPr/>
        </p:nvSpPr>
        <p:spPr>
          <a:xfrm>
            <a:off x="4381500" y="2066925"/>
            <a:ext cx="2857500" cy="9525"/>
          </a:xfrm>
          <a:prstGeom prst="line">
            <a:avLst/>
          </a:prstGeom>
          <a:noFill/>
          <a:ln w="9525">
            <a:solidFill>
              <a:srgbClr val="A7C7A4"/>
            </a:solidFill>
            <a:prstDash val="solid"/>
          </a:ln>
        </p:spPr>
      </p:sp>
      <p:sp>
        <p:nvSpPr>
          <p:cNvPr id="11" name="Rectangle 10">
            <a:extLst>
              <a:ext uri="{FF2B5EF4-FFF2-40B4-BE49-F238E27FC236}">
                <a16:creationId xmlns:a16="http://schemas.microsoft.com/office/drawing/2014/main" id="{F936AAD0-E86C-4892-9C17-CE723D86B124}"/>
              </a:ext>
            </a:extLst>
          </p:cNvPr>
          <p:cNvSpPr>
            <a:spLocks noGrp="1"/>
          </p:cNvSpPr>
          <p:nvPr/>
        </p:nvSpPr>
        <p:spPr>
          <a:xfrm>
            <a:off x="4381500" y="2219325"/>
            <a:ext cx="3143250" cy="1066800"/>
          </a:xfrm>
          <a:prstGeom prst="rect">
            <a:avLst/>
          </a:prstGeom>
          <a:noFill/>
          <a:ln w="0">
            <a:noFill/>
            <a:prstDash val="solid"/>
          </a:ln>
        </p:spPr>
        <p:txBody>
          <a:bodyPr/>
          <a:lstStyle/>
          <a:p>
            <a:pPr>
              <a:defRPr sz="1350" b="0" i="0">
                <a:solidFill>
                  <a:srgbClr val="183127"/>
                </a:solidFill>
              </a:defRPr>
            </a:pPr>
            <a:r>
              <a:rPr lang="vi-VN" sz="1350" dirty="0"/>
              <a:t>Chuyển từ xác minh trực tiếp tại quầy sang mở tài khoản online, định danh tự động bằng eKYC.</a:t>
            </a:r>
            <a:endParaRPr sz="1350" b="0" i="0" dirty="0">
              <a:solidFill>
                <a:srgbClr val="183127"/>
              </a:solidFill>
            </a:endParaRPr>
          </a:p>
        </p:txBody>
      </p:sp>
      <p:sp>
        <p:nvSpPr>
          <p:cNvPr id="12" name="Rectangle 11">
            <a:extLst>
              <a:ext uri="{FF2B5EF4-FFF2-40B4-BE49-F238E27FC236}">
                <a16:creationId xmlns:a16="http://schemas.microsoft.com/office/drawing/2014/main" id="{3C5B886F-5C2C-477F-84C0-03D972F6788A}"/>
              </a:ext>
            </a:extLst>
          </p:cNvPr>
          <p:cNvSpPr>
            <a:spLocks noGrp="1"/>
          </p:cNvSpPr>
          <p:nvPr/>
        </p:nvSpPr>
        <p:spPr>
          <a:xfrm>
            <a:off x="8096250" y="1666875"/>
            <a:ext cx="2857500" cy="30480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STAKEHOLDERS</a:t>
            </a:r>
          </a:p>
        </p:txBody>
      </p:sp>
      <p:sp>
        <p:nvSpPr>
          <p:cNvPr id="13" name="Straight Connector 12">
            <a:extLst>
              <a:ext uri="{FF2B5EF4-FFF2-40B4-BE49-F238E27FC236}">
                <a16:creationId xmlns:a16="http://schemas.microsoft.com/office/drawing/2014/main" id="{C4D029A3-64B5-4DD9-9C48-9DB58F98BE32}"/>
              </a:ext>
            </a:extLst>
          </p:cNvPr>
          <p:cNvSpPr>
            <a:spLocks noGrp="1"/>
          </p:cNvSpPr>
          <p:nvPr/>
        </p:nvSpPr>
        <p:spPr>
          <a:xfrm>
            <a:off x="8096250" y="2066925"/>
            <a:ext cx="2857500" cy="9525"/>
          </a:xfrm>
          <a:prstGeom prst="line">
            <a:avLst/>
          </a:prstGeom>
          <a:noFill/>
          <a:ln w="9525">
            <a:solidFill>
              <a:srgbClr val="A7C7A4"/>
            </a:solidFill>
            <a:prstDash val="solid"/>
          </a:ln>
        </p:spPr>
      </p:sp>
      <p:sp>
        <p:nvSpPr>
          <p:cNvPr id="14" name="Rectangle 13">
            <a:extLst>
              <a:ext uri="{FF2B5EF4-FFF2-40B4-BE49-F238E27FC236}">
                <a16:creationId xmlns:a16="http://schemas.microsoft.com/office/drawing/2014/main" id="{F9A8DC18-C61F-4941-B3AA-F151E54EBDC1}"/>
              </a:ext>
            </a:extLst>
          </p:cNvPr>
          <p:cNvSpPr>
            <a:spLocks noGrp="1"/>
          </p:cNvSpPr>
          <p:nvPr/>
        </p:nvSpPr>
        <p:spPr>
          <a:xfrm>
            <a:off x="8096250" y="2219325"/>
            <a:ext cx="3143250" cy="1066800"/>
          </a:xfrm>
          <a:prstGeom prst="rect">
            <a:avLst/>
          </a:prstGeom>
          <a:noFill/>
          <a:ln w="0">
            <a:noFill/>
            <a:prstDash val="solid"/>
          </a:ln>
        </p:spPr>
        <p:txBody>
          <a:bodyPr/>
          <a:lstStyle/>
          <a:p>
            <a:pPr algn="l">
              <a:defRPr sz="1350" b="0" i="0">
                <a:solidFill>
                  <a:srgbClr val="183127"/>
                </a:solidFill>
              </a:defRPr>
            </a:pPr>
            <a:r>
              <a:rPr sz="1350" b="0" i="0" dirty="0" err="1">
                <a:solidFill>
                  <a:srgbClr val="183127"/>
                </a:solidFill>
              </a:rPr>
              <a:t>Khách</a:t>
            </a:r>
            <a:r>
              <a:rPr sz="1350" b="0" i="0" dirty="0">
                <a:solidFill>
                  <a:srgbClr val="183127"/>
                </a:solidFill>
              </a:rPr>
              <a:t> </a:t>
            </a:r>
            <a:r>
              <a:rPr sz="1350" b="0" i="0" dirty="0" err="1">
                <a:solidFill>
                  <a:srgbClr val="183127"/>
                </a:solidFill>
              </a:rPr>
              <a:t>hàng</a:t>
            </a:r>
            <a:r>
              <a:rPr sz="1350" b="0" i="0" dirty="0">
                <a:solidFill>
                  <a:srgbClr val="183127"/>
                </a:solidFill>
              </a:rPr>
              <a:t>, Ban </a:t>
            </a:r>
            <a:r>
              <a:rPr sz="1350" b="0" i="0" dirty="0" err="1">
                <a:solidFill>
                  <a:srgbClr val="183127"/>
                </a:solidFill>
              </a:rPr>
              <a:t>lãnh</a:t>
            </a:r>
            <a:r>
              <a:rPr sz="1350" b="0" i="0" dirty="0">
                <a:solidFill>
                  <a:srgbClr val="183127"/>
                </a:solidFill>
              </a:rPr>
              <a:t> </a:t>
            </a:r>
            <a:r>
              <a:rPr sz="1350" b="0" i="0" dirty="0" err="1">
                <a:solidFill>
                  <a:srgbClr val="183127"/>
                </a:solidFill>
              </a:rPr>
              <a:t>đạo</a:t>
            </a:r>
            <a:r>
              <a:rPr sz="1350" b="0" i="0" dirty="0">
                <a:solidFill>
                  <a:srgbClr val="183127"/>
                </a:solidFill>
              </a:rPr>
              <a:t>, </a:t>
            </a:r>
            <a:r>
              <a:rPr lang="en-US" sz="1350" b="0" i="0" dirty="0" err="1">
                <a:solidFill>
                  <a:srgbClr val="183127"/>
                </a:solidFill>
              </a:rPr>
              <a:t>Bộ</a:t>
            </a:r>
            <a:r>
              <a:rPr lang="en-US" sz="1350" b="0" i="0" dirty="0">
                <a:solidFill>
                  <a:srgbClr val="183127"/>
                </a:solidFill>
              </a:rPr>
              <a:t> </a:t>
            </a:r>
            <a:r>
              <a:rPr lang="en-US" sz="1350" b="0" i="0" dirty="0" err="1">
                <a:solidFill>
                  <a:srgbClr val="183127"/>
                </a:solidFill>
              </a:rPr>
              <a:t>phận</a:t>
            </a:r>
            <a:r>
              <a:rPr lang="en-US" sz="1350" b="0" i="0" dirty="0">
                <a:solidFill>
                  <a:srgbClr val="183127"/>
                </a:solidFill>
              </a:rPr>
              <a:t> </a:t>
            </a:r>
            <a:r>
              <a:rPr lang="en-US" sz="1350" dirty="0" err="1">
                <a:solidFill>
                  <a:srgbClr val="183127"/>
                </a:solidFill>
              </a:rPr>
              <a:t>p</a:t>
            </a:r>
            <a:r>
              <a:rPr sz="1350" b="0" i="0" dirty="0" err="1">
                <a:solidFill>
                  <a:srgbClr val="183127"/>
                </a:solidFill>
              </a:rPr>
              <a:t>háp</a:t>
            </a:r>
            <a:r>
              <a:rPr sz="1350" b="0" i="0" dirty="0">
                <a:solidFill>
                  <a:srgbClr val="183127"/>
                </a:solidFill>
              </a:rPr>
              <a:t> </a:t>
            </a:r>
            <a:r>
              <a:rPr sz="1350" b="0" i="0" dirty="0" err="1">
                <a:solidFill>
                  <a:srgbClr val="183127"/>
                </a:solidFill>
              </a:rPr>
              <a:t>chế</a:t>
            </a:r>
            <a:r>
              <a:rPr sz="1350" b="0" i="0" dirty="0">
                <a:solidFill>
                  <a:srgbClr val="183127"/>
                </a:solidFill>
              </a:rPr>
              <a:t>, Ng</a:t>
            </a:r>
            <a:r>
              <a:rPr lang="en-US" sz="1350" dirty="0">
                <a:solidFill>
                  <a:srgbClr val="183127"/>
                </a:solidFill>
              </a:rPr>
              <a:t>ân </a:t>
            </a:r>
            <a:r>
              <a:rPr lang="en-US" sz="1350" dirty="0" err="1">
                <a:solidFill>
                  <a:srgbClr val="183127"/>
                </a:solidFill>
              </a:rPr>
              <a:t>hàng</a:t>
            </a:r>
            <a:r>
              <a:rPr lang="en-US" sz="1350" dirty="0">
                <a:solidFill>
                  <a:srgbClr val="183127"/>
                </a:solidFill>
              </a:rPr>
              <a:t> </a:t>
            </a:r>
            <a:r>
              <a:rPr lang="en-US" sz="1350" dirty="0" err="1">
                <a:solidFill>
                  <a:srgbClr val="183127"/>
                </a:solidFill>
              </a:rPr>
              <a:t>nhà</a:t>
            </a:r>
            <a:r>
              <a:rPr lang="en-US" sz="1350" dirty="0">
                <a:solidFill>
                  <a:srgbClr val="183127"/>
                </a:solidFill>
              </a:rPr>
              <a:t> </a:t>
            </a:r>
            <a:r>
              <a:rPr lang="en-US" sz="1350" dirty="0" err="1">
                <a:solidFill>
                  <a:srgbClr val="183127"/>
                </a:solidFill>
              </a:rPr>
              <a:t>nước</a:t>
            </a:r>
            <a:r>
              <a:rPr sz="1350" b="0" i="0" dirty="0">
                <a:solidFill>
                  <a:srgbClr val="183127"/>
                </a:solidFill>
              </a:rPr>
              <a:t>,</a:t>
            </a:r>
            <a:r>
              <a:rPr lang="en-US" sz="1350" b="0" i="0" dirty="0">
                <a:solidFill>
                  <a:srgbClr val="183127"/>
                </a:solidFill>
              </a:rPr>
              <a:t> </a:t>
            </a:r>
            <a:r>
              <a:rPr lang="en-US" sz="1350" b="0" i="0" dirty="0" err="1">
                <a:solidFill>
                  <a:srgbClr val="183127"/>
                </a:solidFill>
              </a:rPr>
              <a:t>Bộ</a:t>
            </a:r>
            <a:r>
              <a:rPr lang="en-US" sz="1350" b="0" i="0" dirty="0">
                <a:solidFill>
                  <a:srgbClr val="183127"/>
                </a:solidFill>
              </a:rPr>
              <a:t> </a:t>
            </a:r>
            <a:r>
              <a:rPr lang="en-US" sz="1350" b="0" i="0" dirty="0" err="1">
                <a:solidFill>
                  <a:srgbClr val="183127"/>
                </a:solidFill>
              </a:rPr>
              <a:t>phận</a:t>
            </a:r>
            <a:r>
              <a:rPr sz="1350" b="0" i="0" dirty="0">
                <a:solidFill>
                  <a:srgbClr val="183127"/>
                </a:solidFill>
              </a:rPr>
              <a:t> IT </a:t>
            </a:r>
            <a:r>
              <a:rPr sz="1350" b="0" i="0" dirty="0" err="1">
                <a:solidFill>
                  <a:srgbClr val="183127"/>
                </a:solidFill>
              </a:rPr>
              <a:t>và</a:t>
            </a:r>
            <a:r>
              <a:rPr sz="1350" b="0" i="0" dirty="0">
                <a:solidFill>
                  <a:srgbClr val="183127"/>
                </a:solidFill>
              </a:rPr>
              <a:t> </a:t>
            </a:r>
            <a:r>
              <a:rPr sz="1350" b="0" i="0" dirty="0" err="1">
                <a:solidFill>
                  <a:srgbClr val="183127"/>
                </a:solidFill>
              </a:rPr>
              <a:t>eKYC</a:t>
            </a:r>
            <a:r>
              <a:rPr sz="1350" b="0" i="0" dirty="0">
                <a:solidFill>
                  <a:srgbClr val="183127"/>
                </a:solidFill>
              </a:rPr>
              <a:t> Vendor.</a:t>
            </a:r>
          </a:p>
        </p:txBody>
      </p:sp>
      <p:sp>
        <p:nvSpPr>
          <p:cNvPr id="15" name="Rectangle 14">
            <a:extLst>
              <a:ext uri="{FF2B5EF4-FFF2-40B4-BE49-F238E27FC236}">
                <a16:creationId xmlns:a16="http://schemas.microsoft.com/office/drawing/2014/main" id="{2DB772AA-BC0B-4CB3-9AE1-8A7B77872F5A}"/>
              </a:ext>
            </a:extLst>
          </p:cNvPr>
          <p:cNvSpPr>
            <a:spLocks noGrp="1"/>
          </p:cNvSpPr>
          <p:nvPr/>
        </p:nvSpPr>
        <p:spPr>
          <a:xfrm>
            <a:off x="666750" y="3857625"/>
            <a:ext cx="2857500" cy="30480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NEEDS</a:t>
            </a:r>
          </a:p>
        </p:txBody>
      </p:sp>
      <p:sp>
        <p:nvSpPr>
          <p:cNvPr id="16" name="Straight Connector 15">
            <a:extLst>
              <a:ext uri="{FF2B5EF4-FFF2-40B4-BE49-F238E27FC236}">
                <a16:creationId xmlns:a16="http://schemas.microsoft.com/office/drawing/2014/main" id="{63EA383E-BC41-4B87-8385-C2B6A041340F}"/>
              </a:ext>
            </a:extLst>
          </p:cNvPr>
          <p:cNvSpPr>
            <a:spLocks noGrp="1"/>
          </p:cNvSpPr>
          <p:nvPr/>
        </p:nvSpPr>
        <p:spPr>
          <a:xfrm>
            <a:off x="666750" y="4257675"/>
            <a:ext cx="2857500" cy="9525"/>
          </a:xfrm>
          <a:prstGeom prst="line">
            <a:avLst/>
          </a:prstGeom>
          <a:noFill/>
          <a:ln w="9525">
            <a:solidFill>
              <a:srgbClr val="A7C7A4"/>
            </a:solidFill>
            <a:prstDash val="solid"/>
          </a:ln>
        </p:spPr>
      </p:sp>
      <p:sp>
        <p:nvSpPr>
          <p:cNvPr id="17" name="Rectangle 16">
            <a:extLst>
              <a:ext uri="{FF2B5EF4-FFF2-40B4-BE49-F238E27FC236}">
                <a16:creationId xmlns:a16="http://schemas.microsoft.com/office/drawing/2014/main" id="{0372D650-B66F-4EE3-92D6-467363A8D375}"/>
              </a:ext>
            </a:extLst>
          </p:cNvPr>
          <p:cNvSpPr>
            <a:spLocks noGrp="1"/>
          </p:cNvSpPr>
          <p:nvPr/>
        </p:nvSpPr>
        <p:spPr>
          <a:xfrm>
            <a:off x="666750" y="4410075"/>
            <a:ext cx="3143250" cy="1066800"/>
          </a:xfrm>
          <a:prstGeom prst="rect">
            <a:avLst/>
          </a:prstGeom>
          <a:noFill/>
          <a:ln w="0">
            <a:noFill/>
            <a:prstDash val="solid"/>
          </a:ln>
        </p:spPr>
        <p:txBody>
          <a:bodyPr/>
          <a:lstStyle/>
          <a:p>
            <a:pPr>
              <a:defRPr sz="1350" b="0" i="0">
                <a:solidFill>
                  <a:srgbClr val="183127"/>
                </a:solidFill>
              </a:defRPr>
            </a:pPr>
            <a:r>
              <a:rPr lang="vi-VN" sz="1350" dirty="0"/>
              <a:t>Giảm chi phí nhân sự tại quầy, mở rộng phạm vi phục vụ và tăng khả năng mở rộng quy mô.</a:t>
            </a:r>
            <a:endParaRPr sz="1350" b="0" i="0" dirty="0">
              <a:solidFill>
                <a:srgbClr val="183127"/>
              </a:solidFill>
            </a:endParaRPr>
          </a:p>
        </p:txBody>
      </p:sp>
      <p:sp>
        <p:nvSpPr>
          <p:cNvPr id="18" name="Rectangle 17">
            <a:extLst>
              <a:ext uri="{FF2B5EF4-FFF2-40B4-BE49-F238E27FC236}">
                <a16:creationId xmlns:a16="http://schemas.microsoft.com/office/drawing/2014/main" id="{46E4EB75-DD0C-4160-A6F0-5737BFDA32A8}"/>
              </a:ext>
            </a:extLst>
          </p:cNvPr>
          <p:cNvSpPr>
            <a:spLocks noGrp="1"/>
          </p:cNvSpPr>
          <p:nvPr/>
        </p:nvSpPr>
        <p:spPr>
          <a:xfrm>
            <a:off x="4381500" y="3857625"/>
            <a:ext cx="2857500" cy="30480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SOLUTION</a:t>
            </a:r>
          </a:p>
        </p:txBody>
      </p:sp>
      <p:sp>
        <p:nvSpPr>
          <p:cNvPr id="19" name="Straight Connector 18">
            <a:extLst>
              <a:ext uri="{FF2B5EF4-FFF2-40B4-BE49-F238E27FC236}">
                <a16:creationId xmlns:a16="http://schemas.microsoft.com/office/drawing/2014/main" id="{93D39350-D74D-4159-9059-AAAE95BB2245}"/>
              </a:ext>
            </a:extLst>
          </p:cNvPr>
          <p:cNvSpPr>
            <a:spLocks noGrp="1"/>
          </p:cNvSpPr>
          <p:nvPr/>
        </p:nvSpPr>
        <p:spPr>
          <a:xfrm>
            <a:off x="4381500" y="4257675"/>
            <a:ext cx="2857500" cy="9525"/>
          </a:xfrm>
          <a:prstGeom prst="line">
            <a:avLst/>
          </a:prstGeom>
          <a:noFill/>
          <a:ln w="9525">
            <a:solidFill>
              <a:srgbClr val="A7C7A4"/>
            </a:solidFill>
            <a:prstDash val="solid"/>
          </a:ln>
        </p:spPr>
      </p:sp>
      <p:sp>
        <p:nvSpPr>
          <p:cNvPr id="20" name="Rectangle 19">
            <a:extLst>
              <a:ext uri="{FF2B5EF4-FFF2-40B4-BE49-F238E27FC236}">
                <a16:creationId xmlns:a16="http://schemas.microsoft.com/office/drawing/2014/main" id="{057A010E-B34A-4F72-BB96-5076D591B50A}"/>
              </a:ext>
            </a:extLst>
          </p:cNvPr>
          <p:cNvSpPr>
            <a:spLocks noGrp="1"/>
          </p:cNvSpPr>
          <p:nvPr/>
        </p:nvSpPr>
        <p:spPr>
          <a:xfrm>
            <a:off x="4381500" y="4410075"/>
            <a:ext cx="3143250" cy="1066800"/>
          </a:xfrm>
          <a:prstGeom prst="rect">
            <a:avLst/>
          </a:prstGeom>
          <a:noFill/>
          <a:ln w="0">
            <a:noFill/>
            <a:prstDash val="solid"/>
          </a:ln>
        </p:spPr>
        <p:txBody>
          <a:bodyPr/>
          <a:lstStyle/>
          <a:p>
            <a:pPr>
              <a:defRPr sz="1350" b="0" i="0">
                <a:solidFill>
                  <a:srgbClr val="183127"/>
                </a:solidFill>
              </a:defRPr>
            </a:pPr>
            <a:r>
              <a:rPr lang="vi-VN" sz="1350" dirty="0"/>
              <a:t>Mobile App + eKYC (OCR, Face Matching/Liveness) + Core Banking tự động tạo tài khoản.</a:t>
            </a:r>
            <a:endParaRPr sz="1350" b="0" i="0" dirty="0">
              <a:solidFill>
                <a:srgbClr val="183127"/>
              </a:solidFill>
            </a:endParaRPr>
          </a:p>
        </p:txBody>
      </p:sp>
      <p:sp>
        <p:nvSpPr>
          <p:cNvPr id="21" name="Rectangle 20">
            <a:extLst>
              <a:ext uri="{FF2B5EF4-FFF2-40B4-BE49-F238E27FC236}">
                <a16:creationId xmlns:a16="http://schemas.microsoft.com/office/drawing/2014/main" id="{8614C0B8-56AF-4D98-ABDE-C3FD121D66BB}"/>
              </a:ext>
            </a:extLst>
          </p:cNvPr>
          <p:cNvSpPr>
            <a:spLocks noGrp="1"/>
          </p:cNvSpPr>
          <p:nvPr/>
        </p:nvSpPr>
        <p:spPr>
          <a:xfrm>
            <a:off x="8096250" y="3857625"/>
            <a:ext cx="2857500" cy="30480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VALUE</a:t>
            </a:r>
          </a:p>
        </p:txBody>
      </p:sp>
      <p:sp>
        <p:nvSpPr>
          <p:cNvPr id="22" name="Straight Connector 21">
            <a:extLst>
              <a:ext uri="{FF2B5EF4-FFF2-40B4-BE49-F238E27FC236}">
                <a16:creationId xmlns:a16="http://schemas.microsoft.com/office/drawing/2014/main" id="{3FB6DC6A-4CF4-4E31-8C52-6CC09F36D16C}"/>
              </a:ext>
            </a:extLst>
          </p:cNvPr>
          <p:cNvSpPr>
            <a:spLocks noGrp="1"/>
          </p:cNvSpPr>
          <p:nvPr/>
        </p:nvSpPr>
        <p:spPr>
          <a:xfrm>
            <a:off x="8096250" y="4257675"/>
            <a:ext cx="2857500" cy="9525"/>
          </a:xfrm>
          <a:prstGeom prst="line">
            <a:avLst/>
          </a:prstGeom>
          <a:noFill/>
          <a:ln w="9525">
            <a:solidFill>
              <a:srgbClr val="A7C7A4"/>
            </a:solidFill>
            <a:prstDash val="solid"/>
          </a:ln>
        </p:spPr>
      </p:sp>
      <p:sp>
        <p:nvSpPr>
          <p:cNvPr id="23" name="Rectangle 22">
            <a:extLst>
              <a:ext uri="{FF2B5EF4-FFF2-40B4-BE49-F238E27FC236}">
                <a16:creationId xmlns:a16="http://schemas.microsoft.com/office/drawing/2014/main" id="{3216DCE8-8E9E-4EE6-8FF4-03173A7EA7FF}"/>
              </a:ext>
            </a:extLst>
          </p:cNvPr>
          <p:cNvSpPr>
            <a:spLocks noGrp="1"/>
          </p:cNvSpPr>
          <p:nvPr/>
        </p:nvSpPr>
        <p:spPr>
          <a:xfrm>
            <a:off x="8096250" y="4410075"/>
            <a:ext cx="3143250" cy="1066800"/>
          </a:xfrm>
          <a:prstGeom prst="rect">
            <a:avLst/>
          </a:prstGeom>
          <a:noFill/>
          <a:ln w="0">
            <a:noFill/>
            <a:prstDash val="solid"/>
          </a:ln>
        </p:spPr>
        <p:txBody>
          <a:bodyPr/>
          <a:lstStyle/>
          <a:p>
            <a:pPr>
              <a:defRPr sz="1350" b="0" i="0">
                <a:solidFill>
                  <a:srgbClr val="183127"/>
                </a:solidFill>
              </a:defRPr>
            </a:pPr>
            <a:r>
              <a:rPr lang="vi-VN" sz="1350" dirty="0"/>
              <a:t>Rút thời gian từ khoảng 30 xuống dưới 10 phút; giảm 70% khối lượng xử lý và 40–50% chi phí; tiếp cận khách hàng từ xa.</a:t>
            </a:r>
            <a:endParaRPr sz="1350" b="0" i="0" dirty="0">
              <a:solidFill>
                <a:srgbClr val="183127"/>
              </a:solidFill>
            </a:endParaRPr>
          </a:p>
        </p:txBody>
      </p:sp>
    </p:spTree>
    <p:extLst>
      <p:ext uri="{BB962C8B-B14F-4D97-AF65-F5344CB8AC3E}">
        <p14:creationId xmlns:p14="http://schemas.microsoft.com/office/powerpoint/2010/main" val="858836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665F11FA-D727-42D2-AE15-B96CD21BB3A2}"/>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B3415AE8-605F-49E8-B534-68010BECC131}"/>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1. XÁC ĐỊNH NHU CẦU</a:t>
            </a:r>
          </a:p>
        </p:txBody>
      </p:sp>
      <p:sp>
        <p:nvSpPr>
          <p:cNvPr id="3" name="Rectangle 2">
            <a:extLst>
              <a:ext uri="{FF2B5EF4-FFF2-40B4-BE49-F238E27FC236}">
                <a16:creationId xmlns:a16="http://schemas.microsoft.com/office/drawing/2014/main" id="{6F41AE12-C5D9-46A7-8203-DD449FA6501F}"/>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Mỗi stakeholder quan tâm một khía cạnh khác nhau</a:t>
            </a:r>
          </a:p>
        </p:txBody>
      </p:sp>
      <p:sp>
        <p:nvSpPr>
          <p:cNvPr id="4" name="Rectangle 3">
            <a:extLst>
              <a:ext uri="{FF2B5EF4-FFF2-40B4-BE49-F238E27FC236}">
                <a16:creationId xmlns:a16="http://schemas.microsoft.com/office/drawing/2014/main" id="{72DF7F52-0F05-44DC-8B66-1632A434EF67}"/>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06</a:t>
            </a:r>
          </a:p>
        </p:txBody>
      </p:sp>
      <p:sp>
        <p:nvSpPr>
          <p:cNvPr id="5" name="Rectangle 4">
            <a:extLst>
              <a:ext uri="{FF2B5EF4-FFF2-40B4-BE49-F238E27FC236}">
                <a16:creationId xmlns:a16="http://schemas.microsoft.com/office/drawing/2014/main" id="{409394E0-4962-4E18-941E-006EDB2E4DAD}"/>
              </a:ext>
            </a:extLst>
          </p:cNvPr>
          <p:cNvSpPr>
            <a:spLocks noGrp="1"/>
          </p:cNvSpPr>
          <p:nvPr/>
        </p:nvSpPr>
        <p:spPr>
          <a:xfrm>
            <a:off x="10572750" y="6242233"/>
            <a:ext cx="1143000" cy="361950"/>
          </a:xfrm>
          <a:prstGeom prst="rect">
            <a:avLst/>
          </a:prstGeom>
          <a:noFill/>
          <a:ln w="0">
            <a:noFill/>
            <a:prstDash val="solid"/>
          </a:ln>
        </p:spPr>
        <p:txBody>
          <a:bodyPr/>
          <a:lstStyle/>
          <a:p>
            <a:pPr algn="r">
              <a:defRPr sz="1875" b="1" i="1">
                <a:solidFill>
                  <a:srgbClr val="DDE8DA"/>
                </a:solidFill>
              </a:defRPr>
            </a:pPr>
            <a:r>
              <a:rPr sz="1875" b="1" i="1" dirty="0" err="1">
                <a:solidFill>
                  <a:srgbClr val="DDE8DA"/>
                </a:solidFill>
              </a:rPr>
              <a:t>eKYC</a:t>
            </a:r>
            <a:endParaRPr sz="1875" b="1" i="1" dirty="0">
              <a:solidFill>
                <a:srgbClr val="DDE8DA"/>
              </a:solidFill>
            </a:endParaRPr>
          </a:p>
        </p:txBody>
      </p:sp>
      <p:sp>
        <p:nvSpPr>
          <p:cNvPr id="6" name="Rectangle 5">
            <a:extLst>
              <a:ext uri="{FF2B5EF4-FFF2-40B4-BE49-F238E27FC236}">
                <a16:creationId xmlns:a16="http://schemas.microsoft.com/office/drawing/2014/main" id="{59F3F7D5-BC1A-47CF-B2BC-5A47C3C3A858}"/>
              </a:ext>
            </a:extLst>
          </p:cNvPr>
          <p:cNvSpPr>
            <a:spLocks noGrp="1"/>
          </p:cNvSpPr>
          <p:nvPr/>
        </p:nvSpPr>
        <p:spPr>
          <a:xfrm>
            <a:off x="762000" y="1381125"/>
            <a:ext cx="2857500" cy="266700"/>
          </a:xfrm>
          <a:prstGeom prst="rect">
            <a:avLst/>
          </a:prstGeom>
          <a:noFill/>
          <a:ln w="0">
            <a:noFill/>
            <a:prstDash val="solid"/>
          </a:ln>
        </p:spPr>
        <p:txBody>
          <a:bodyPr/>
          <a:lstStyle/>
          <a:p>
            <a:pPr algn="l">
              <a:defRPr sz="1200" b="1" i="0">
                <a:solidFill>
                  <a:srgbClr val="65756B"/>
                </a:solidFill>
              </a:defRPr>
            </a:pPr>
            <a:r>
              <a:rPr sz="1200" b="1" i="0">
                <a:solidFill>
                  <a:srgbClr val="65756B"/>
                </a:solidFill>
              </a:rPr>
              <a:t>STAKEHOLDER</a:t>
            </a:r>
          </a:p>
        </p:txBody>
      </p:sp>
      <p:sp>
        <p:nvSpPr>
          <p:cNvPr id="7" name="Rectangle 6">
            <a:extLst>
              <a:ext uri="{FF2B5EF4-FFF2-40B4-BE49-F238E27FC236}">
                <a16:creationId xmlns:a16="http://schemas.microsoft.com/office/drawing/2014/main" id="{B60167D7-9CE5-4E74-9818-9C0CDFC3B4EC}"/>
              </a:ext>
            </a:extLst>
          </p:cNvPr>
          <p:cNvSpPr>
            <a:spLocks noGrp="1"/>
          </p:cNvSpPr>
          <p:nvPr/>
        </p:nvSpPr>
        <p:spPr>
          <a:xfrm>
            <a:off x="4381500" y="1381125"/>
            <a:ext cx="5715000" cy="266700"/>
          </a:xfrm>
          <a:prstGeom prst="rect">
            <a:avLst/>
          </a:prstGeom>
          <a:noFill/>
          <a:ln w="0">
            <a:noFill/>
            <a:prstDash val="solid"/>
          </a:ln>
        </p:spPr>
        <p:txBody>
          <a:bodyPr/>
          <a:lstStyle/>
          <a:p>
            <a:pPr algn="l">
              <a:defRPr sz="1200" b="1" i="0">
                <a:solidFill>
                  <a:srgbClr val="65756B"/>
                </a:solidFill>
              </a:defRPr>
            </a:pPr>
            <a:r>
              <a:rPr sz="1200" b="1" i="0">
                <a:solidFill>
                  <a:srgbClr val="65756B"/>
                </a:solidFill>
              </a:rPr>
              <a:t>NHU CẦU CHÍNH</a:t>
            </a:r>
          </a:p>
        </p:txBody>
      </p:sp>
      <p:sp>
        <p:nvSpPr>
          <p:cNvPr id="8" name="Rectangle 7">
            <a:extLst>
              <a:ext uri="{FF2B5EF4-FFF2-40B4-BE49-F238E27FC236}">
                <a16:creationId xmlns:a16="http://schemas.microsoft.com/office/drawing/2014/main" id="{EDF5B226-3208-4F98-A35C-612707CF7FED}"/>
              </a:ext>
            </a:extLst>
          </p:cNvPr>
          <p:cNvSpPr>
            <a:spLocks noGrp="1"/>
          </p:cNvSpPr>
          <p:nvPr/>
        </p:nvSpPr>
        <p:spPr>
          <a:xfrm>
            <a:off x="762000" y="1714500"/>
            <a:ext cx="2952750" cy="457200"/>
          </a:xfrm>
          <a:prstGeom prst="rect">
            <a:avLst/>
          </a:prstGeom>
          <a:noFill/>
          <a:ln w="0">
            <a:noFill/>
            <a:prstDash val="solid"/>
          </a:ln>
        </p:spPr>
        <p:txBody>
          <a:bodyPr/>
          <a:lstStyle/>
          <a:p>
            <a:pPr algn="l">
              <a:defRPr sz="1575" b="1" i="0">
                <a:solidFill>
                  <a:srgbClr val="2E5B3A"/>
                </a:solidFill>
              </a:defRPr>
            </a:pPr>
            <a:r>
              <a:rPr sz="1575" b="1" i="0">
                <a:solidFill>
                  <a:srgbClr val="2E5B3A"/>
                </a:solidFill>
              </a:rPr>
              <a:t>Khách hàng</a:t>
            </a:r>
          </a:p>
        </p:txBody>
      </p:sp>
      <p:sp>
        <p:nvSpPr>
          <p:cNvPr id="9" name="Rectangle 8">
            <a:extLst>
              <a:ext uri="{FF2B5EF4-FFF2-40B4-BE49-F238E27FC236}">
                <a16:creationId xmlns:a16="http://schemas.microsoft.com/office/drawing/2014/main" id="{1DDE4226-1B38-4746-833F-6B6A88F48D2C}"/>
              </a:ext>
            </a:extLst>
          </p:cNvPr>
          <p:cNvSpPr>
            <a:spLocks noGrp="1"/>
          </p:cNvSpPr>
          <p:nvPr/>
        </p:nvSpPr>
        <p:spPr>
          <a:xfrm>
            <a:off x="4381500" y="1714500"/>
            <a:ext cx="6572250" cy="523875"/>
          </a:xfrm>
          <a:prstGeom prst="rect">
            <a:avLst/>
          </a:prstGeom>
          <a:noFill/>
          <a:ln w="0">
            <a:noFill/>
            <a:prstDash val="solid"/>
          </a:ln>
        </p:spPr>
        <p:txBody>
          <a:bodyPr/>
          <a:lstStyle/>
          <a:p>
            <a:pPr>
              <a:defRPr sz="1425" b="0" i="0">
                <a:solidFill>
                  <a:srgbClr val="183127"/>
                </a:solidFill>
              </a:defRPr>
            </a:pPr>
            <a:r>
              <a:rPr lang="vi-VN" sz="1425" dirty="0"/>
              <a:t>Quy trình nhanh, dễ sử dụng; biết rõ trạng thái hồ sơ và nguyên nhân lỗi.</a:t>
            </a:r>
            <a:endParaRPr sz="1425" b="0" i="0" dirty="0">
              <a:solidFill>
                <a:srgbClr val="183127"/>
              </a:solidFill>
            </a:endParaRPr>
          </a:p>
        </p:txBody>
      </p:sp>
      <p:sp>
        <p:nvSpPr>
          <p:cNvPr id="10" name="Straight Connector 9">
            <a:extLst>
              <a:ext uri="{FF2B5EF4-FFF2-40B4-BE49-F238E27FC236}">
                <a16:creationId xmlns:a16="http://schemas.microsoft.com/office/drawing/2014/main" id="{CDC1C988-A216-489A-9BAC-79B6C419FD4F}"/>
              </a:ext>
            </a:extLst>
          </p:cNvPr>
          <p:cNvSpPr>
            <a:spLocks noGrp="1"/>
          </p:cNvSpPr>
          <p:nvPr/>
        </p:nvSpPr>
        <p:spPr>
          <a:xfrm>
            <a:off x="762000" y="2206438"/>
            <a:ext cx="10191750" cy="9525"/>
          </a:xfrm>
          <a:prstGeom prst="line">
            <a:avLst/>
          </a:prstGeom>
          <a:noFill/>
          <a:ln w="9525">
            <a:solidFill>
              <a:srgbClr val="C8D9C5"/>
            </a:solidFill>
            <a:prstDash val="solid"/>
          </a:ln>
        </p:spPr>
      </p:sp>
      <p:sp>
        <p:nvSpPr>
          <p:cNvPr id="11" name="Rectangle 10">
            <a:extLst>
              <a:ext uri="{FF2B5EF4-FFF2-40B4-BE49-F238E27FC236}">
                <a16:creationId xmlns:a16="http://schemas.microsoft.com/office/drawing/2014/main" id="{7A50439C-B06B-46B1-B71E-1D145E0B9ADE}"/>
              </a:ext>
            </a:extLst>
          </p:cNvPr>
          <p:cNvSpPr>
            <a:spLocks noGrp="1"/>
          </p:cNvSpPr>
          <p:nvPr/>
        </p:nvSpPr>
        <p:spPr>
          <a:xfrm>
            <a:off x="762000" y="2344834"/>
            <a:ext cx="2952750" cy="457200"/>
          </a:xfrm>
          <a:prstGeom prst="rect">
            <a:avLst/>
          </a:prstGeom>
          <a:noFill/>
          <a:ln w="0">
            <a:noFill/>
            <a:prstDash val="solid"/>
          </a:ln>
        </p:spPr>
        <p:txBody>
          <a:bodyPr/>
          <a:lstStyle/>
          <a:p>
            <a:pPr algn="l">
              <a:defRPr sz="1575" b="1" i="0">
                <a:solidFill>
                  <a:srgbClr val="2E5B3A"/>
                </a:solidFill>
              </a:defRPr>
            </a:pPr>
            <a:r>
              <a:rPr sz="1575" b="1" i="0">
                <a:solidFill>
                  <a:srgbClr val="2E5B3A"/>
                </a:solidFill>
              </a:rPr>
              <a:t>Ban lãnh đạo</a:t>
            </a:r>
          </a:p>
        </p:txBody>
      </p:sp>
      <p:sp>
        <p:nvSpPr>
          <p:cNvPr id="12" name="Rectangle 11">
            <a:extLst>
              <a:ext uri="{FF2B5EF4-FFF2-40B4-BE49-F238E27FC236}">
                <a16:creationId xmlns:a16="http://schemas.microsoft.com/office/drawing/2014/main" id="{D53FE255-3DDB-48C0-A588-0C03D0523677}"/>
              </a:ext>
            </a:extLst>
          </p:cNvPr>
          <p:cNvSpPr>
            <a:spLocks noGrp="1"/>
          </p:cNvSpPr>
          <p:nvPr/>
        </p:nvSpPr>
        <p:spPr>
          <a:xfrm>
            <a:off x="4381500" y="2344834"/>
            <a:ext cx="6572250" cy="523875"/>
          </a:xfrm>
          <a:prstGeom prst="rect">
            <a:avLst/>
          </a:prstGeom>
          <a:noFill/>
          <a:ln w="0">
            <a:noFill/>
            <a:prstDash val="solid"/>
          </a:ln>
        </p:spPr>
        <p:txBody>
          <a:bodyPr/>
          <a:lstStyle/>
          <a:p>
            <a:pPr>
              <a:defRPr sz="1425" b="0" i="0">
                <a:solidFill>
                  <a:srgbClr val="183127"/>
                </a:solidFill>
              </a:defRPr>
            </a:pPr>
            <a:r>
              <a:rPr lang="vi-VN" sz="1425" dirty="0"/>
              <a:t>Giảm chi phí xử lý, tăng tỷ lệ mở tài khoản và mở rộng phạm vi phục vụ.</a:t>
            </a:r>
            <a:endParaRPr sz="1425" b="0" i="0" dirty="0">
              <a:solidFill>
                <a:srgbClr val="183127"/>
              </a:solidFill>
            </a:endParaRPr>
          </a:p>
        </p:txBody>
      </p:sp>
      <p:sp>
        <p:nvSpPr>
          <p:cNvPr id="13" name="Straight Connector 12">
            <a:extLst>
              <a:ext uri="{FF2B5EF4-FFF2-40B4-BE49-F238E27FC236}">
                <a16:creationId xmlns:a16="http://schemas.microsoft.com/office/drawing/2014/main" id="{F82172E2-597A-4FFC-84C5-1238D3801EE1}"/>
              </a:ext>
            </a:extLst>
          </p:cNvPr>
          <p:cNvSpPr>
            <a:spLocks noGrp="1"/>
          </p:cNvSpPr>
          <p:nvPr/>
        </p:nvSpPr>
        <p:spPr>
          <a:xfrm>
            <a:off x="762000" y="2872629"/>
            <a:ext cx="10191750" cy="9525"/>
          </a:xfrm>
          <a:prstGeom prst="line">
            <a:avLst/>
          </a:prstGeom>
          <a:noFill/>
          <a:ln w="9525">
            <a:solidFill>
              <a:srgbClr val="C8D9C5"/>
            </a:solidFill>
            <a:prstDash val="solid"/>
          </a:ln>
        </p:spPr>
      </p:sp>
      <p:sp>
        <p:nvSpPr>
          <p:cNvPr id="14" name="Rectangle 13">
            <a:extLst>
              <a:ext uri="{FF2B5EF4-FFF2-40B4-BE49-F238E27FC236}">
                <a16:creationId xmlns:a16="http://schemas.microsoft.com/office/drawing/2014/main" id="{2F5FA554-6415-42F7-9BC0-87681F51D96A}"/>
              </a:ext>
            </a:extLst>
          </p:cNvPr>
          <p:cNvSpPr>
            <a:spLocks noGrp="1"/>
          </p:cNvSpPr>
          <p:nvPr/>
        </p:nvSpPr>
        <p:spPr>
          <a:xfrm>
            <a:off x="762000" y="3100387"/>
            <a:ext cx="2952750" cy="457200"/>
          </a:xfrm>
          <a:prstGeom prst="rect">
            <a:avLst/>
          </a:prstGeom>
          <a:noFill/>
          <a:ln w="0">
            <a:noFill/>
            <a:prstDash val="solid"/>
          </a:ln>
        </p:spPr>
        <p:txBody>
          <a:bodyPr/>
          <a:lstStyle/>
          <a:p>
            <a:pPr algn="l">
              <a:defRPr sz="1575" b="1" i="0">
                <a:solidFill>
                  <a:srgbClr val="2E5B3A"/>
                </a:solidFill>
              </a:defRPr>
            </a:pPr>
            <a:r>
              <a:rPr lang="en-US" sz="1575" b="1" i="0" dirty="0" err="1">
                <a:solidFill>
                  <a:srgbClr val="2E5B3A"/>
                </a:solidFill>
              </a:rPr>
              <a:t>Bộ</a:t>
            </a:r>
            <a:r>
              <a:rPr lang="en-US" sz="1575" b="1" i="0" dirty="0">
                <a:solidFill>
                  <a:srgbClr val="2E5B3A"/>
                </a:solidFill>
              </a:rPr>
              <a:t> </a:t>
            </a:r>
            <a:r>
              <a:rPr lang="en-US" sz="1575" b="1" i="0" dirty="0" err="1">
                <a:solidFill>
                  <a:srgbClr val="2E5B3A"/>
                </a:solidFill>
              </a:rPr>
              <a:t>phận</a:t>
            </a:r>
            <a:r>
              <a:rPr lang="en-US" sz="1575" b="1" i="0" dirty="0">
                <a:solidFill>
                  <a:srgbClr val="2E5B3A"/>
                </a:solidFill>
              </a:rPr>
              <a:t> </a:t>
            </a:r>
            <a:r>
              <a:rPr lang="en-US" sz="1575" b="1" dirty="0" err="1">
                <a:solidFill>
                  <a:srgbClr val="2E5B3A"/>
                </a:solidFill>
              </a:rPr>
              <a:t>p</a:t>
            </a:r>
            <a:r>
              <a:rPr sz="1575" b="1" i="0" dirty="0" err="1">
                <a:solidFill>
                  <a:srgbClr val="2E5B3A"/>
                </a:solidFill>
              </a:rPr>
              <a:t>háp</a:t>
            </a:r>
            <a:r>
              <a:rPr sz="1575" b="1" i="0" dirty="0">
                <a:solidFill>
                  <a:srgbClr val="2E5B3A"/>
                </a:solidFill>
              </a:rPr>
              <a:t> </a:t>
            </a:r>
            <a:r>
              <a:rPr sz="1575" b="1" i="0" dirty="0" err="1">
                <a:solidFill>
                  <a:srgbClr val="2E5B3A"/>
                </a:solidFill>
              </a:rPr>
              <a:t>chế</a:t>
            </a:r>
            <a:endParaRPr sz="1575" b="1" i="0" dirty="0">
              <a:solidFill>
                <a:srgbClr val="2E5B3A"/>
              </a:solidFill>
            </a:endParaRPr>
          </a:p>
        </p:txBody>
      </p:sp>
      <p:sp>
        <p:nvSpPr>
          <p:cNvPr id="15" name="Rectangle 14">
            <a:extLst>
              <a:ext uri="{FF2B5EF4-FFF2-40B4-BE49-F238E27FC236}">
                <a16:creationId xmlns:a16="http://schemas.microsoft.com/office/drawing/2014/main" id="{FA08C962-3A66-48B9-84C2-DF8B95A005FC}"/>
              </a:ext>
            </a:extLst>
          </p:cNvPr>
          <p:cNvSpPr>
            <a:spLocks noGrp="1"/>
          </p:cNvSpPr>
          <p:nvPr/>
        </p:nvSpPr>
        <p:spPr>
          <a:xfrm>
            <a:off x="4381500" y="3100387"/>
            <a:ext cx="6572250" cy="523875"/>
          </a:xfrm>
          <a:prstGeom prst="rect">
            <a:avLst/>
          </a:prstGeom>
          <a:noFill/>
          <a:ln w="0">
            <a:noFill/>
            <a:prstDash val="solid"/>
          </a:ln>
        </p:spPr>
        <p:txBody>
          <a:bodyPr/>
          <a:lstStyle/>
          <a:p>
            <a:pPr>
              <a:defRPr sz="1425" b="0" i="0">
                <a:solidFill>
                  <a:srgbClr val="183127"/>
                </a:solidFill>
              </a:defRPr>
            </a:pPr>
            <a:r>
              <a:rPr lang="vi-VN" sz="1425" dirty="0"/>
              <a:t>Quy trình eKYC tuân thủ quy định, bảo vệ dữ liệu cá nhân và có dấu vết kiểm toán.</a:t>
            </a:r>
            <a:endParaRPr sz="1425" b="0" i="0" dirty="0">
              <a:solidFill>
                <a:srgbClr val="183127"/>
              </a:solidFill>
            </a:endParaRPr>
          </a:p>
        </p:txBody>
      </p:sp>
      <p:sp>
        <p:nvSpPr>
          <p:cNvPr id="16" name="Straight Connector 15">
            <a:extLst>
              <a:ext uri="{FF2B5EF4-FFF2-40B4-BE49-F238E27FC236}">
                <a16:creationId xmlns:a16="http://schemas.microsoft.com/office/drawing/2014/main" id="{015138C5-6DFF-42AA-A582-573E06114C8F}"/>
              </a:ext>
            </a:extLst>
          </p:cNvPr>
          <p:cNvSpPr>
            <a:spLocks noGrp="1"/>
          </p:cNvSpPr>
          <p:nvPr/>
        </p:nvSpPr>
        <p:spPr>
          <a:xfrm>
            <a:off x="762000" y="3637147"/>
            <a:ext cx="10191750" cy="9525"/>
          </a:xfrm>
          <a:prstGeom prst="line">
            <a:avLst/>
          </a:prstGeom>
          <a:noFill/>
          <a:ln w="9525">
            <a:solidFill>
              <a:srgbClr val="C8D9C5"/>
            </a:solidFill>
            <a:prstDash val="solid"/>
          </a:ln>
        </p:spPr>
      </p:sp>
      <p:sp>
        <p:nvSpPr>
          <p:cNvPr id="17" name="Rectangle 16">
            <a:extLst>
              <a:ext uri="{FF2B5EF4-FFF2-40B4-BE49-F238E27FC236}">
                <a16:creationId xmlns:a16="http://schemas.microsoft.com/office/drawing/2014/main" id="{CE46883B-0A11-45BC-A3CB-41AA12F0152F}"/>
              </a:ext>
            </a:extLst>
          </p:cNvPr>
          <p:cNvSpPr>
            <a:spLocks noGrp="1"/>
          </p:cNvSpPr>
          <p:nvPr/>
        </p:nvSpPr>
        <p:spPr>
          <a:xfrm>
            <a:off x="762000" y="3865461"/>
            <a:ext cx="2952750" cy="457200"/>
          </a:xfrm>
          <a:prstGeom prst="rect">
            <a:avLst/>
          </a:prstGeom>
          <a:noFill/>
          <a:ln w="0">
            <a:noFill/>
            <a:prstDash val="solid"/>
          </a:ln>
        </p:spPr>
        <p:txBody>
          <a:bodyPr/>
          <a:lstStyle/>
          <a:p>
            <a:pPr algn="l">
              <a:defRPr sz="1575" b="1" i="0">
                <a:solidFill>
                  <a:srgbClr val="2E5B3A"/>
                </a:solidFill>
              </a:defRPr>
            </a:pPr>
            <a:r>
              <a:rPr lang="en-US" sz="1575" b="1" i="0" dirty="0" err="1">
                <a:solidFill>
                  <a:srgbClr val="2E5B3A"/>
                </a:solidFill>
              </a:rPr>
              <a:t>Bộ</a:t>
            </a:r>
            <a:r>
              <a:rPr lang="en-US" sz="1575" b="1" i="0" dirty="0">
                <a:solidFill>
                  <a:srgbClr val="2E5B3A"/>
                </a:solidFill>
              </a:rPr>
              <a:t> </a:t>
            </a:r>
            <a:r>
              <a:rPr lang="en-US" sz="1575" b="1" i="0" dirty="0" err="1">
                <a:solidFill>
                  <a:srgbClr val="2E5B3A"/>
                </a:solidFill>
              </a:rPr>
              <a:t>phận</a:t>
            </a:r>
            <a:r>
              <a:rPr sz="1575" b="1" i="0" dirty="0">
                <a:solidFill>
                  <a:srgbClr val="2E5B3A"/>
                </a:solidFill>
              </a:rPr>
              <a:t> IT</a:t>
            </a:r>
          </a:p>
        </p:txBody>
      </p:sp>
      <p:sp>
        <p:nvSpPr>
          <p:cNvPr id="18" name="Rectangle 17">
            <a:extLst>
              <a:ext uri="{FF2B5EF4-FFF2-40B4-BE49-F238E27FC236}">
                <a16:creationId xmlns:a16="http://schemas.microsoft.com/office/drawing/2014/main" id="{7E75B6FD-DB73-447B-8F4B-CF4B76172F0C}"/>
              </a:ext>
            </a:extLst>
          </p:cNvPr>
          <p:cNvSpPr>
            <a:spLocks noGrp="1"/>
          </p:cNvSpPr>
          <p:nvPr/>
        </p:nvSpPr>
        <p:spPr>
          <a:xfrm>
            <a:off x="4381500" y="3865461"/>
            <a:ext cx="6572250" cy="523875"/>
          </a:xfrm>
          <a:prstGeom prst="rect">
            <a:avLst/>
          </a:prstGeom>
          <a:noFill/>
          <a:ln w="0">
            <a:noFill/>
            <a:prstDash val="solid"/>
          </a:ln>
        </p:spPr>
        <p:txBody>
          <a:bodyPr/>
          <a:lstStyle/>
          <a:p>
            <a:pPr>
              <a:defRPr sz="1425" b="0" i="0">
                <a:solidFill>
                  <a:srgbClr val="183127"/>
                </a:solidFill>
              </a:defRPr>
            </a:pPr>
            <a:r>
              <a:rPr lang="vi-VN" sz="1425" dirty="0"/>
              <a:t>Luồng xử lý rõ ràng, dữ liệu nhất quán, tích hợp API ổn định và mã lỗi thống nhất.</a:t>
            </a:r>
            <a:endParaRPr sz="1425" b="0" i="0" dirty="0">
              <a:solidFill>
                <a:srgbClr val="183127"/>
              </a:solidFill>
            </a:endParaRPr>
          </a:p>
        </p:txBody>
      </p:sp>
      <p:sp>
        <p:nvSpPr>
          <p:cNvPr id="19" name="Straight Connector 18">
            <a:extLst>
              <a:ext uri="{FF2B5EF4-FFF2-40B4-BE49-F238E27FC236}">
                <a16:creationId xmlns:a16="http://schemas.microsoft.com/office/drawing/2014/main" id="{EBAB0CCD-096E-4169-B015-0A4CF7638477}"/>
              </a:ext>
            </a:extLst>
          </p:cNvPr>
          <p:cNvSpPr>
            <a:spLocks noGrp="1"/>
          </p:cNvSpPr>
          <p:nvPr/>
        </p:nvSpPr>
        <p:spPr>
          <a:xfrm>
            <a:off x="762000" y="4429122"/>
            <a:ext cx="10191750" cy="9525"/>
          </a:xfrm>
          <a:prstGeom prst="line">
            <a:avLst/>
          </a:prstGeom>
          <a:noFill/>
          <a:ln w="9525">
            <a:solidFill>
              <a:srgbClr val="C8D9C5"/>
            </a:solidFill>
            <a:prstDash val="solid"/>
          </a:ln>
        </p:spPr>
      </p:sp>
      <p:sp>
        <p:nvSpPr>
          <p:cNvPr id="20" name="Rectangle 19">
            <a:extLst>
              <a:ext uri="{FF2B5EF4-FFF2-40B4-BE49-F238E27FC236}">
                <a16:creationId xmlns:a16="http://schemas.microsoft.com/office/drawing/2014/main" id="{38C825E9-6B53-44FA-802F-3A3B2E5FF947}"/>
              </a:ext>
            </a:extLst>
          </p:cNvPr>
          <p:cNvSpPr>
            <a:spLocks noGrp="1"/>
          </p:cNvSpPr>
          <p:nvPr/>
        </p:nvSpPr>
        <p:spPr>
          <a:xfrm>
            <a:off x="762000" y="4684057"/>
            <a:ext cx="2952750" cy="457200"/>
          </a:xfrm>
          <a:prstGeom prst="rect">
            <a:avLst/>
          </a:prstGeom>
          <a:noFill/>
          <a:ln w="0">
            <a:noFill/>
            <a:prstDash val="solid"/>
          </a:ln>
        </p:spPr>
        <p:txBody>
          <a:bodyPr/>
          <a:lstStyle/>
          <a:p>
            <a:pPr algn="l">
              <a:defRPr sz="1575" b="1" i="0">
                <a:solidFill>
                  <a:srgbClr val="2E5B3A"/>
                </a:solidFill>
              </a:defRPr>
            </a:pPr>
            <a:r>
              <a:rPr sz="1575" b="1" i="0" dirty="0" err="1">
                <a:solidFill>
                  <a:srgbClr val="2E5B3A"/>
                </a:solidFill>
              </a:rPr>
              <a:t>eKYC</a:t>
            </a:r>
            <a:r>
              <a:rPr sz="1575" b="1" i="0" dirty="0">
                <a:solidFill>
                  <a:srgbClr val="2E5B3A"/>
                </a:solidFill>
              </a:rPr>
              <a:t>  Vendor</a:t>
            </a:r>
          </a:p>
        </p:txBody>
      </p:sp>
      <p:sp>
        <p:nvSpPr>
          <p:cNvPr id="21" name="Rectangle 20">
            <a:extLst>
              <a:ext uri="{FF2B5EF4-FFF2-40B4-BE49-F238E27FC236}">
                <a16:creationId xmlns:a16="http://schemas.microsoft.com/office/drawing/2014/main" id="{E2589D62-D7D7-42DD-9042-6F29CF92A9D2}"/>
              </a:ext>
            </a:extLst>
          </p:cNvPr>
          <p:cNvSpPr>
            <a:spLocks noGrp="1"/>
          </p:cNvSpPr>
          <p:nvPr/>
        </p:nvSpPr>
        <p:spPr>
          <a:xfrm>
            <a:off x="4381500" y="4684057"/>
            <a:ext cx="6572250" cy="523875"/>
          </a:xfrm>
          <a:prstGeom prst="rect">
            <a:avLst/>
          </a:prstGeom>
          <a:noFill/>
          <a:ln w="0">
            <a:noFill/>
            <a:prstDash val="solid"/>
          </a:ln>
        </p:spPr>
        <p:txBody>
          <a:bodyPr/>
          <a:lstStyle/>
          <a:p>
            <a:pPr algn="l">
              <a:defRPr sz="1425" b="0" i="0">
                <a:solidFill>
                  <a:srgbClr val="183127"/>
                </a:solidFill>
              </a:defRPr>
            </a:pPr>
            <a:r>
              <a:rPr sz="1425" b="0" i="0" dirty="0">
                <a:solidFill>
                  <a:srgbClr val="183127"/>
                </a:solidFill>
              </a:rPr>
              <a:t>Contract </a:t>
            </a:r>
            <a:r>
              <a:rPr sz="1425" b="0" i="0" dirty="0" err="1">
                <a:solidFill>
                  <a:srgbClr val="183127"/>
                </a:solidFill>
              </a:rPr>
              <a:t>tích</a:t>
            </a:r>
            <a:r>
              <a:rPr sz="1425" b="0" i="0" dirty="0">
                <a:solidFill>
                  <a:srgbClr val="183127"/>
                </a:solidFill>
              </a:rPr>
              <a:t> </a:t>
            </a:r>
            <a:r>
              <a:rPr sz="1425" b="0" i="0" dirty="0" err="1">
                <a:solidFill>
                  <a:srgbClr val="183127"/>
                </a:solidFill>
              </a:rPr>
              <a:t>hợp</a:t>
            </a:r>
            <a:r>
              <a:rPr sz="1425" b="0" i="0" dirty="0">
                <a:solidFill>
                  <a:srgbClr val="183127"/>
                </a:solidFill>
              </a:rPr>
              <a:t> </a:t>
            </a:r>
            <a:r>
              <a:rPr sz="1425" b="0" i="0" dirty="0" err="1">
                <a:solidFill>
                  <a:srgbClr val="183127"/>
                </a:solidFill>
              </a:rPr>
              <a:t>rõ</a:t>
            </a:r>
            <a:r>
              <a:rPr sz="1425" b="0" i="0" dirty="0">
                <a:solidFill>
                  <a:srgbClr val="183127"/>
                </a:solidFill>
              </a:rPr>
              <a:t>, </a:t>
            </a:r>
            <a:r>
              <a:rPr sz="1425" b="0" i="0" dirty="0" err="1">
                <a:solidFill>
                  <a:srgbClr val="183127"/>
                </a:solidFill>
              </a:rPr>
              <a:t>ảnh</a:t>
            </a:r>
            <a:r>
              <a:rPr sz="1425" b="0" i="0" dirty="0">
                <a:solidFill>
                  <a:srgbClr val="183127"/>
                </a:solidFill>
              </a:rPr>
              <a:t> </a:t>
            </a:r>
            <a:r>
              <a:rPr sz="1425" b="0" i="0" dirty="0" err="1">
                <a:solidFill>
                  <a:srgbClr val="183127"/>
                </a:solidFill>
              </a:rPr>
              <a:t>đầu</a:t>
            </a:r>
            <a:r>
              <a:rPr sz="1425" b="0" i="0" dirty="0">
                <a:solidFill>
                  <a:srgbClr val="183127"/>
                </a:solidFill>
              </a:rPr>
              <a:t> </a:t>
            </a:r>
            <a:r>
              <a:rPr sz="1425" b="0" i="0" dirty="0" err="1">
                <a:solidFill>
                  <a:srgbClr val="183127"/>
                </a:solidFill>
              </a:rPr>
              <a:t>vào</a:t>
            </a:r>
            <a:r>
              <a:rPr sz="1425" b="0" i="0" dirty="0">
                <a:solidFill>
                  <a:srgbClr val="183127"/>
                </a:solidFill>
              </a:rPr>
              <a:t> </a:t>
            </a:r>
            <a:r>
              <a:rPr sz="1425" b="0" i="0" dirty="0" err="1">
                <a:solidFill>
                  <a:srgbClr val="183127"/>
                </a:solidFill>
              </a:rPr>
              <a:t>đạt</a:t>
            </a:r>
            <a:r>
              <a:rPr sz="1425" b="0" i="0" dirty="0">
                <a:solidFill>
                  <a:srgbClr val="183127"/>
                </a:solidFill>
              </a:rPr>
              <a:t> </a:t>
            </a:r>
            <a:r>
              <a:rPr sz="1425" b="0" i="0" dirty="0" err="1">
                <a:solidFill>
                  <a:srgbClr val="183127"/>
                </a:solidFill>
              </a:rPr>
              <a:t>chuẩn</a:t>
            </a:r>
            <a:r>
              <a:rPr sz="1425" b="0" i="0" dirty="0">
                <a:solidFill>
                  <a:srgbClr val="183127"/>
                </a:solidFill>
              </a:rPr>
              <a:t> </a:t>
            </a:r>
            <a:r>
              <a:rPr sz="1425" b="0" i="0" dirty="0" err="1">
                <a:solidFill>
                  <a:srgbClr val="183127"/>
                </a:solidFill>
              </a:rPr>
              <a:t>và</a:t>
            </a:r>
            <a:r>
              <a:rPr sz="1425" b="0" i="0" dirty="0">
                <a:solidFill>
                  <a:srgbClr val="183127"/>
                </a:solidFill>
              </a:rPr>
              <a:t> </a:t>
            </a:r>
            <a:r>
              <a:rPr sz="1425" b="0" i="0" dirty="0" err="1">
                <a:solidFill>
                  <a:srgbClr val="183127"/>
                </a:solidFill>
              </a:rPr>
              <a:t>phản</a:t>
            </a:r>
            <a:r>
              <a:rPr sz="1425" b="0" i="0" dirty="0">
                <a:solidFill>
                  <a:srgbClr val="183127"/>
                </a:solidFill>
              </a:rPr>
              <a:t> </a:t>
            </a:r>
            <a:r>
              <a:rPr sz="1425" b="0" i="0" dirty="0" err="1">
                <a:solidFill>
                  <a:srgbClr val="183127"/>
                </a:solidFill>
              </a:rPr>
              <a:t>hồi</a:t>
            </a:r>
            <a:r>
              <a:rPr sz="1425" b="0" i="0" dirty="0">
                <a:solidFill>
                  <a:srgbClr val="183127"/>
                </a:solidFill>
              </a:rPr>
              <a:t> </a:t>
            </a:r>
            <a:r>
              <a:rPr sz="1425" b="0" i="0" dirty="0" err="1">
                <a:solidFill>
                  <a:srgbClr val="183127"/>
                </a:solidFill>
              </a:rPr>
              <a:t>ổn</a:t>
            </a:r>
            <a:r>
              <a:rPr sz="1425" b="0" i="0" dirty="0">
                <a:solidFill>
                  <a:srgbClr val="183127"/>
                </a:solidFill>
              </a:rPr>
              <a:t> </a:t>
            </a:r>
            <a:r>
              <a:rPr sz="1425" b="0" i="0" dirty="0" err="1">
                <a:solidFill>
                  <a:srgbClr val="183127"/>
                </a:solidFill>
              </a:rPr>
              <a:t>định</a:t>
            </a:r>
            <a:r>
              <a:rPr sz="1425" b="0" i="0" dirty="0">
                <a:solidFill>
                  <a:srgbClr val="183127"/>
                </a:solidFill>
              </a:rPr>
              <a:t>.</a:t>
            </a:r>
          </a:p>
        </p:txBody>
      </p:sp>
      <p:sp>
        <p:nvSpPr>
          <p:cNvPr id="22" name="Straight Connector 21">
            <a:extLst>
              <a:ext uri="{FF2B5EF4-FFF2-40B4-BE49-F238E27FC236}">
                <a16:creationId xmlns:a16="http://schemas.microsoft.com/office/drawing/2014/main" id="{98200748-F559-4F65-9954-14E027F1009E}"/>
              </a:ext>
            </a:extLst>
          </p:cNvPr>
          <p:cNvSpPr>
            <a:spLocks noGrp="1"/>
          </p:cNvSpPr>
          <p:nvPr/>
        </p:nvSpPr>
        <p:spPr>
          <a:xfrm>
            <a:off x="762000" y="5247712"/>
            <a:ext cx="10191750" cy="9525"/>
          </a:xfrm>
          <a:prstGeom prst="line">
            <a:avLst/>
          </a:prstGeom>
          <a:noFill/>
          <a:ln w="9525">
            <a:solidFill>
              <a:srgbClr val="C8D9C5"/>
            </a:solidFill>
            <a:prstDash val="solid"/>
          </a:ln>
        </p:spPr>
      </p:sp>
      <p:sp>
        <p:nvSpPr>
          <p:cNvPr id="34" name="Rectangle 33">
            <a:extLst>
              <a:ext uri="{FF2B5EF4-FFF2-40B4-BE49-F238E27FC236}">
                <a16:creationId xmlns:a16="http://schemas.microsoft.com/office/drawing/2014/main" id="{97C40FE7-D57F-6C91-77CA-0B40D334D22A}"/>
              </a:ext>
            </a:extLst>
          </p:cNvPr>
          <p:cNvSpPr>
            <a:spLocks noGrp="1"/>
          </p:cNvSpPr>
          <p:nvPr/>
        </p:nvSpPr>
        <p:spPr>
          <a:xfrm>
            <a:off x="762000" y="5494242"/>
            <a:ext cx="2952750" cy="457200"/>
          </a:xfrm>
          <a:prstGeom prst="rect">
            <a:avLst/>
          </a:prstGeom>
          <a:noFill/>
          <a:ln w="0">
            <a:noFill/>
            <a:prstDash val="solid"/>
          </a:ln>
        </p:spPr>
        <p:txBody>
          <a:bodyPr/>
          <a:lstStyle/>
          <a:p>
            <a:pPr algn="l">
              <a:defRPr sz="1575" b="1" i="0">
                <a:solidFill>
                  <a:srgbClr val="2E5B3A"/>
                </a:solidFill>
              </a:defRPr>
            </a:pPr>
            <a:r>
              <a:rPr lang="en-US" sz="1575" b="1" dirty="0">
                <a:solidFill>
                  <a:srgbClr val="2E5B3A"/>
                </a:solidFill>
              </a:rPr>
              <a:t>CSKH </a:t>
            </a:r>
            <a:endParaRPr sz="1575" b="1" i="0" dirty="0">
              <a:solidFill>
                <a:srgbClr val="2E5B3A"/>
              </a:solidFill>
            </a:endParaRPr>
          </a:p>
        </p:txBody>
      </p:sp>
      <p:sp>
        <p:nvSpPr>
          <p:cNvPr id="35" name="Rectangle 34">
            <a:extLst>
              <a:ext uri="{FF2B5EF4-FFF2-40B4-BE49-F238E27FC236}">
                <a16:creationId xmlns:a16="http://schemas.microsoft.com/office/drawing/2014/main" id="{D86657FA-0263-BFEE-E2B9-16BD5A76A737}"/>
              </a:ext>
            </a:extLst>
          </p:cNvPr>
          <p:cNvSpPr>
            <a:spLocks noGrp="1"/>
          </p:cNvSpPr>
          <p:nvPr/>
        </p:nvSpPr>
        <p:spPr>
          <a:xfrm>
            <a:off x="4381500" y="5494242"/>
            <a:ext cx="6572250" cy="523875"/>
          </a:xfrm>
          <a:prstGeom prst="rect">
            <a:avLst/>
          </a:prstGeom>
          <a:noFill/>
          <a:ln w="0">
            <a:noFill/>
            <a:prstDash val="solid"/>
          </a:ln>
        </p:spPr>
        <p:txBody>
          <a:bodyPr/>
          <a:lstStyle/>
          <a:p>
            <a:pPr>
              <a:defRPr sz="1425" b="0" i="0">
                <a:solidFill>
                  <a:srgbClr val="183127"/>
                </a:solidFill>
              </a:defRPr>
            </a:pPr>
            <a:r>
              <a:rPr lang="vi-VN" sz="1425" dirty="0"/>
              <a:t>Tra cứu được trạng thái hồ sơ, mã lỗi và nguyên nhân để hỗ trợ khách hàng.</a:t>
            </a:r>
            <a:endParaRPr sz="1425" b="0" i="0" dirty="0">
              <a:solidFill>
                <a:srgbClr val="183127"/>
              </a:solidFill>
            </a:endParaRPr>
          </a:p>
        </p:txBody>
      </p:sp>
      <p:sp>
        <p:nvSpPr>
          <p:cNvPr id="36" name="Straight Connector 35">
            <a:extLst>
              <a:ext uri="{FF2B5EF4-FFF2-40B4-BE49-F238E27FC236}">
                <a16:creationId xmlns:a16="http://schemas.microsoft.com/office/drawing/2014/main" id="{2C3BBEDC-5AFD-0369-79B2-791654629CD0}"/>
              </a:ext>
            </a:extLst>
          </p:cNvPr>
          <p:cNvSpPr>
            <a:spLocks noGrp="1"/>
          </p:cNvSpPr>
          <p:nvPr/>
        </p:nvSpPr>
        <p:spPr>
          <a:xfrm>
            <a:off x="762000" y="6013078"/>
            <a:ext cx="10191750" cy="9525"/>
          </a:xfrm>
          <a:prstGeom prst="line">
            <a:avLst/>
          </a:prstGeom>
          <a:noFill/>
          <a:ln w="9525">
            <a:solidFill>
              <a:srgbClr val="C8D9C5"/>
            </a:solidFill>
            <a:prstDash val="solid"/>
          </a:ln>
        </p:spPr>
      </p:sp>
      <p:sp>
        <p:nvSpPr>
          <p:cNvPr id="37" name="Rectangle 36">
            <a:extLst>
              <a:ext uri="{FF2B5EF4-FFF2-40B4-BE49-F238E27FC236}">
                <a16:creationId xmlns:a16="http://schemas.microsoft.com/office/drawing/2014/main" id="{535111F5-4E19-A369-3B3D-528596DD2C23}"/>
              </a:ext>
            </a:extLst>
          </p:cNvPr>
          <p:cNvSpPr>
            <a:spLocks noGrp="1"/>
          </p:cNvSpPr>
          <p:nvPr/>
        </p:nvSpPr>
        <p:spPr>
          <a:xfrm>
            <a:off x="762000" y="6205258"/>
            <a:ext cx="2952750" cy="457200"/>
          </a:xfrm>
          <a:prstGeom prst="rect">
            <a:avLst/>
          </a:prstGeom>
          <a:noFill/>
          <a:ln w="0">
            <a:noFill/>
            <a:prstDash val="solid"/>
          </a:ln>
        </p:spPr>
        <p:txBody>
          <a:bodyPr/>
          <a:lstStyle/>
          <a:p>
            <a:pPr>
              <a:defRPr sz="1575" b="1" i="0">
                <a:solidFill>
                  <a:srgbClr val="2E5B3A"/>
                </a:solidFill>
              </a:defRPr>
            </a:pPr>
            <a:r>
              <a:rPr lang="vi-VN" sz="1575" b="1" dirty="0"/>
              <a:t>NHNN</a:t>
            </a:r>
            <a:endParaRPr sz="1575" b="1" i="0" dirty="0">
              <a:solidFill>
                <a:srgbClr val="2E5B3A"/>
              </a:solidFill>
            </a:endParaRPr>
          </a:p>
        </p:txBody>
      </p:sp>
      <p:sp>
        <p:nvSpPr>
          <p:cNvPr id="38" name="Rectangle 37">
            <a:extLst>
              <a:ext uri="{FF2B5EF4-FFF2-40B4-BE49-F238E27FC236}">
                <a16:creationId xmlns:a16="http://schemas.microsoft.com/office/drawing/2014/main" id="{28C03428-ABA0-A0DD-7B74-0A0BDA0B6932}"/>
              </a:ext>
            </a:extLst>
          </p:cNvPr>
          <p:cNvSpPr>
            <a:spLocks noGrp="1"/>
          </p:cNvSpPr>
          <p:nvPr/>
        </p:nvSpPr>
        <p:spPr>
          <a:xfrm>
            <a:off x="4394949" y="6189005"/>
            <a:ext cx="6572250" cy="523875"/>
          </a:xfrm>
          <a:prstGeom prst="rect">
            <a:avLst/>
          </a:prstGeom>
          <a:noFill/>
          <a:ln w="0">
            <a:noFill/>
            <a:prstDash val="solid"/>
          </a:ln>
        </p:spPr>
        <p:txBody>
          <a:bodyPr/>
          <a:lstStyle/>
          <a:p>
            <a:pPr>
              <a:defRPr sz="1425" b="0" i="0">
                <a:solidFill>
                  <a:srgbClr val="183127"/>
                </a:solidFill>
              </a:defRPr>
            </a:pPr>
            <a:r>
              <a:rPr lang="vi-VN" sz="1425" dirty="0"/>
              <a:t>Ngân hàng tuân thủ quy định về định danh điện tử, bảo mật và kiểm soát rủi ro.</a:t>
            </a:r>
            <a:endParaRPr sz="1425" b="0" i="0" dirty="0">
              <a:solidFill>
                <a:srgbClr val="183127"/>
              </a:solidFill>
            </a:endParaRPr>
          </a:p>
        </p:txBody>
      </p:sp>
    </p:spTree>
    <p:extLst>
      <p:ext uri="{BB962C8B-B14F-4D97-AF65-F5344CB8AC3E}">
        <p14:creationId xmlns:p14="http://schemas.microsoft.com/office/powerpoint/2010/main" val="1330232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78393CEB-679A-4A71-B7DA-962A47DB3EB7}"/>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6AF14693-525A-481C-B6AF-8CA91C608D8A}"/>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1. XÁC ĐỊNH NHU CẦU</a:t>
            </a:r>
          </a:p>
        </p:txBody>
      </p:sp>
      <p:sp>
        <p:nvSpPr>
          <p:cNvPr id="3" name="Rectangle 2">
            <a:extLst>
              <a:ext uri="{FF2B5EF4-FFF2-40B4-BE49-F238E27FC236}">
                <a16:creationId xmlns:a16="http://schemas.microsoft.com/office/drawing/2014/main" id="{D724624D-1411-45CC-87C5-E72E1DAB0402}"/>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Các Business Rule quyết định cách hệ thống rẽ nhánh</a:t>
            </a:r>
          </a:p>
        </p:txBody>
      </p:sp>
      <p:sp>
        <p:nvSpPr>
          <p:cNvPr id="4" name="Rectangle 3">
            <a:extLst>
              <a:ext uri="{FF2B5EF4-FFF2-40B4-BE49-F238E27FC236}">
                <a16:creationId xmlns:a16="http://schemas.microsoft.com/office/drawing/2014/main" id="{31C19981-1759-4CB4-9B9D-1AF8F8BB845E}"/>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07</a:t>
            </a:r>
          </a:p>
        </p:txBody>
      </p:sp>
      <p:sp>
        <p:nvSpPr>
          <p:cNvPr id="5" name="Rectangle 4">
            <a:extLst>
              <a:ext uri="{FF2B5EF4-FFF2-40B4-BE49-F238E27FC236}">
                <a16:creationId xmlns:a16="http://schemas.microsoft.com/office/drawing/2014/main" id="{1B632353-2666-47E0-9513-7EA98EBCF402}"/>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5">
            <a:extLst>
              <a:ext uri="{FF2B5EF4-FFF2-40B4-BE49-F238E27FC236}">
                <a16:creationId xmlns:a16="http://schemas.microsoft.com/office/drawing/2014/main" id="{0733DBD0-C3F9-4653-AA6D-88CEFFD49F2D}"/>
              </a:ext>
            </a:extLst>
          </p:cNvPr>
          <p:cNvSpPr>
            <a:spLocks noGrp="1"/>
          </p:cNvSpPr>
          <p:nvPr/>
        </p:nvSpPr>
        <p:spPr>
          <a:xfrm>
            <a:off x="762000" y="1714500"/>
            <a:ext cx="2381250" cy="685800"/>
          </a:xfrm>
          <a:prstGeom prst="rect">
            <a:avLst/>
          </a:prstGeom>
          <a:noFill/>
          <a:ln w="0">
            <a:noFill/>
            <a:prstDash val="solid"/>
          </a:ln>
        </p:spPr>
        <p:txBody>
          <a:bodyPr/>
          <a:lstStyle/>
          <a:p>
            <a:pPr algn="ctr">
              <a:defRPr sz="4050" b="1" i="0">
                <a:solidFill>
                  <a:srgbClr val="2E5B3A"/>
                </a:solidFill>
              </a:defRPr>
            </a:pPr>
            <a:r>
              <a:rPr sz="4050" b="1" i="0">
                <a:solidFill>
                  <a:srgbClr val="2E5B3A"/>
                </a:solidFill>
              </a:rPr>
              <a:t>85%</a:t>
            </a:r>
          </a:p>
        </p:txBody>
      </p:sp>
      <p:sp>
        <p:nvSpPr>
          <p:cNvPr id="7" name="Rectangle 6">
            <a:extLst>
              <a:ext uri="{FF2B5EF4-FFF2-40B4-BE49-F238E27FC236}">
                <a16:creationId xmlns:a16="http://schemas.microsoft.com/office/drawing/2014/main" id="{39BDF40C-D0A6-4364-B623-5947CA3C60FB}"/>
              </a:ext>
            </a:extLst>
          </p:cNvPr>
          <p:cNvSpPr>
            <a:spLocks noGrp="1"/>
          </p:cNvSpPr>
          <p:nvPr/>
        </p:nvSpPr>
        <p:spPr>
          <a:xfrm>
            <a:off x="857250" y="2400300"/>
            <a:ext cx="219075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Ngưỡng confidence cho OCR/Face Matching</a:t>
            </a:r>
          </a:p>
        </p:txBody>
      </p:sp>
      <p:sp>
        <p:nvSpPr>
          <p:cNvPr id="8" name="Rectangle 7">
            <a:extLst>
              <a:ext uri="{FF2B5EF4-FFF2-40B4-BE49-F238E27FC236}">
                <a16:creationId xmlns:a16="http://schemas.microsoft.com/office/drawing/2014/main" id="{DC49D881-EFD4-48AC-BE09-547A84D54749}"/>
              </a:ext>
            </a:extLst>
          </p:cNvPr>
          <p:cNvSpPr>
            <a:spLocks noGrp="1"/>
          </p:cNvSpPr>
          <p:nvPr/>
        </p:nvSpPr>
        <p:spPr>
          <a:xfrm>
            <a:off x="3524250" y="1714500"/>
            <a:ext cx="2381250" cy="685800"/>
          </a:xfrm>
          <a:prstGeom prst="rect">
            <a:avLst/>
          </a:prstGeom>
          <a:noFill/>
          <a:ln w="0">
            <a:noFill/>
            <a:prstDash val="solid"/>
          </a:ln>
        </p:spPr>
        <p:txBody>
          <a:bodyPr/>
          <a:lstStyle/>
          <a:p>
            <a:pPr algn="ctr">
              <a:defRPr sz="4050" b="1" i="0">
                <a:solidFill>
                  <a:srgbClr val="6B9A6E"/>
                </a:solidFill>
              </a:defRPr>
            </a:pPr>
            <a:r>
              <a:rPr sz="4050" b="1" i="0">
                <a:solidFill>
                  <a:srgbClr val="6B9A6E"/>
                </a:solidFill>
              </a:rPr>
              <a:t>3 lớp</a:t>
            </a:r>
          </a:p>
        </p:txBody>
      </p:sp>
      <p:sp>
        <p:nvSpPr>
          <p:cNvPr id="9" name="Rectangle 8">
            <a:extLst>
              <a:ext uri="{FF2B5EF4-FFF2-40B4-BE49-F238E27FC236}">
                <a16:creationId xmlns:a16="http://schemas.microsoft.com/office/drawing/2014/main" id="{53064620-C332-48B1-AF50-BC92EE2290DF}"/>
              </a:ext>
            </a:extLst>
          </p:cNvPr>
          <p:cNvSpPr>
            <a:spLocks noGrp="1"/>
          </p:cNvSpPr>
          <p:nvPr/>
        </p:nvSpPr>
        <p:spPr>
          <a:xfrm>
            <a:off x="3619500" y="2400300"/>
            <a:ext cx="219075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OCR - Face Matching - Liveness</a:t>
            </a:r>
          </a:p>
        </p:txBody>
      </p:sp>
      <p:sp>
        <p:nvSpPr>
          <p:cNvPr id="10" name="Rectangle 9">
            <a:extLst>
              <a:ext uri="{FF2B5EF4-FFF2-40B4-BE49-F238E27FC236}">
                <a16:creationId xmlns:a16="http://schemas.microsoft.com/office/drawing/2014/main" id="{363E3200-A1A1-4DDA-894C-2A50684F49AB}"/>
              </a:ext>
            </a:extLst>
          </p:cNvPr>
          <p:cNvSpPr>
            <a:spLocks noGrp="1"/>
          </p:cNvSpPr>
          <p:nvPr/>
        </p:nvSpPr>
        <p:spPr>
          <a:xfrm>
            <a:off x="6286500" y="1714500"/>
            <a:ext cx="2381250" cy="685800"/>
          </a:xfrm>
          <a:prstGeom prst="rect">
            <a:avLst/>
          </a:prstGeom>
          <a:noFill/>
          <a:ln w="0">
            <a:noFill/>
            <a:prstDash val="solid"/>
          </a:ln>
        </p:spPr>
        <p:txBody>
          <a:bodyPr/>
          <a:lstStyle/>
          <a:p>
            <a:pPr algn="ctr">
              <a:defRPr sz="4050" b="1" i="0">
                <a:solidFill>
                  <a:srgbClr val="294C64"/>
                </a:solidFill>
              </a:defRPr>
            </a:pPr>
            <a:r>
              <a:rPr sz="4050" b="1" i="0">
                <a:solidFill>
                  <a:srgbClr val="294C64"/>
                </a:solidFill>
              </a:rPr>
              <a:t>3 lần</a:t>
            </a:r>
          </a:p>
        </p:txBody>
      </p:sp>
      <p:sp>
        <p:nvSpPr>
          <p:cNvPr id="11" name="Rectangle 10">
            <a:extLst>
              <a:ext uri="{FF2B5EF4-FFF2-40B4-BE49-F238E27FC236}">
                <a16:creationId xmlns:a16="http://schemas.microsoft.com/office/drawing/2014/main" id="{26FDDD91-2D97-4AA4-BDA1-8183C898F952}"/>
              </a:ext>
            </a:extLst>
          </p:cNvPr>
          <p:cNvSpPr>
            <a:spLocks noGrp="1"/>
          </p:cNvSpPr>
          <p:nvPr/>
        </p:nvSpPr>
        <p:spPr>
          <a:xfrm>
            <a:off x="6381750" y="2400300"/>
            <a:ext cx="219075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Tổng thất bại eKYC trước Manual Review</a:t>
            </a:r>
          </a:p>
        </p:txBody>
      </p:sp>
      <p:sp>
        <p:nvSpPr>
          <p:cNvPr id="12" name="Rectangle 11">
            <a:extLst>
              <a:ext uri="{FF2B5EF4-FFF2-40B4-BE49-F238E27FC236}">
                <a16:creationId xmlns:a16="http://schemas.microsoft.com/office/drawing/2014/main" id="{2A919FB6-1B09-4A74-9E08-3D2FCFEB0FEA}"/>
              </a:ext>
            </a:extLst>
          </p:cNvPr>
          <p:cNvSpPr>
            <a:spLocks noGrp="1"/>
          </p:cNvSpPr>
          <p:nvPr/>
        </p:nvSpPr>
        <p:spPr>
          <a:xfrm>
            <a:off x="9048750" y="1714500"/>
            <a:ext cx="2000250" cy="685800"/>
          </a:xfrm>
          <a:prstGeom prst="rect">
            <a:avLst/>
          </a:prstGeom>
          <a:noFill/>
          <a:ln w="0">
            <a:noFill/>
            <a:prstDash val="solid"/>
          </a:ln>
        </p:spPr>
        <p:txBody>
          <a:bodyPr/>
          <a:lstStyle/>
          <a:p>
            <a:pPr algn="ctr">
              <a:defRPr sz="4050" b="1" i="0">
                <a:solidFill>
                  <a:srgbClr val="2E5B3A"/>
                </a:solidFill>
              </a:defRPr>
            </a:pPr>
            <a:r>
              <a:rPr sz="4050" b="1" i="0">
                <a:solidFill>
                  <a:srgbClr val="2E5B3A"/>
                </a:solidFill>
              </a:rPr>
              <a:t>∞</a:t>
            </a:r>
          </a:p>
        </p:txBody>
      </p:sp>
      <p:sp>
        <p:nvSpPr>
          <p:cNvPr id="13" name="Rectangle 12">
            <a:extLst>
              <a:ext uri="{FF2B5EF4-FFF2-40B4-BE49-F238E27FC236}">
                <a16:creationId xmlns:a16="http://schemas.microsoft.com/office/drawing/2014/main" id="{324C38E8-9F7B-4517-8FC3-C4686894355B}"/>
              </a:ext>
            </a:extLst>
          </p:cNvPr>
          <p:cNvSpPr>
            <a:spLocks noGrp="1"/>
          </p:cNvSpPr>
          <p:nvPr/>
        </p:nvSpPr>
        <p:spPr>
          <a:xfrm>
            <a:off x="9144000" y="2400300"/>
            <a:ext cx="180975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Số lần nhập lại OTP khi OTP sai</a:t>
            </a:r>
          </a:p>
        </p:txBody>
      </p:sp>
      <p:sp>
        <p:nvSpPr>
          <p:cNvPr id="14" name="Straight Connector 13">
            <a:extLst>
              <a:ext uri="{FF2B5EF4-FFF2-40B4-BE49-F238E27FC236}">
                <a16:creationId xmlns:a16="http://schemas.microsoft.com/office/drawing/2014/main" id="{77E5C32A-CA5B-4EA6-9C55-939416BC8DB3}"/>
              </a:ext>
            </a:extLst>
          </p:cNvPr>
          <p:cNvSpPr>
            <a:spLocks noGrp="1"/>
          </p:cNvSpPr>
          <p:nvPr/>
        </p:nvSpPr>
        <p:spPr>
          <a:xfrm>
            <a:off x="762000" y="3333750"/>
            <a:ext cx="10287000" cy="9525"/>
          </a:xfrm>
          <a:prstGeom prst="line">
            <a:avLst/>
          </a:prstGeom>
          <a:noFill/>
          <a:ln w="9525">
            <a:solidFill>
              <a:srgbClr val="A7C7A4"/>
            </a:solidFill>
            <a:prstDash val="solid"/>
          </a:ln>
        </p:spPr>
      </p:sp>
      <p:sp>
        <p:nvSpPr>
          <p:cNvPr id="15" name="Rectangle 14">
            <a:extLst>
              <a:ext uri="{FF2B5EF4-FFF2-40B4-BE49-F238E27FC236}">
                <a16:creationId xmlns:a16="http://schemas.microsoft.com/office/drawing/2014/main" id="{294C210A-C264-434D-8D61-99A3AA72C025}"/>
              </a:ext>
            </a:extLst>
          </p:cNvPr>
          <p:cNvSpPr>
            <a:spLocks noGrp="1"/>
          </p:cNvSpPr>
          <p:nvPr/>
        </p:nvSpPr>
        <p:spPr>
          <a:xfrm>
            <a:off x="857250" y="3714750"/>
            <a:ext cx="228600" cy="542925"/>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6" name="Rectangle 15">
            <a:extLst>
              <a:ext uri="{FF2B5EF4-FFF2-40B4-BE49-F238E27FC236}">
                <a16:creationId xmlns:a16="http://schemas.microsoft.com/office/drawing/2014/main" id="{08FBA078-8570-4CC6-9D9B-77152F918835}"/>
              </a:ext>
            </a:extLst>
          </p:cNvPr>
          <p:cNvSpPr>
            <a:spLocks noGrp="1"/>
          </p:cNvSpPr>
          <p:nvPr/>
        </p:nvSpPr>
        <p:spPr>
          <a:xfrm>
            <a:off x="1123950" y="3714750"/>
            <a:ext cx="9353550" cy="542925"/>
          </a:xfrm>
          <a:prstGeom prst="rect">
            <a:avLst/>
          </a:prstGeom>
          <a:noFill/>
          <a:ln w="0">
            <a:noFill/>
            <a:prstDash val="solid"/>
          </a:ln>
        </p:spPr>
        <p:txBody>
          <a:bodyPr/>
          <a:lstStyle/>
          <a:p>
            <a:pPr algn="l">
              <a:defRPr sz="1425" b="0" i="0">
                <a:solidFill>
                  <a:srgbClr val="183127"/>
                </a:solidFill>
              </a:defRPr>
            </a:pPr>
            <a:r>
              <a:rPr sz="1425" b="0" i="0">
                <a:solidFill>
                  <a:srgbClr val="183127"/>
                </a:solidFill>
              </a:rPr>
              <a:t>OCR hoặc Face/Liveness thất bại dưới 3 lần: thực hiện lại bước tương ứng.</a:t>
            </a:r>
          </a:p>
        </p:txBody>
      </p:sp>
      <p:sp>
        <p:nvSpPr>
          <p:cNvPr id="17" name="Rectangle 16">
            <a:extLst>
              <a:ext uri="{FF2B5EF4-FFF2-40B4-BE49-F238E27FC236}">
                <a16:creationId xmlns:a16="http://schemas.microsoft.com/office/drawing/2014/main" id="{83CAAE16-D912-4FA2-BFED-18F84325B1B0}"/>
              </a:ext>
            </a:extLst>
          </p:cNvPr>
          <p:cNvSpPr>
            <a:spLocks noGrp="1"/>
          </p:cNvSpPr>
          <p:nvPr/>
        </p:nvSpPr>
        <p:spPr>
          <a:xfrm>
            <a:off x="857250" y="4257675"/>
            <a:ext cx="228600" cy="542925"/>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8" name="Rectangle 17">
            <a:extLst>
              <a:ext uri="{FF2B5EF4-FFF2-40B4-BE49-F238E27FC236}">
                <a16:creationId xmlns:a16="http://schemas.microsoft.com/office/drawing/2014/main" id="{F3BA51DD-0972-4CCD-B9A1-17D0B1D48247}"/>
              </a:ext>
            </a:extLst>
          </p:cNvPr>
          <p:cNvSpPr>
            <a:spLocks noGrp="1"/>
          </p:cNvSpPr>
          <p:nvPr/>
        </p:nvSpPr>
        <p:spPr>
          <a:xfrm>
            <a:off x="1123950" y="4257675"/>
            <a:ext cx="9353550" cy="542925"/>
          </a:xfrm>
          <a:prstGeom prst="rect">
            <a:avLst/>
          </a:prstGeom>
          <a:noFill/>
          <a:ln w="0">
            <a:noFill/>
            <a:prstDash val="solid"/>
          </a:ln>
        </p:spPr>
        <p:txBody>
          <a:bodyPr/>
          <a:lstStyle/>
          <a:p>
            <a:pPr algn="l">
              <a:defRPr sz="1425" b="0" i="0">
                <a:solidFill>
                  <a:srgbClr val="183127"/>
                </a:solidFill>
              </a:defRPr>
            </a:pPr>
            <a:r>
              <a:rPr sz="1425" b="0" i="0">
                <a:solidFill>
                  <a:srgbClr val="183127"/>
                </a:solidFill>
              </a:rPr>
              <a:t>Tổng thất bại eKYC đạt 3: chuyển xét duyệt thủ công, không tự động từ chối.</a:t>
            </a:r>
          </a:p>
        </p:txBody>
      </p:sp>
      <p:sp>
        <p:nvSpPr>
          <p:cNvPr id="19" name="Rectangle 18">
            <a:extLst>
              <a:ext uri="{FF2B5EF4-FFF2-40B4-BE49-F238E27FC236}">
                <a16:creationId xmlns:a16="http://schemas.microsoft.com/office/drawing/2014/main" id="{DD39E89F-8199-4E42-AF59-4B6FE9203B3D}"/>
              </a:ext>
            </a:extLst>
          </p:cNvPr>
          <p:cNvSpPr>
            <a:spLocks noGrp="1"/>
          </p:cNvSpPr>
          <p:nvPr/>
        </p:nvSpPr>
        <p:spPr>
          <a:xfrm>
            <a:off x="857250" y="4800600"/>
            <a:ext cx="228600" cy="542925"/>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20" name="Rectangle 19">
            <a:extLst>
              <a:ext uri="{FF2B5EF4-FFF2-40B4-BE49-F238E27FC236}">
                <a16:creationId xmlns:a16="http://schemas.microsoft.com/office/drawing/2014/main" id="{3DA500AE-2C84-4AD4-AE50-7E6FC000D46E}"/>
              </a:ext>
            </a:extLst>
          </p:cNvPr>
          <p:cNvSpPr>
            <a:spLocks noGrp="1"/>
          </p:cNvSpPr>
          <p:nvPr/>
        </p:nvSpPr>
        <p:spPr>
          <a:xfrm>
            <a:off x="1123950" y="4800600"/>
            <a:ext cx="9353550" cy="542925"/>
          </a:xfrm>
          <a:prstGeom prst="rect">
            <a:avLst/>
          </a:prstGeom>
          <a:noFill/>
          <a:ln w="0">
            <a:noFill/>
            <a:prstDash val="solid"/>
          </a:ln>
        </p:spPr>
        <p:txBody>
          <a:bodyPr/>
          <a:lstStyle/>
          <a:p>
            <a:pPr algn="l">
              <a:defRPr sz="1425" b="0" i="0">
                <a:solidFill>
                  <a:srgbClr val="183127"/>
                </a:solidFill>
              </a:defRPr>
            </a:pPr>
            <a:r>
              <a:rPr sz="1425" b="0" i="0">
                <a:solidFill>
                  <a:srgbClr val="183127"/>
                </a:solidFill>
              </a:rPr>
              <a:t>CCCD đã tồn tại trong bảng KhachHang: từ chối hồ sơ và kết thúc.</a:t>
            </a:r>
          </a:p>
        </p:txBody>
      </p:sp>
      <p:sp>
        <p:nvSpPr>
          <p:cNvPr id="21" name="Rectangle 20">
            <a:extLst>
              <a:ext uri="{FF2B5EF4-FFF2-40B4-BE49-F238E27FC236}">
                <a16:creationId xmlns:a16="http://schemas.microsoft.com/office/drawing/2014/main" id="{62ECE875-DB90-4EC1-81D3-3A3D6ADA400C}"/>
              </a:ext>
            </a:extLst>
          </p:cNvPr>
          <p:cNvSpPr>
            <a:spLocks noGrp="1"/>
          </p:cNvSpPr>
          <p:nvPr/>
        </p:nvSpPr>
        <p:spPr>
          <a:xfrm>
            <a:off x="857250" y="5343525"/>
            <a:ext cx="228600" cy="542925"/>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22" name="Rectangle 21">
            <a:extLst>
              <a:ext uri="{FF2B5EF4-FFF2-40B4-BE49-F238E27FC236}">
                <a16:creationId xmlns:a16="http://schemas.microsoft.com/office/drawing/2014/main" id="{C773DF4E-812D-40C9-8425-D62432206205}"/>
              </a:ext>
            </a:extLst>
          </p:cNvPr>
          <p:cNvSpPr>
            <a:spLocks noGrp="1"/>
          </p:cNvSpPr>
          <p:nvPr/>
        </p:nvSpPr>
        <p:spPr>
          <a:xfrm>
            <a:off x="1123950" y="5343525"/>
            <a:ext cx="9353550" cy="542925"/>
          </a:xfrm>
          <a:prstGeom prst="rect">
            <a:avLst/>
          </a:prstGeom>
          <a:noFill/>
          <a:ln w="0">
            <a:noFill/>
            <a:prstDash val="solid"/>
          </a:ln>
        </p:spPr>
        <p:txBody>
          <a:bodyPr/>
          <a:lstStyle/>
          <a:p>
            <a:pPr algn="l">
              <a:defRPr sz="1425" b="0" i="0">
                <a:solidFill>
                  <a:srgbClr val="183127"/>
                </a:solidFill>
              </a:defRPr>
            </a:pPr>
            <a:r>
              <a:rPr sz="1425" b="0" i="0">
                <a:solidFill>
                  <a:srgbClr val="183127"/>
                </a:solidFill>
              </a:rPr>
              <a:t>Mật khẩu/PIN chỉ lưu bcrypt hash; dữ liệu sinh trắc học mã hóa AES-256.</a:t>
            </a:r>
          </a:p>
        </p:txBody>
      </p:sp>
    </p:spTree>
    <p:extLst>
      <p:ext uri="{BB962C8B-B14F-4D97-AF65-F5344CB8AC3E}">
        <p14:creationId xmlns:p14="http://schemas.microsoft.com/office/powerpoint/2010/main" val="1652333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53" name="Rectangle: Rounded Corners 52">
            <a:extLst>
              <a:ext uri="{FF2B5EF4-FFF2-40B4-BE49-F238E27FC236}">
                <a16:creationId xmlns:a16="http://schemas.microsoft.com/office/drawing/2014/main" id="{9E68C0EF-2054-45E9-A898-5A0E25AAD68E}"/>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ACA27B82-8CB7-447F-99CE-9CBFC0FF32EC}"/>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1. XÁC ĐỊNH NHU CẦU</a:t>
            </a:r>
          </a:p>
        </p:txBody>
      </p:sp>
      <p:sp>
        <p:nvSpPr>
          <p:cNvPr id="3" name="Rectangle 2">
            <a:extLst>
              <a:ext uri="{FF2B5EF4-FFF2-40B4-BE49-F238E27FC236}">
                <a16:creationId xmlns:a16="http://schemas.microsoft.com/office/drawing/2014/main" id="{B701D68F-28A6-41ED-A157-BAB5590C142A}"/>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User Story Map chia hành trình thành 3 release</a:t>
            </a:r>
          </a:p>
        </p:txBody>
      </p:sp>
      <p:sp>
        <p:nvSpPr>
          <p:cNvPr id="4" name="Rectangle 3">
            <a:extLst>
              <a:ext uri="{FF2B5EF4-FFF2-40B4-BE49-F238E27FC236}">
                <a16:creationId xmlns:a16="http://schemas.microsoft.com/office/drawing/2014/main" id="{70A4DDDD-64E1-499E-A772-166F83E86B63}"/>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08</a:t>
            </a:r>
          </a:p>
        </p:txBody>
      </p:sp>
      <p:sp>
        <p:nvSpPr>
          <p:cNvPr id="5" name="Rectangle 4">
            <a:extLst>
              <a:ext uri="{FF2B5EF4-FFF2-40B4-BE49-F238E27FC236}">
                <a16:creationId xmlns:a16="http://schemas.microsoft.com/office/drawing/2014/main" id="{F72BBC8A-6FD6-493A-ACF5-C6AC08FAE281}"/>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Rounded Corners 5">
            <a:extLst>
              <a:ext uri="{FF2B5EF4-FFF2-40B4-BE49-F238E27FC236}">
                <a16:creationId xmlns:a16="http://schemas.microsoft.com/office/drawing/2014/main" id="{8BB28C9D-05E6-4C64-B69D-D9FBDBBBD6FA}"/>
              </a:ext>
            </a:extLst>
          </p:cNvPr>
          <p:cNvSpPr>
            <a:spLocks noGrp="1"/>
          </p:cNvSpPr>
          <p:nvPr/>
        </p:nvSpPr>
        <p:spPr>
          <a:xfrm>
            <a:off x="1952625" y="1524000"/>
            <a:ext cx="1809750" cy="666750"/>
          </a:xfrm>
          <a:prstGeom prst="roundRect">
            <a:avLst>
              <a:gd name="adj" fmla="val 17143"/>
            </a:avLst>
          </a:prstGeom>
          <a:solidFill>
            <a:srgbClr val="2E5B3A"/>
          </a:solidFill>
          <a:ln w="9525">
            <a:solidFill>
              <a:srgbClr val="2E5B3A"/>
            </a:solidFill>
            <a:prstDash val="solid"/>
          </a:ln>
        </p:spPr>
      </p:sp>
      <p:sp>
        <p:nvSpPr>
          <p:cNvPr id="7" name="Rectangle 6">
            <a:extLst>
              <a:ext uri="{FF2B5EF4-FFF2-40B4-BE49-F238E27FC236}">
                <a16:creationId xmlns:a16="http://schemas.microsoft.com/office/drawing/2014/main" id="{B9B46B52-7E86-45B7-B14F-8F0FF10EE18D}"/>
              </a:ext>
            </a:extLst>
          </p:cNvPr>
          <p:cNvSpPr>
            <a:spLocks noGrp="1"/>
          </p:cNvSpPr>
          <p:nvPr/>
        </p:nvSpPr>
        <p:spPr>
          <a:xfrm>
            <a:off x="2028825" y="1657350"/>
            <a:ext cx="1657350" cy="438150"/>
          </a:xfrm>
          <a:prstGeom prst="rect">
            <a:avLst/>
          </a:prstGeom>
          <a:noFill/>
          <a:ln w="0">
            <a:noFill/>
            <a:prstDash val="solid"/>
          </a:ln>
        </p:spPr>
        <p:txBody>
          <a:bodyPr/>
          <a:lstStyle/>
          <a:p>
            <a:pPr algn="ctr">
              <a:defRPr sz="1200" b="1" i="0">
                <a:solidFill>
                  <a:srgbClr val="FFFFFF"/>
                </a:solidFill>
              </a:defRPr>
            </a:pPr>
            <a:r>
              <a:rPr sz="1200" b="1" i="0">
                <a:solidFill>
                  <a:srgbClr val="FFFFFF"/>
                </a:solidFill>
              </a:rPr>
              <a:t>A1. Xác thực SĐT</a:t>
            </a:r>
          </a:p>
        </p:txBody>
      </p:sp>
      <p:sp>
        <p:nvSpPr>
          <p:cNvPr id="8" name="Rectangle: Rounded Corners 7">
            <a:extLst>
              <a:ext uri="{FF2B5EF4-FFF2-40B4-BE49-F238E27FC236}">
                <a16:creationId xmlns:a16="http://schemas.microsoft.com/office/drawing/2014/main" id="{D609F3E8-4699-463A-82E9-303F07349178}"/>
              </a:ext>
            </a:extLst>
          </p:cNvPr>
          <p:cNvSpPr>
            <a:spLocks noGrp="1"/>
          </p:cNvSpPr>
          <p:nvPr/>
        </p:nvSpPr>
        <p:spPr>
          <a:xfrm>
            <a:off x="3838575" y="1524000"/>
            <a:ext cx="1809750" cy="666750"/>
          </a:xfrm>
          <a:prstGeom prst="roundRect">
            <a:avLst>
              <a:gd name="adj" fmla="val 17143"/>
            </a:avLst>
          </a:prstGeom>
          <a:solidFill>
            <a:srgbClr val="2E5B3A"/>
          </a:solidFill>
          <a:ln w="9525">
            <a:solidFill>
              <a:srgbClr val="2E5B3A"/>
            </a:solidFill>
            <a:prstDash val="solid"/>
          </a:ln>
        </p:spPr>
      </p:sp>
      <p:sp>
        <p:nvSpPr>
          <p:cNvPr id="9" name="Rectangle 8">
            <a:extLst>
              <a:ext uri="{FF2B5EF4-FFF2-40B4-BE49-F238E27FC236}">
                <a16:creationId xmlns:a16="http://schemas.microsoft.com/office/drawing/2014/main" id="{09F355F2-E1D3-454A-949C-95DF961BA194}"/>
              </a:ext>
            </a:extLst>
          </p:cNvPr>
          <p:cNvSpPr>
            <a:spLocks noGrp="1"/>
          </p:cNvSpPr>
          <p:nvPr/>
        </p:nvSpPr>
        <p:spPr>
          <a:xfrm>
            <a:off x="3914775" y="1657350"/>
            <a:ext cx="1657350" cy="438150"/>
          </a:xfrm>
          <a:prstGeom prst="rect">
            <a:avLst/>
          </a:prstGeom>
          <a:noFill/>
          <a:ln w="0">
            <a:noFill/>
            <a:prstDash val="solid"/>
          </a:ln>
        </p:spPr>
        <p:txBody>
          <a:bodyPr/>
          <a:lstStyle/>
          <a:p>
            <a:pPr algn="ctr">
              <a:defRPr sz="1200" b="1" i="0">
                <a:solidFill>
                  <a:srgbClr val="FFFFFF"/>
                </a:solidFill>
              </a:defRPr>
            </a:pPr>
            <a:r>
              <a:rPr sz="1200" b="1" i="0">
                <a:solidFill>
                  <a:srgbClr val="FFFFFF"/>
                </a:solidFill>
              </a:rPr>
              <a:t>A2. Xác thực eKYC</a:t>
            </a:r>
          </a:p>
        </p:txBody>
      </p:sp>
      <p:sp>
        <p:nvSpPr>
          <p:cNvPr id="10" name="Rectangle: Rounded Corners 9">
            <a:extLst>
              <a:ext uri="{FF2B5EF4-FFF2-40B4-BE49-F238E27FC236}">
                <a16:creationId xmlns:a16="http://schemas.microsoft.com/office/drawing/2014/main" id="{C9EAF2D7-4152-4FB9-9709-CD643C2B272E}"/>
              </a:ext>
            </a:extLst>
          </p:cNvPr>
          <p:cNvSpPr>
            <a:spLocks noGrp="1"/>
          </p:cNvSpPr>
          <p:nvPr/>
        </p:nvSpPr>
        <p:spPr>
          <a:xfrm>
            <a:off x="5724525" y="1524000"/>
            <a:ext cx="1809750" cy="666750"/>
          </a:xfrm>
          <a:prstGeom prst="roundRect">
            <a:avLst>
              <a:gd name="adj" fmla="val 17143"/>
            </a:avLst>
          </a:prstGeom>
          <a:solidFill>
            <a:srgbClr val="2E5B3A"/>
          </a:solidFill>
          <a:ln w="9525">
            <a:solidFill>
              <a:srgbClr val="2E5B3A"/>
            </a:solidFill>
            <a:prstDash val="solid"/>
          </a:ln>
        </p:spPr>
      </p:sp>
      <p:sp>
        <p:nvSpPr>
          <p:cNvPr id="11" name="Rectangle 10">
            <a:extLst>
              <a:ext uri="{FF2B5EF4-FFF2-40B4-BE49-F238E27FC236}">
                <a16:creationId xmlns:a16="http://schemas.microsoft.com/office/drawing/2014/main" id="{0B12A925-DF4E-41A5-BC3C-146887EB6A58}"/>
              </a:ext>
            </a:extLst>
          </p:cNvPr>
          <p:cNvSpPr>
            <a:spLocks noGrp="1"/>
          </p:cNvSpPr>
          <p:nvPr/>
        </p:nvSpPr>
        <p:spPr>
          <a:xfrm>
            <a:off x="5800725" y="1657350"/>
            <a:ext cx="1657350" cy="438150"/>
          </a:xfrm>
          <a:prstGeom prst="rect">
            <a:avLst/>
          </a:prstGeom>
          <a:noFill/>
          <a:ln w="0">
            <a:noFill/>
            <a:prstDash val="solid"/>
          </a:ln>
        </p:spPr>
        <p:txBody>
          <a:bodyPr/>
          <a:lstStyle/>
          <a:p>
            <a:pPr algn="ctr">
              <a:defRPr sz="1200" b="1" i="0">
                <a:solidFill>
                  <a:srgbClr val="FFFFFF"/>
                </a:solidFill>
              </a:defRPr>
            </a:pPr>
            <a:r>
              <a:rPr sz="1200" b="1" i="0">
                <a:solidFill>
                  <a:srgbClr val="FFFFFF"/>
                </a:solidFill>
              </a:rPr>
              <a:t>A3. Hoàn thiện hồ sơ</a:t>
            </a:r>
          </a:p>
        </p:txBody>
      </p:sp>
      <p:sp>
        <p:nvSpPr>
          <p:cNvPr id="12" name="Rectangle: Rounded Corners 11">
            <a:extLst>
              <a:ext uri="{FF2B5EF4-FFF2-40B4-BE49-F238E27FC236}">
                <a16:creationId xmlns:a16="http://schemas.microsoft.com/office/drawing/2014/main" id="{1FEFEA32-8D94-4013-88D9-3DB673FEFEC7}"/>
              </a:ext>
            </a:extLst>
          </p:cNvPr>
          <p:cNvSpPr>
            <a:spLocks noGrp="1"/>
          </p:cNvSpPr>
          <p:nvPr/>
        </p:nvSpPr>
        <p:spPr>
          <a:xfrm>
            <a:off x="7610475" y="1524000"/>
            <a:ext cx="1809750" cy="666750"/>
          </a:xfrm>
          <a:prstGeom prst="roundRect">
            <a:avLst>
              <a:gd name="adj" fmla="val 17143"/>
            </a:avLst>
          </a:prstGeom>
          <a:solidFill>
            <a:srgbClr val="2E5B3A"/>
          </a:solidFill>
          <a:ln w="9525">
            <a:solidFill>
              <a:srgbClr val="2E5B3A"/>
            </a:solidFill>
            <a:prstDash val="solid"/>
          </a:ln>
        </p:spPr>
      </p:sp>
      <p:sp>
        <p:nvSpPr>
          <p:cNvPr id="13" name="Rectangle 12">
            <a:extLst>
              <a:ext uri="{FF2B5EF4-FFF2-40B4-BE49-F238E27FC236}">
                <a16:creationId xmlns:a16="http://schemas.microsoft.com/office/drawing/2014/main" id="{D94CEF56-2F78-48E6-AD0D-5534E3F08667}"/>
              </a:ext>
            </a:extLst>
          </p:cNvPr>
          <p:cNvSpPr>
            <a:spLocks noGrp="1"/>
          </p:cNvSpPr>
          <p:nvPr/>
        </p:nvSpPr>
        <p:spPr>
          <a:xfrm>
            <a:off x="7686675" y="1657350"/>
            <a:ext cx="1657350" cy="438150"/>
          </a:xfrm>
          <a:prstGeom prst="rect">
            <a:avLst/>
          </a:prstGeom>
          <a:noFill/>
          <a:ln w="0">
            <a:noFill/>
            <a:prstDash val="solid"/>
          </a:ln>
        </p:spPr>
        <p:txBody>
          <a:bodyPr/>
          <a:lstStyle/>
          <a:p>
            <a:pPr algn="ctr">
              <a:defRPr sz="1200" b="1" i="0">
                <a:solidFill>
                  <a:srgbClr val="FFFFFF"/>
                </a:solidFill>
              </a:defRPr>
            </a:pPr>
            <a:r>
              <a:rPr sz="1200" b="1" i="0">
                <a:solidFill>
                  <a:srgbClr val="FFFFFF"/>
                </a:solidFill>
              </a:rPr>
              <a:t>A4. Nhận kết quả</a:t>
            </a:r>
          </a:p>
        </p:txBody>
      </p:sp>
      <p:sp>
        <p:nvSpPr>
          <p:cNvPr id="14" name="Rectangle: Rounded Corners 13">
            <a:extLst>
              <a:ext uri="{FF2B5EF4-FFF2-40B4-BE49-F238E27FC236}">
                <a16:creationId xmlns:a16="http://schemas.microsoft.com/office/drawing/2014/main" id="{C41C92AF-5F2F-49A8-B1C6-0950B433F664}"/>
              </a:ext>
            </a:extLst>
          </p:cNvPr>
          <p:cNvSpPr>
            <a:spLocks noGrp="1"/>
          </p:cNvSpPr>
          <p:nvPr/>
        </p:nvSpPr>
        <p:spPr>
          <a:xfrm>
            <a:off x="9496425" y="1524000"/>
            <a:ext cx="1809750" cy="666750"/>
          </a:xfrm>
          <a:prstGeom prst="roundRect">
            <a:avLst>
              <a:gd name="adj" fmla="val 17143"/>
            </a:avLst>
          </a:prstGeom>
          <a:solidFill>
            <a:srgbClr val="2E5B3A"/>
          </a:solidFill>
          <a:ln w="9525">
            <a:solidFill>
              <a:srgbClr val="2E5B3A"/>
            </a:solidFill>
            <a:prstDash val="solid"/>
          </a:ln>
        </p:spPr>
      </p:sp>
      <p:sp>
        <p:nvSpPr>
          <p:cNvPr id="15" name="Rectangle 14">
            <a:extLst>
              <a:ext uri="{FF2B5EF4-FFF2-40B4-BE49-F238E27FC236}">
                <a16:creationId xmlns:a16="http://schemas.microsoft.com/office/drawing/2014/main" id="{40A38DB3-01D1-4B6A-AFDD-D2DE9DC55D78}"/>
              </a:ext>
            </a:extLst>
          </p:cNvPr>
          <p:cNvSpPr>
            <a:spLocks noGrp="1"/>
          </p:cNvSpPr>
          <p:nvPr/>
        </p:nvSpPr>
        <p:spPr>
          <a:xfrm>
            <a:off x="9572625" y="1657350"/>
            <a:ext cx="1657350" cy="438150"/>
          </a:xfrm>
          <a:prstGeom prst="rect">
            <a:avLst/>
          </a:prstGeom>
          <a:noFill/>
          <a:ln w="0">
            <a:noFill/>
            <a:prstDash val="solid"/>
          </a:ln>
        </p:spPr>
        <p:txBody>
          <a:bodyPr/>
          <a:lstStyle/>
          <a:p>
            <a:pPr algn="ctr">
              <a:defRPr sz="1200" b="1" i="0">
                <a:solidFill>
                  <a:srgbClr val="FFFFFF"/>
                </a:solidFill>
              </a:defRPr>
            </a:pPr>
            <a:r>
              <a:rPr sz="1200" b="1" i="0">
                <a:solidFill>
                  <a:srgbClr val="FFFFFF"/>
                </a:solidFill>
              </a:rPr>
              <a:t>A5. Thiết lập eBanking</a:t>
            </a:r>
          </a:p>
        </p:txBody>
      </p:sp>
      <p:sp>
        <p:nvSpPr>
          <p:cNvPr id="16" name="Rectangle: Rounded Corners 15">
            <a:extLst>
              <a:ext uri="{FF2B5EF4-FFF2-40B4-BE49-F238E27FC236}">
                <a16:creationId xmlns:a16="http://schemas.microsoft.com/office/drawing/2014/main" id="{66297ABF-49CA-4303-9F65-06399CEBEE26}"/>
              </a:ext>
            </a:extLst>
          </p:cNvPr>
          <p:cNvSpPr>
            <a:spLocks noGrp="1"/>
          </p:cNvSpPr>
          <p:nvPr/>
        </p:nvSpPr>
        <p:spPr>
          <a:xfrm>
            <a:off x="666750" y="2333625"/>
            <a:ext cx="1143000" cy="1095375"/>
          </a:xfrm>
          <a:prstGeom prst="roundRect">
            <a:avLst>
              <a:gd name="adj" fmla="val 10435"/>
            </a:avLst>
          </a:prstGeom>
          <a:solidFill>
            <a:srgbClr val="6B9A6E"/>
          </a:solidFill>
          <a:ln w="9525">
            <a:solidFill>
              <a:srgbClr val="6B9A6E"/>
            </a:solidFill>
            <a:prstDash val="solid"/>
          </a:ln>
        </p:spPr>
      </p:sp>
      <p:sp>
        <p:nvSpPr>
          <p:cNvPr id="17" name="Rectangle 16">
            <a:extLst>
              <a:ext uri="{FF2B5EF4-FFF2-40B4-BE49-F238E27FC236}">
                <a16:creationId xmlns:a16="http://schemas.microsoft.com/office/drawing/2014/main" id="{D2D6BAFD-88FA-441B-B910-A052598B5742}"/>
              </a:ext>
            </a:extLst>
          </p:cNvPr>
          <p:cNvSpPr>
            <a:spLocks noGrp="1"/>
          </p:cNvSpPr>
          <p:nvPr/>
        </p:nvSpPr>
        <p:spPr>
          <a:xfrm>
            <a:off x="742950" y="2571750"/>
            <a:ext cx="990600" cy="714375"/>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R1 - MVP</a:t>
            </a:r>
          </a:p>
        </p:txBody>
      </p:sp>
      <p:sp>
        <p:nvSpPr>
          <p:cNvPr id="18" name="Rectangle: Rounded Corners 17">
            <a:extLst>
              <a:ext uri="{FF2B5EF4-FFF2-40B4-BE49-F238E27FC236}">
                <a16:creationId xmlns:a16="http://schemas.microsoft.com/office/drawing/2014/main" id="{2C1A84E3-49A0-41E8-99A8-3FE40A3FB181}"/>
              </a:ext>
            </a:extLst>
          </p:cNvPr>
          <p:cNvSpPr>
            <a:spLocks noGrp="1"/>
          </p:cNvSpPr>
          <p:nvPr/>
        </p:nvSpPr>
        <p:spPr>
          <a:xfrm>
            <a:off x="1952625" y="2333625"/>
            <a:ext cx="1809750" cy="1095375"/>
          </a:xfrm>
          <a:prstGeom prst="roundRect">
            <a:avLst>
              <a:gd name="adj" fmla="val 10435"/>
            </a:avLst>
          </a:prstGeom>
          <a:solidFill>
            <a:srgbClr val="DCEED9"/>
          </a:solidFill>
          <a:ln w="9525">
            <a:solidFill>
              <a:srgbClr val="6B9A6E"/>
            </a:solidFill>
            <a:prstDash val="solid"/>
          </a:ln>
        </p:spPr>
      </p:sp>
      <p:sp>
        <p:nvSpPr>
          <p:cNvPr id="19" name="Rectangle 18">
            <a:extLst>
              <a:ext uri="{FF2B5EF4-FFF2-40B4-BE49-F238E27FC236}">
                <a16:creationId xmlns:a16="http://schemas.microsoft.com/office/drawing/2014/main" id="{77767F30-9383-4601-9B27-320C1786BF55}"/>
              </a:ext>
            </a:extLst>
          </p:cNvPr>
          <p:cNvSpPr>
            <a:spLocks noGrp="1"/>
          </p:cNvSpPr>
          <p:nvPr/>
        </p:nvSpPr>
        <p:spPr>
          <a:xfrm>
            <a:off x="2028825" y="2486025"/>
            <a:ext cx="1657350" cy="82867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Nhập SĐT</a:t>
            </a:r>
          </a:p>
          <a:p>
            <a:pPr algn="ctr">
              <a:defRPr sz="1125" b="0" i="0">
                <a:solidFill>
                  <a:srgbClr val="183127"/>
                </a:solidFill>
              </a:defRPr>
            </a:pPr>
            <a:r>
              <a:rPr sz="1125" b="0" i="0">
                <a:solidFill>
                  <a:srgbClr val="183127"/>
                </a:solidFill>
              </a:rPr>
              <a:t>Xác thực OTP</a:t>
            </a:r>
          </a:p>
        </p:txBody>
      </p:sp>
      <p:sp>
        <p:nvSpPr>
          <p:cNvPr id="20" name="Rectangle: Rounded Corners 19">
            <a:extLst>
              <a:ext uri="{FF2B5EF4-FFF2-40B4-BE49-F238E27FC236}">
                <a16:creationId xmlns:a16="http://schemas.microsoft.com/office/drawing/2014/main" id="{21F1193E-3051-49B2-9167-CCD4E9F05E53}"/>
              </a:ext>
            </a:extLst>
          </p:cNvPr>
          <p:cNvSpPr>
            <a:spLocks noGrp="1"/>
          </p:cNvSpPr>
          <p:nvPr/>
        </p:nvSpPr>
        <p:spPr>
          <a:xfrm>
            <a:off x="3838575" y="2333625"/>
            <a:ext cx="1809750" cy="1095375"/>
          </a:xfrm>
          <a:prstGeom prst="roundRect">
            <a:avLst>
              <a:gd name="adj" fmla="val 10435"/>
            </a:avLst>
          </a:prstGeom>
          <a:solidFill>
            <a:srgbClr val="DCEED9"/>
          </a:solidFill>
          <a:ln w="9525">
            <a:solidFill>
              <a:srgbClr val="6B9A6E"/>
            </a:solidFill>
            <a:prstDash val="solid"/>
          </a:ln>
        </p:spPr>
      </p:sp>
      <p:sp>
        <p:nvSpPr>
          <p:cNvPr id="21" name="Rectangle 20">
            <a:extLst>
              <a:ext uri="{FF2B5EF4-FFF2-40B4-BE49-F238E27FC236}">
                <a16:creationId xmlns:a16="http://schemas.microsoft.com/office/drawing/2014/main" id="{BD738EE8-9AD0-40F0-9E98-AB32BB99E6EC}"/>
              </a:ext>
            </a:extLst>
          </p:cNvPr>
          <p:cNvSpPr>
            <a:spLocks noGrp="1"/>
          </p:cNvSpPr>
          <p:nvPr/>
        </p:nvSpPr>
        <p:spPr>
          <a:xfrm>
            <a:off x="3914775" y="2486025"/>
            <a:ext cx="1657350" cy="82867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Chụp CCCD</a:t>
            </a:r>
          </a:p>
          <a:p>
            <a:pPr algn="ctr">
              <a:defRPr sz="1125" b="0" i="0">
                <a:solidFill>
                  <a:srgbClr val="183127"/>
                </a:solidFill>
              </a:defRPr>
            </a:pPr>
            <a:r>
              <a:rPr sz="1125" b="0" i="0">
                <a:solidFill>
                  <a:srgbClr val="183127"/>
                </a:solidFill>
              </a:rPr>
              <a:t>OCR</a:t>
            </a:r>
          </a:p>
          <a:p>
            <a:pPr algn="ctr">
              <a:defRPr sz="1125" b="0" i="0">
                <a:solidFill>
                  <a:srgbClr val="183127"/>
                </a:solidFill>
              </a:defRPr>
            </a:pPr>
            <a:r>
              <a:rPr sz="1125" b="0" i="0">
                <a:solidFill>
                  <a:srgbClr val="183127"/>
                </a:solidFill>
              </a:rPr>
              <a:t>Face + Liveness</a:t>
            </a:r>
          </a:p>
        </p:txBody>
      </p:sp>
      <p:sp>
        <p:nvSpPr>
          <p:cNvPr id="22" name="Rectangle: Rounded Corners 21">
            <a:extLst>
              <a:ext uri="{FF2B5EF4-FFF2-40B4-BE49-F238E27FC236}">
                <a16:creationId xmlns:a16="http://schemas.microsoft.com/office/drawing/2014/main" id="{0A19221D-BA12-4330-97D2-C0788D1A5344}"/>
              </a:ext>
            </a:extLst>
          </p:cNvPr>
          <p:cNvSpPr>
            <a:spLocks noGrp="1"/>
          </p:cNvSpPr>
          <p:nvPr/>
        </p:nvSpPr>
        <p:spPr>
          <a:xfrm>
            <a:off x="5724525" y="2333625"/>
            <a:ext cx="1809750" cy="1095375"/>
          </a:xfrm>
          <a:prstGeom prst="roundRect">
            <a:avLst>
              <a:gd name="adj" fmla="val 10435"/>
            </a:avLst>
          </a:prstGeom>
          <a:solidFill>
            <a:srgbClr val="DCEED9"/>
          </a:solidFill>
          <a:ln w="9525">
            <a:solidFill>
              <a:srgbClr val="6B9A6E"/>
            </a:solidFill>
            <a:prstDash val="solid"/>
          </a:ln>
        </p:spPr>
      </p:sp>
      <p:sp>
        <p:nvSpPr>
          <p:cNvPr id="23" name="Rectangle 22">
            <a:extLst>
              <a:ext uri="{FF2B5EF4-FFF2-40B4-BE49-F238E27FC236}">
                <a16:creationId xmlns:a16="http://schemas.microsoft.com/office/drawing/2014/main" id="{506B2581-902F-4A17-92A0-297459831FFC}"/>
              </a:ext>
            </a:extLst>
          </p:cNvPr>
          <p:cNvSpPr>
            <a:spLocks noGrp="1"/>
          </p:cNvSpPr>
          <p:nvPr/>
        </p:nvSpPr>
        <p:spPr>
          <a:xfrm>
            <a:off x="5800725" y="2486025"/>
            <a:ext cx="1657350" cy="82867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Kiểm tra thông tin</a:t>
            </a:r>
          </a:p>
          <a:p>
            <a:pPr algn="ctr">
              <a:defRPr sz="1125" b="0" i="0">
                <a:solidFill>
                  <a:srgbClr val="183127"/>
                </a:solidFill>
              </a:defRPr>
            </a:pPr>
            <a:r>
              <a:rPr sz="1125" b="0" i="0">
                <a:solidFill>
                  <a:srgbClr val="183127"/>
                </a:solidFill>
              </a:rPr>
              <a:t>Xác nhận &amp; gửi</a:t>
            </a:r>
          </a:p>
        </p:txBody>
      </p:sp>
      <p:sp>
        <p:nvSpPr>
          <p:cNvPr id="24" name="Rectangle: Rounded Corners 23">
            <a:extLst>
              <a:ext uri="{FF2B5EF4-FFF2-40B4-BE49-F238E27FC236}">
                <a16:creationId xmlns:a16="http://schemas.microsoft.com/office/drawing/2014/main" id="{1EAD8B74-C825-4214-BDD7-5A5F611F0172}"/>
              </a:ext>
            </a:extLst>
          </p:cNvPr>
          <p:cNvSpPr>
            <a:spLocks noGrp="1"/>
          </p:cNvSpPr>
          <p:nvPr/>
        </p:nvSpPr>
        <p:spPr>
          <a:xfrm>
            <a:off x="7610475" y="2333625"/>
            <a:ext cx="1809750" cy="1095375"/>
          </a:xfrm>
          <a:prstGeom prst="roundRect">
            <a:avLst>
              <a:gd name="adj" fmla="val 10435"/>
            </a:avLst>
          </a:prstGeom>
          <a:solidFill>
            <a:srgbClr val="DCEED9"/>
          </a:solidFill>
          <a:ln w="9525">
            <a:solidFill>
              <a:srgbClr val="6B9A6E"/>
            </a:solidFill>
            <a:prstDash val="solid"/>
          </a:ln>
        </p:spPr>
      </p:sp>
      <p:sp>
        <p:nvSpPr>
          <p:cNvPr id="25" name="Rectangle 24">
            <a:extLst>
              <a:ext uri="{FF2B5EF4-FFF2-40B4-BE49-F238E27FC236}">
                <a16:creationId xmlns:a16="http://schemas.microsoft.com/office/drawing/2014/main" id="{BEAC1D55-372C-485C-863D-43A4BDB14504}"/>
              </a:ext>
            </a:extLst>
          </p:cNvPr>
          <p:cNvSpPr>
            <a:spLocks noGrp="1"/>
          </p:cNvSpPr>
          <p:nvPr/>
        </p:nvSpPr>
        <p:spPr>
          <a:xfrm>
            <a:off x="7686675" y="2486025"/>
            <a:ext cx="1657350" cy="82867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Kiểm tra trùng</a:t>
            </a:r>
          </a:p>
          <a:p>
            <a:pPr algn="ctr">
              <a:defRPr sz="1125" b="0" i="0">
                <a:solidFill>
                  <a:srgbClr val="183127"/>
                </a:solidFill>
              </a:defRPr>
            </a:pPr>
            <a:r>
              <a:rPr sz="1125" b="0" i="0">
                <a:solidFill>
                  <a:srgbClr val="183127"/>
                </a:solidFill>
              </a:rPr>
              <a:t>Tạo CIF + STK</a:t>
            </a:r>
          </a:p>
          <a:p>
            <a:pPr algn="ctr">
              <a:defRPr sz="1125" b="0" i="0">
                <a:solidFill>
                  <a:srgbClr val="183127"/>
                </a:solidFill>
              </a:defRPr>
            </a:pPr>
            <a:r>
              <a:rPr sz="1125" b="0" i="0">
                <a:solidFill>
                  <a:srgbClr val="183127"/>
                </a:solidFill>
              </a:rPr>
              <a:t>Thông báo</a:t>
            </a:r>
          </a:p>
        </p:txBody>
      </p:sp>
      <p:sp>
        <p:nvSpPr>
          <p:cNvPr id="26" name="Rectangle: Rounded Corners 25">
            <a:extLst>
              <a:ext uri="{FF2B5EF4-FFF2-40B4-BE49-F238E27FC236}">
                <a16:creationId xmlns:a16="http://schemas.microsoft.com/office/drawing/2014/main" id="{7EDA15F4-5621-4F37-BBD6-152BC909FC64}"/>
              </a:ext>
            </a:extLst>
          </p:cNvPr>
          <p:cNvSpPr>
            <a:spLocks noGrp="1"/>
          </p:cNvSpPr>
          <p:nvPr/>
        </p:nvSpPr>
        <p:spPr>
          <a:xfrm>
            <a:off x="9496425" y="2333625"/>
            <a:ext cx="1809750" cy="1095375"/>
          </a:xfrm>
          <a:prstGeom prst="roundRect">
            <a:avLst>
              <a:gd name="adj" fmla="val 10435"/>
            </a:avLst>
          </a:prstGeom>
          <a:solidFill>
            <a:srgbClr val="DCEED9"/>
          </a:solidFill>
          <a:ln w="9525">
            <a:solidFill>
              <a:srgbClr val="6B9A6E"/>
            </a:solidFill>
            <a:prstDash val="solid"/>
          </a:ln>
        </p:spPr>
      </p:sp>
      <p:sp>
        <p:nvSpPr>
          <p:cNvPr id="27" name="Rectangle 26">
            <a:extLst>
              <a:ext uri="{FF2B5EF4-FFF2-40B4-BE49-F238E27FC236}">
                <a16:creationId xmlns:a16="http://schemas.microsoft.com/office/drawing/2014/main" id="{C3722A96-67E8-45EB-8274-BBD506505148}"/>
              </a:ext>
            </a:extLst>
          </p:cNvPr>
          <p:cNvSpPr>
            <a:spLocks noGrp="1"/>
          </p:cNvSpPr>
          <p:nvPr/>
        </p:nvSpPr>
        <p:spPr>
          <a:xfrm>
            <a:off x="9572625" y="2486025"/>
            <a:ext cx="1657350" cy="82867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Mật khẩu</a:t>
            </a:r>
          </a:p>
          <a:p>
            <a:pPr algn="ctr">
              <a:defRPr sz="1125" b="0" i="0">
                <a:solidFill>
                  <a:srgbClr val="183127"/>
                </a:solidFill>
              </a:defRPr>
            </a:pPr>
            <a:r>
              <a:rPr sz="1125" b="0" i="0">
                <a:solidFill>
                  <a:srgbClr val="183127"/>
                </a:solidFill>
              </a:rPr>
              <a:t>Mã PIN</a:t>
            </a:r>
          </a:p>
        </p:txBody>
      </p:sp>
      <p:sp>
        <p:nvSpPr>
          <p:cNvPr id="28" name="Rectangle: Rounded Corners 27">
            <a:extLst>
              <a:ext uri="{FF2B5EF4-FFF2-40B4-BE49-F238E27FC236}">
                <a16:creationId xmlns:a16="http://schemas.microsoft.com/office/drawing/2014/main" id="{0261FA6F-65D3-432D-A158-F374174AAF1B}"/>
              </a:ext>
            </a:extLst>
          </p:cNvPr>
          <p:cNvSpPr>
            <a:spLocks noGrp="1"/>
          </p:cNvSpPr>
          <p:nvPr/>
        </p:nvSpPr>
        <p:spPr>
          <a:xfrm>
            <a:off x="666750" y="3571875"/>
            <a:ext cx="1143000" cy="1190625"/>
          </a:xfrm>
          <a:prstGeom prst="roundRect">
            <a:avLst>
              <a:gd name="adj" fmla="val 10000"/>
            </a:avLst>
          </a:prstGeom>
          <a:solidFill>
            <a:srgbClr val="D3A72E"/>
          </a:solidFill>
          <a:ln w="9525">
            <a:solidFill>
              <a:srgbClr val="D3A72E"/>
            </a:solidFill>
            <a:prstDash val="solid"/>
          </a:ln>
        </p:spPr>
      </p:sp>
      <p:sp>
        <p:nvSpPr>
          <p:cNvPr id="29" name="Rectangle 28">
            <a:extLst>
              <a:ext uri="{FF2B5EF4-FFF2-40B4-BE49-F238E27FC236}">
                <a16:creationId xmlns:a16="http://schemas.microsoft.com/office/drawing/2014/main" id="{A23E65AD-35CD-4B31-B7A9-C86BB7398B69}"/>
              </a:ext>
            </a:extLst>
          </p:cNvPr>
          <p:cNvSpPr>
            <a:spLocks noGrp="1"/>
          </p:cNvSpPr>
          <p:nvPr/>
        </p:nvSpPr>
        <p:spPr>
          <a:xfrm>
            <a:off x="742950" y="3810000"/>
            <a:ext cx="990600" cy="809625"/>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R2 - SHOULD</a:t>
            </a:r>
          </a:p>
        </p:txBody>
      </p:sp>
      <p:sp>
        <p:nvSpPr>
          <p:cNvPr id="30" name="Rectangle: Rounded Corners 29">
            <a:extLst>
              <a:ext uri="{FF2B5EF4-FFF2-40B4-BE49-F238E27FC236}">
                <a16:creationId xmlns:a16="http://schemas.microsoft.com/office/drawing/2014/main" id="{27844841-CFD4-47C2-89E0-9127E18A4350}"/>
              </a:ext>
            </a:extLst>
          </p:cNvPr>
          <p:cNvSpPr>
            <a:spLocks noGrp="1"/>
          </p:cNvSpPr>
          <p:nvPr/>
        </p:nvSpPr>
        <p:spPr>
          <a:xfrm>
            <a:off x="1952625" y="3571875"/>
            <a:ext cx="1809750" cy="1190625"/>
          </a:xfrm>
          <a:prstGeom prst="roundRect">
            <a:avLst>
              <a:gd name="adj" fmla="val 9600"/>
            </a:avLst>
          </a:prstGeom>
          <a:solidFill>
            <a:srgbClr val="FFF2CC"/>
          </a:solidFill>
          <a:ln w="9525">
            <a:solidFill>
              <a:srgbClr val="D3A72E"/>
            </a:solidFill>
            <a:prstDash val="solid"/>
          </a:ln>
        </p:spPr>
      </p:sp>
      <p:sp>
        <p:nvSpPr>
          <p:cNvPr id="31" name="Rectangle 30">
            <a:extLst>
              <a:ext uri="{FF2B5EF4-FFF2-40B4-BE49-F238E27FC236}">
                <a16:creationId xmlns:a16="http://schemas.microsoft.com/office/drawing/2014/main" id="{0E0DC6C1-C31E-44EA-A89E-D401C4A75557}"/>
              </a:ext>
            </a:extLst>
          </p:cNvPr>
          <p:cNvSpPr>
            <a:spLocks noGrp="1"/>
          </p:cNvSpPr>
          <p:nvPr/>
        </p:nvSpPr>
        <p:spPr>
          <a:xfrm>
            <a:off x="2028825" y="3724275"/>
            <a:ext cx="1657350" cy="9239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OTP sai</a:t>
            </a:r>
          </a:p>
          <a:p>
            <a:pPr algn="ctr">
              <a:defRPr sz="1125" b="0" i="0">
                <a:solidFill>
                  <a:srgbClr val="183127"/>
                </a:solidFill>
              </a:defRPr>
            </a:pPr>
            <a:r>
              <a:rPr sz="1125" b="0" i="0">
                <a:solidFill>
                  <a:srgbClr val="183127"/>
                </a:solidFill>
              </a:rPr>
              <a:t>Retry không giới hạn</a:t>
            </a:r>
          </a:p>
        </p:txBody>
      </p:sp>
      <p:sp>
        <p:nvSpPr>
          <p:cNvPr id="32" name="Rectangle: Rounded Corners 31">
            <a:extLst>
              <a:ext uri="{FF2B5EF4-FFF2-40B4-BE49-F238E27FC236}">
                <a16:creationId xmlns:a16="http://schemas.microsoft.com/office/drawing/2014/main" id="{56B413F7-1BC8-411F-8770-4675F0FC6E7B}"/>
              </a:ext>
            </a:extLst>
          </p:cNvPr>
          <p:cNvSpPr>
            <a:spLocks noGrp="1"/>
          </p:cNvSpPr>
          <p:nvPr/>
        </p:nvSpPr>
        <p:spPr>
          <a:xfrm>
            <a:off x="3838575" y="3571875"/>
            <a:ext cx="1809750" cy="1190625"/>
          </a:xfrm>
          <a:prstGeom prst="roundRect">
            <a:avLst>
              <a:gd name="adj" fmla="val 9600"/>
            </a:avLst>
          </a:prstGeom>
          <a:solidFill>
            <a:srgbClr val="FFF2CC"/>
          </a:solidFill>
          <a:ln w="9525">
            <a:solidFill>
              <a:srgbClr val="D3A72E"/>
            </a:solidFill>
            <a:prstDash val="solid"/>
          </a:ln>
        </p:spPr>
      </p:sp>
      <p:sp>
        <p:nvSpPr>
          <p:cNvPr id="33" name="Rectangle 32">
            <a:extLst>
              <a:ext uri="{FF2B5EF4-FFF2-40B4-BE49-F238E27FC236}">
                <a16:creationId xmlns:a16="http://schemas.microsoft.com/office/drawing/2014/main" id="{0CF884AB-7435-477F-8D13-10D936436442}"/>
              </a:ext>
            </a:extLst>
          </p:cNvPr>
          <p:cNvSpPr>
            <a:spLocks noGrp="1"/>
          </p:cNvSpPr>
          <p:nvPr/>
        </p:nvSpPr>
        <p:spPr>
          <a:xfrm>
            <a:off x="3914775" y="3724275"/>
            <a:ext cx="1657350" cy="9239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Retry eKYC</a:t>
            </a:r>
          </a:p>
          <a:p>
            <a:pPr algn="ctr">
              <a:defRPr sz="1125" b="0" i="0">
                <a:solidFill>
                  <a:srgbClr val="183127"/>
                </a:solidFill>
              </a:defRPr>
            </a:pPr>
            <a:r>
              <a:rPr sz="1125" b="0" i="0">
                <a:solidFill>
                  <a:srgbClr val="183127"/>
                </a:solidFill>
              </a:rPr>
              <a:t>Đủ 3 lần: thủ công</a:t>
            </a:r>
          </a:p>
        </p:txBody>
      </p:sp>
      <p:sp>
        <p:nvSpPr>
          <p:cNvPr id="34" name="Rectangle: Rounded Corners 33">
            <a:extLst>
              <a:ext uri="{FF2B5EF4-FFF2-40B4-BE49-F238E27FC236}">
                <a16:creationId xmlns:a16="http://schemas.microsoft.com/office/drawing/2014/main" id="{58DBCA07-E335-4C0D-9FAE-3651B1922A6E}"/>
              </a:ext>
            </a:extLst>
          </p:cNvPr>
          <p:cNvSpPr>
            <a:spLocks noGrp="1"/>
          </p:cNvSpPr>
          <p:nvPr/>
        </p:nvSpPr>
        <p:spPr>
          <a:xfrm>
            <a:off x="5724525" y="3571875"/>
            <a:ext cx="1809750" cy="1190625"/>
          </a:xfrm>
          <a:prstGeom prst="roundRect">
            <a:avLst>
              <a:gd name="adj" fmla="val 9600"/>
            </a:avLst>
          </a:prstGeom>
          <a:solidFill>
            <a:srgbClr val="FFF2CC"/>
          </a:solidFill>
          <a:ln w="9525">
            <a:solidFill>
              <a:srgbClr val="D3A72E"/>
            </a:solidFill>
            <a:prstDash val="solid"/>
          </a:ln>
        </p:spPr>
      </p:sp>
      <p:sp>
        <p:nvSpPr>
          <p:cNvPr id="35" name="Rectangle 34">
            <a:extLst>
              <a:ext uri="{FF2B5EF4-FFF2-40B4-BE49-F238E27FC236}">
                <a16:creationId xmlns:a16="http://schemas.microsoft.com/office/drawing/2014/main" id="{5B2C7092-1134-4658-ACB7-ED89407CB90A}"/>
              </a:ext>
            </a:extLst>
          </p:cNvPr>
          <p:cNvSpPr>
            <a:spLocks noGrp="1"/>
          </p:cNvSpPr>
          <p:nvPr/>
        </p:nvSpPr>
        <p:spPr>
          <a:xfrm>
            <a:off x="5800725" y="3724275"/>
            <a:ext cx="1657350" cy="9239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Cảnh báo hồ sơ</a:t>
            </a:r>
          </a:p>
          <a:p>
            <a:pPr algn="ctr">
              <a:defRPr sz="1125" b="0" i="0">
                <a:solidFill>
                  <a:srgbClr val="183127"/>
                </a:solidFill>
              </a:defRPr>
            </a:pPr>
            <a:r>
              <a:rPr sz="1125" b="0" i="0">
                <a:solidFill>
                  <a:srgbClr val="183127"/>
                </a:solidFill>
              </a:rPr>
              <a:t>chưa đủ điều kiện</a:t>
            </a:r>
          </a:p>
        </p:txBody>
      </p:sp>
      <p:sp>
        <p:nvSpPr>
          <p:cNvPr id="36" name="Rectangle: Rounded Corners 35">
            <a:extLst>
              <a:ext uri="{FF2B5EF4-FFF2-40B4-BE49-F238E27FC236}">
                <a16:creationId xmlns:a16="http://schemas.microsoft.com/office/drawing/2014/main" id="{80291D18-1BE3-4D5F-AEFA-B9FC3D4577C9}"/>
              </a:ext>
            </a:extLst>
          </p:cNvPr>
          <p:cNvSpPr>
            <a:spLocks noGrp="1"/>
          </p:cNvSpPr>
          <p:nvPr/>
        </p:nvSpPr>
        <p:spPr>
          <a:xfrm>
            <a:off x="7610475" y="3571875"/>
            <a:ext cx="1809750" cy="1190625"/>
          </a:xfrm>
          <a:prstGeom prst="roundRect">
            <a:avLst>
              <a:gd name="adj" fmla="val 9600"/>
            </a:avLst>
          </a:prstGeom>
          <a:solidFill>
            <a:srgbClr val="FFF2CC"/>
          </a:solidFill>
          <a:ln w="9525">
            <a:solidFill>
              <a:srgbClr val="D3A72E"/>
            </a:solidFill>
            <a:prstDash val="solid"/>
          </a:ln>
        </p:spPr>
      </p:sp>
      <p:sp>
        <p:nvSpPr>
          <p:cNvPr id="37" name="Rectangle 36">
            <a:extLst>
              <a:ext uri="{FF2B5EF4-FFF2-40B4-BE49-F238E27FC236}">
                <a16:creationId xmlns:a16="http://schemas.microsoft.com/office/drawing/2014/main" id="{3B7E0224-514D-4634-B553-041A51BB6B73}"/>
              </a:ext>
            </a:extLst>
          </p:cNvPr>
          <p:cNvSpPr>
            <a:spLocks noGrp="1"/>
          </p:cNvSpPr>
          <p:nvPr/>
        </p:nvSpPr>
        <p:spPr>
          <a:xfrm>
            <a:off x="7686675" y="3724275"/>
            <a:ext cx="1657350" cy="9239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CCCD trùng: từ chối</a:t>
            </a:r>
          </a:p>
          <a:p>
            <a:pPr algn="ctr">
              <a:defRPr sz="1125" b="0" i="0">
                <a:solidFill>
                  <a:srgbClr val="183127"/>
                </a:solidFill>
              </a:defRPr>
            </a:pPr>
            <a:r>
              <a:rPr sz="1125" b="0" i="0">
                <a:solidFill>
                  <a:srgbClr val="183127"/>
                </a:solidFill>
              </a:rPr>
              <a:t>Theo dõi trạng thái</a:t>
            </a:r>
          </a:p>
        </p:txBody>
      </p:sp>
      <p:sp>
        <p:nvSpPr>
          <p:cNvPr id="38" name="Rectangle: Rounded Corners 37">
            <a:extLst>
              <a:ext uri="{FF2B5EF4-FFF2-40B4-BE49-F238E27FC236}">
                <a16:creationId xmlns:a16="http://schemas.microsoft.com/office/drawing/2014/main" id="{B7341B8B-3021-4C95-BE1C-2565B180B961}"/>
              </a:ext>
            </a:extLst>
          </p:cNvPr>
          <p:cNvSpPr>
            <a:spLocks noGrp="1"/>
          </p:cNvSpPr>
          <p:nvPr/>
        </p:nvSpPr>
        <p:spPr>
          <a:xfrm>
            <a:off x="9496425" y="3571875"/>
            <a:ext cx="1809750" cy="1190625"/>
          </a:xfrm>
          <a:prstGeom prst="roundRect">
            <a:avLst>
              <a:gd name="adj" fmla="val 9600"/>
            </a:avLst>
          </a:prstGeom>
          <a:solidFill>
            <a:srgbClr val="FFF2CC"/>
          </a:solidFill>
          <a:ln w="9525">
            <a:solidFill>
              <a:srgbClr val="D3A72E"/>
            </a:solidFill>
            <a:prstDash val="solid"/>
          </a:ln>
        </p:spPr>
      </p:sp>
      <p:sp>
        <p:nvSpPr>
          <p:cNvPr id="39" name="Rectangle 38">
            <a:extLst>
              <a:ext uri="{FF2B5EF4-FFF2-40B4-BE49-F238E27FC236}">
                <a16:creationId xmlns:a16="http://schemas.microsoft.com/office/drawing/2014/main" id="{0C843434-DFDB-477E-8C72-26F024AFE0A3}"/>
              </a:ext>
            </a:extLst>
          </p:cNvPr>
          <p:cNvSpPr>
            <a:spLocks noGrp="1"/>
          </p:cNvSpPr>
          <p:nvPr/>
        </p:nvSpPr>
        <p:spPr>
          <a:xfrm>
            <a:off x="9572625" y="3724275"/>
            <a:ext cx="1657350" cy="9239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Kiểm tra định dạng</a:t>
            </a:r>
          </a:p>
          <a:p>
            <a:pPr algn="ctr">
              <a:defRPr sz="1125" b="0" i="0">
                <a:solidFill>
                  <a:srgbClr val="183127"/>
                </a:solidFill>
              </a:defRPr>
            </a:pPr>
            <a:r>
              <a:rPr sz="1125" b="0" i="0">
                <a:solidFill>
                  <a:srgbClr val="183127"/>
                </a:solidFill>
              </a:rPr>
              <a:t>mật khẩu/PIN</a:t>
            </a:r>
          </a:p>
        </p:txBody>
      </p:sp>
      <p:sp>
        <p:nvSpPr>
          <p:cNvPr id="40" name="Rectangle: Rounded Corners 39">
            <a:extLst>
              <a:ext uri="{FF2B5EF4-FFF2-40B4-BE49-F238E27FC236}">
                <a16:creationId xmlns:a16="http://schemas.microsoft.com/office/drawing/2014/main" id="{3A2B0CBA-2951-434E-86FE-79F1A2E139C8}"/>
              </a:ext>
            </a:extLst>
          </p:cNvPr>
          <p:cNvSpPr>
            <a:spLocks noGrp="1"/>
          </p:cNvSpPr>
          <p:nvPr/>
        </p:nvSpPr>
        <p:spPr>
          <a:xfrm>
            <a:off x="666750" y="4905375"/>
            <a:ext cx="1143000" cy="1000125"/>
          </a:xfrm>
          <a:prstGeom prst="roundRect">
            <a:avLst>
              <a:gd name="adj" fmla="val 11429"/>
            </a:avLst>
          </a:prstGeom>
          <a:solidFill>
            <a:srgbClr val="294C64"/>
          </a:solidFill>
          <a:ln w="9525">
            <a:solidFill>
              <a:srgbClr val="294C64"/>
            </a:solidFill>
            <a:prstDash val="solid"/>
          </a:ln>
        </p:spPr>
      </p:sp>
      <p:sp>
        <p:nvSpPr>
          <p:cNvPr id="41" name="Rectangle 40">
            <a:extLst>
              <a:ext uri="{FF2B5EF4-FFF2-40B4-BE49-F238E27FC236}">
                <a16:creationId xmlns:a16="http://schemas.microsoft.com/office/drawing/2014/main" id="{0824C7DA-8815-4929-B6AE-73F5035CD189}"/>
              </a:ext>
            </a:extLst>
          </p:cNvPr>
          <p:cNvSpPr>
            <a:spLocks noGrp="1"/>
          </p:cNvSpPr>
          <p:nvPr/>
        </p:nvSpPr>
        <p:spPr>
          <a:xfrm>
            <a:off x="742950" y="5143500"/>
            <a:ext cx="990600" cy="619125"/>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R3 - COULD</a:t>
            </a:r>
          </a:p>
        </p:txBody>
      </p:sp>
      <p:sp>
        <p:nvSpPr>
          <p:cNvPr id="42" name="Rectangle: Rounded Corners 41">
            <a:extLst>
              <a:ext uri="{FF2B5EF4-FFF2-40B4-BE49-F238E27FC236}">
                <a16:creationId xmlns:a16="http://schemas.microsoft.com/office/drawing/2014/main" id="{4D51ACD2-7412-43A1-B4E3-CB8C1E34C064}"/>
              </a:ext>
            </a:extLst>
          </p:cNvPr>
          <p:cNvSpPr>
            <a:spLocks noGrp="1"/>
          </p:cNvSpPr>
          <p:nvPr/>
        </p:nvSpPr>
        <p:spPr>
          <a:xfrm>
            <a:off x="1952625" y="4905375"/>
            <a:ext cx="1809750" cy="1000125"/>
          </a:xfrm>
          <a:prstGeom prst="roundRect">
            <a:avLst>
              <a:gd name="adj" fmla="val 11429"/>
            </a:avLst>
          </a:prstGeom>
          <a:solidFill>
            <a:srgbClr val="DDECF4"/>
          </a:solidFill>
          <a:ln w="9525">
            <a:solidFill>
              <a:srgbClr val="294C64"/>
            </a:solidFill>
            <a:prstDash val="solid"/>
          </a:ln>
        </p:spPr>
      </p:sp>
      <p:sp>
        <p:nvSpPr>
          <p:cNvPr id="43" name="Rectangle 42">
            <a:extLst>
              <a:ext uri="{FF2B5EF4-FFF2-40B4-BE49-F238E27FC236}">
                <a16:creationId xmlns:a16="http://schemas.microsoft.com/office/drawing/2014/main" id="{883660B0-632B-40DC-9B9F-8E3A459D45D1}"/>
              </a:ext>
            </a:extLst>
          </p:cNvPr>
          <p:cNvSpPr>
            <a:spLocks noGrp="1"/>
          </p:cNvSpPr>
          <p:nvPr/>
        </p:nvSpPr>
        <p:spPr>
          <a:xfrm>
            <a:off x="2028825" y="5057775"/>
            <a:ext cx="1657350" cy="7334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a:t>
            </a:r>
          </a:p>
        </p:txBody>
      </p:sp>
      <p:sp>
        <p:nvSpPr>
          <p:cNvPr id="44" name="Rectangle: Rounded Corners 43">
            <a:extLst>
              <a:ext uri="{FF2B5EF4-FFF2-40B4-BE49-F238E27FC236}">
                <a16:creationId xmlns:a16="http://schemas.microsoft.com/office/drawing/2014/main" id="{825479A4-2C63-490D-A912-57A9D560B8B6}"/>
              </a:ext>
            </a:extLst>
          </p:cNvPr>
          <p:cNvSpPr>
            <a:spLocks noGrp="1"/>
          </p:cNvSpPr>
          <p:nvPr/>
        </p:nvSpPr>
        <p:spPr>
          <a:xfrm>
            <a:off x="3838575" y="4905375"/>
            <a:ext cx="1809750" cy="1000125"/>
          </a:xfrm>
          <a:prstGeom prst="roundRect">
            <a:avLst>
              <a:gd name="adj" fmla="val 11429"/>
            </a:avLst>
          </a:prstGeom>
          <a:solidFill>
            <a:srgbClr val="DDECF4"/>
          </a:solidFill>
          <a:ln w="9525">
            <a:solidFill>
              <a:srgbClr val="294C64"/>
            </a:solidFill>
            <a:prstDash val="solid"/>
          </a:ln>
        </p:spPr>
      </p:sp>
      <p:sp>
        <p:nvSpPr>
          <p:cNvPr id="45" name="Rectangle 44">
            <a:extLst>
              <a:ext uri="{FF2B5EF4-FFF2-40B4-BE49-F238E27FC236}">
                <a16:creationId xmlns:a16="http://schemas.microsoft.com/office/drawing/2014/main" id="{DD027D33-348C-4621-BDF0-7AE9319DCF16}"/>
              </a:ext>
            </a:extLst>
          </p:cNvPr>
          <p:cNvSpPr>
            <a:spLocks noGrp="1"/>
          </p:cNvSpPr>
          <p:nvPr/>
        </p:nvSpPr>
        <p:spPr>
          <a:xfrm>
            <a:off x="3914775" y="5057775"/>
            <a:ext cx="1657350" cy="7334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a:t>
            </a:r>
          </a:p>
        </p:txBody>
      </p:sp>
      <p:sp>
        <p:nvSpPr>
          <p:cNvPr id="46" name="Rectangle: Rounded Corners 45">
            <a:extLst>
              <a:ext uri="{FF2B5EF4-FFF2-40B4-BE49-F238E27FC236}">
                <a16:creationId xmlns:a16="http://schemas.microsoft.com/office/drawing/2014/main" id="{17231952-F5CB-43F3-A71B-E5751E92080F}"/>
              </a:ext>
            </a:extLst>
          </p:cNvPr>
          <p:cNvSpPr>
            <a:spLocks noGrp="1"/>
          </p:cNvSpPr>
          <p:nvPr/>
        </p:nvSpPr>
        <p:spPr>
          <a:xfrm>
            <a:off x="5724525" y="4905375"/>
            <a:ext cx="1809750" cy="1000125"/>
          </a:xfrm>
          <a:prstGeom prst="roundRect">
            <a:avLst>
              <a:gd name="adj" fmla="val 11429"/>
            </a:avLst>
          </a:prstGeom>
          <a:solidFill>
            <a:srgbClr val="DDECF4"/>
          </a:solidFill>
          <a:ln w="9525">
            <a:solidFill>
              <a:srgbClr val="294C64"/>
            </a:solidFill>
            <a:prstDash val="solid"/>
          </a:ln>
        </p:spPr>
      </p:sp>
      <p:sp>
        <p:nvSpPr>
          <p:cNvPr id="47" name="Rectangle 46">
            <a:extLst>
              <a:ext uri="{FF2B5EF4-FFF2-40B4-BE49-F238E27FC236}">
                <a16:creationId xmlns:a16="http://schemas.microsoft.com/office/drawing/2014/main" id="{9869BD77-6850-4DCE-8107-1E278FBF93F6}"/>
              </a:ext>
            </a:extLst>
          </p:cNvPr>
          <p:cNvSpPr>
            <a:spLocks noGrp="1"/>
          </p:cNvSpPr>
          <p:nvPr/>
        </p:nvSpPr>
        <p:spPr>
          <a:xfrm>
            <a:off x="5800725" y="5057775"/>
            <a:ext cx="1657350" cy="7334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Mã giới thiệu</a:t>
            </a:r>
          </a:p>
          <a:p>
            <a:pPr algn="ctr">
              <a:defRPr sz="1125" b="0" i="0">
                <a:solidFill>
                  <a:srgbClr val="183127"/>
                </a:solidFill>
              </a:defRPr>
            </a:pPr>
            <a:r>
              <a:rPr sz="1125" b="0" i="0">
                <a:solidFill>
                  <a:srgbClr val="183127"/>
                </a:solidFill>
              </a:rPr>
              <a:t>Điểm giao dịch</a:t>
            </a:r>
          </a:p>
        </p:txBody>
      </p:sp>
      <p:sp>
        <p:nvSpPr>
          <p:cNvPr id="48" name="Rectangle: Rounded Corners 47">
            <a:extLst>
              <a:ext uri="{FF2B5EF4-FFF2-40B4-BE49-F238E27FC236}">
                <a16:creationId xmlns:a16="http://schemas.microsoft.com/office/drawing/2014/main" id="{3FF12258-09EE-4C0E-8E2D-E83EBD74AC4D}"/>
              </a:ext>
            </a:extLst>
          </p:cNvPr>
          <p:cNvSpPr>
            <a:spLocks noGrp="1"/>
          </p:cNvSpPr>
          <p:nvPr/>
        </p:nvSpPr>
        <p:spPr>
          <a:xfrm>
            <a:off x="7610475" y="4905375"/>
            <a:ext cx="1809750" cy="1000125"/>
          </a:xfrm>
          <a:prstGeom prst="roundRect">
            <a:avLst>
              <a:gd name="adj" fmla="val 11429"/>
            </a:avLst>
          </a:prstGeom>
          <a:solidFill>
            <a:srgbClr val="DDECF4"/>
          </a:solidFill>
          <a:ln w="9525">
            <a:solidFill>
              <a:srgbClr val="294C64"/>
            </a:solidFill>
            <a:prstDash val="solid"/>
          </a:ln>
        </p:spPr>
      </p:sp>
      <p:sp>
        <p:nvSpPr>
          <p:cNvPr id="49" name="Rectangle 48">
            <a:extLst>
              <a:ext uri="{FF2B5EF4-FFF2-40B4-BE49-F238E27FC236}">
                <a16:creationId xmlns:a16="http://schemas.microsoft.com/office/drawing/2014/main" id="{605E4B30-B89A-451E-A9FC-1285F58E44A9}"/>
              </a:ext>
            </a:extLst>
          </p:cNvPr>
          <p:cNvSpPr>
            <a:spLocks noGrp="1"/>
          </p:cNvSpPr>
          <p:nvPr/>
        </p:nvSpPr>
        <p:spPr>
          <a:xfrm>
            <a:off x="7686675" y="5057775"/>
            <a:ext cx="1657350" cy="7334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Thông báo</a:t>
            </a:r>
          </a:p>
          <a:p>
            <a:pPr algn="ctr">
              <a:defRPr sz="1125" b="0" i="0">
                <a:solidFill>
                  <a:srgbClr val="183127"/>
                </a:solidFill>
              </a:defRPr>
            </a:pPr>
            <a:r>
              <a:rPr sz="1125" b="0" i="0">
                <a:solidFill>
                  <a:srgbClr val="183127"/>
                </a:solidFill>
              </a:rPr>
              <a:t>App + SMS + Email</a:t>
            </a:r>
          </a:p>
        </p:txBody>
      </p:sp>
      <p:sp>
        <p:nvSpPr>
          <p:cNvPr id="50" name="Rectangle: Rounded Corners 49">
            <a:extLst>
              <a:ext uri="{FF2B5EF4-FFF2-40B4-BE49-F238E27FC236}">
                <a16:creationId xmlns:a16="http://schemas.microsoft.com/office/drawing/2014/main" id="{68BA696F-CEEF-4016-84EE-DE57DF7FFBAB}"/>
              </a:ext>
            </a:extLst>
          </p:cNvPr>
          <p:cNvSpPr>
            <a:spLocks noGrp="1"/>
          </p:cNvSpPr>
          <p:nvPr/>
        </p:nvSpPr>
        <p:spPr>
          <a:xfrm>
            <a:off x="9496425" y="4905375"/>
            <a:ext cx="1809750" cy="1000125"/>
          </a:xfrm>
          <a:prstGeom prst="roundRect">
            <a:avLst>
              <a:gd name="adj" fmla="val 11429"/>
            </a:avLst>
          </a:prstGeom>
          <a:solidFill>
            <a:srgbClr val="DDECF4"/>
          </a:solidFill>
          <a:ln w="9525">
            <a:solidFill>
              <a:srgbClr val="294C64"/>
            </a:solidFill>
            <a:prstDash val="solid"/>
          </a:ln>
        </p:spPr>
      </p:sp>
      <p:sp>
        <p:nvSpPr>
          <p:cNvPr id="51" name="Rectangle 50">
            <a:extLst>
              <a:ext uri="{FF2B5EF4-FFF2-40B4-BE49-F238E27FC236}">
                <a16:creationId xmlns:a16="http://schemas.microsoft.com/office/drawing/2014/main" id="{4B304FF4-107B-40E9-A272-9E305F63CB6E}"/>
              </a:ext>
            </a:extLst>
          </p:cNvPr>
          <p:cNvSpPr>
            <a:spLocks noGrp="1"/>
          </p:cNvSpPr>
          <p:nvPr/>
        </p:nvSpPr>
        <p:spPr>
          <a:xfrm>
            <a:off x="9572625" y="5057775"/>
            <a:ext cx="1657350" cy="733425"/>
          </a:xfrm>
          <a:prstGeom prst="rect">
            <a:avLst/>
          </a:prstGeom>
          <a:noFill/>
          <a:ln w="0">
            <a:noFill/>
            <a:prstDash val="solid"/>
          </a:ln>
        </p:spPr>
        <p:txBody>
          <a:bodyPr/>
          <a:lstStyle/>
          <a:p>
            <a:pPr algn="ctr">
              <a:defRPr sz="1125" b="0" i="0">
                <a:solidFill>
                  <a:srgbClr val="183127"/>
                </a:solidFill>
              </a:defRPr>
            </a:pPr>
            <a:r>
              <a:rPr sz="1125" b="0" i="0">
                <a:solidFill>
                  <a:srgbClr val="183127"/>
                </a:solidFill>
              </a:rPr>
              <a:t>-</a:t>
            </a:r>
          </a:p>
        </p:txBody>
      </p:sp>
      <p:sp>
        <p:nvSpPr>
          <p:cNvPr id="52" name="Rectangle 51">
            <a:extLst>
              <a:ext uri="{FF2B5EF4-FFF2-40B4-BE49-F238E27FC236}">
                <a16:creationId xmlns:a16="http://schemas.microsoft.com/office/drawing/2014/main" id="{AF882438-60FB-46C6-B470-1F9DB89D20E0}"/>
              </a:ext>
            </a:extLst>
          </p:cNvPr>
          <p:cNvSpPr>
            <a:spLocks noGrp="1"/>
          </p:cNvSpPr>
          <p:nvPr/>
        </p:nvSpPr>
        <p:spPr>
          <a:xfrm>
            <a:off x="2095500" y="6191250"/>
            <a:ext cx="8572500" cy="285750"/>
          </a:xfrm>
          <a:prstGeom prst="rect">
            <a:avLst/>
          </a:prstGeom>
          <a:noFill/>
          <a:ln w="0">
            <a:noFill/>
            <a:prstDash val="solid"/>
          </a:ln>
        </p:spPr>
        <p:txBody>
          <a:bodyPr/>
          <a:lstStyle/>
          <a:p>
            <a:pPr algn="ctr">
              <a:defRPr sz="1350" b="0" i="1">
                <a:solidFill>
                  <a:srgbClr val="65756B"/>
                </a:solidFill>
              </a:defRPr>
            </a:pPr>
            <a:r>
              <a:rPr sz="1350" b="0" i="1">
                <a:solidFill>
                  <a:srgbClr val="65756B"/>
                </a:solidFill>
              </a:rPr>
              <a:t>Đọc từ trái sang phải theo hành trình; đọc từ trên xuống dưới theo mức ưu tiên.</a:t>
            </a:r>
          </a:p>
        </p:txBody>
      </p:sp>
    </p:spTree>
    <p:extLst>
      <p:ext uri="{BB962C8B-B14F-4D97-AF65-F5344CB8AC3E}">
        <p14:creationId xmlns:p14="http://schemas.microsoft.com/office/powerpoint/2010/main" val="153787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E654ABB1-5362-4F4B-8870-1E1336616930}"/>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3806197F-743D-44B0-81AC-01EB36046B3F}"/>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2. QUY TRÌNH NGHIỆP VỤ</a:t>
            </a:r>
          </a:p>
        </p:txBody>
      </p:sp>
      <p:sp>
        <p:nvSpPr>
          <p:cNvPr id="3" name="Rectangle 2">
            <a:extLst>
              <a:ext uri="{FF2B5EF4-FFF2-40B4-BE49-F238E27FC236}">
                <a16:creationId xmlns:a16="http://schemas.microsoft.com/office/drawing/2014/main" id="{10205C31-8BA1-4F8C-8CAB-FBCB469CF42D}"/>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BPMN To-Be mô tả luồng business giữa 3 bên</a:t>
            </a:r>
          </a:p>
        </p:txBody>
      </p:sp>
      <p:sp>
        <p:nvSpPr>
          <p:cNvPr id="4" name="Rectangle 3">
            <a:extLst>
              <a:ext uri="{FF2B5EF4-FFF2-40B4-BE49-F238E27FC236}">
                <a16:creationId xmlns:a16="http://schemas.microsoft.com/office/drawing/2014/main" id="{AE842B71-2604-4EF9-9715-E6C1C27E262F}"/>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09</a:t>
            </a:r>
          </a:p>
        </p:txBody>
      </p:sp>
      <p:sp>
        <p:nvSpPr>
          <p:cNvPr id="5" name="Rectangle 4">
            <a:extLst>
              <a:ext uri="{FF2B5EF4-FFF2-40B4-BE49-F238E27FC236}">
                <a16:creationId xmlns:a16="http://schemas.microsoft.com/office/drawing/2014/main" id="{0EE07E44-C3E7-4320-8658-F9015EC01FAF}"/>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Rounded Corners 5">
            <a:extLst>
              <a:ext uri="{FF2B5EF4-FFF2-40B4-BE49-F238E27FC236}">
                <a16:creationId xmlns:a16="http://schemas.microsoft.com/office/drawing/2014/main" id="{3A0C61CF-2F6F-4653-B34F-3E995D13A0EC}"/>
              </a:ext>
            </a:extLst>
          </p:cNvPr>
          <p:cNvSpPr>
            <a:spLocks noGrp="1"/>
          </p:cNvSpPr>
          <p:nvPr/>
        </p:nvSpPr>
        <p:spPr>
          <a:xfrm>
            <a:off x="666750" y="1428750"/>
            <a:ext cx="10858500" cy="4191000"/>
          </a:xfrm>
          <a:prstGeom prst="roundRect">
            <a:avLst>
              <a:gd name="adj" fmla="val 2727"/>
            </a:avLst>
          </a:prstGeom>
          <a:solidFill>
            <a:srgbClr val="FFFFFF"/>
          </a:solidFill>
          <a:ln w="9525">
            <a:solidFill>
              <a:srgbClr val="C8D9C5"/>
            </a:solidFill>
            <a:prstDash val="solid"/>
          </a:ln>
        </p:spPr>
        <p:style>
          <a:lnRef idx="0">
            <a:scrgbClr r="0" g="0" b="0"/>
          </a:lnRef>
          <a:fillRef idx="0">
            <a:scrgbClr r="0" g="0" b="0"/>
          </a:fillRef>
          <a:effectRef idx="4">
            <a:scrgbClr r="0" g="0" b="0"/>
          </a:effectRef>
          <a:fontRef idx="major"/>
        </p:style>
      </p:sp>
      <p:sp>
        <p:nvSpPr>
          <p:cNvPr id="8" name="Rectangle 7">
            <a:extLst>
              <a:ext uri="{FF2B5EF4-FFF2-40B4-BE49-F238E27FC236}">
                <a16:creationId xmlns:a16="http://schemas.microsoft.com/office/drawing/2014/main" id="{DF955049-8025-4F9C-88FF-1E2C422BEE4B}"/>
              </a:ext>
            </a:extLst>
          </p:cNvPr>
          <p:cNvSpPr>
            <a:spLocks noGrp="1"/>
          </p:cNvSpPr>
          <p:nvPr/>
        </p:nvSpPr>
        <p:spPr>
          <a:xfrm>
            <a:off x="1143000" y="5810250"/>
            <a:ext cx="1714500" cy="266700"/>
          </a:xfrm>
          <a:prstGeom prst="rect">
            <a:avLst/>
          </a:prstGeom>
          <a:noFill/>
          <a:ln w="0">
            <a:noFill/>
            <a:prstDash val="solid"/>
          </a:ln>
        </p:spPr>
        <p:txBody>
          <a:bodyPr/>
          <a:lstStyle/>
          <a:p>
            <a:pPr algn="l">
              <a:defRPr sz="1350" b="1" i="0">
                <a:solidFill>
                  <a:srgbClr val="2E5B3A"/>
                </a:solidFill>
              </a:defRPr>
            </a:pPr>
            <a:r>
              <a:rPr sz="1350" b="1" i="0">
                <a:solidFill>
                  <a:srgbClr val="2E5B3A"/>
                </a:solidFill>
              </a:rPr>
              <a:t>Khách hàng</a:t>
            </a:r>
          </a:p>
        </p:txBody>
      </p:sp>
      <p:sp>
        <p:nvSpPr>
          <p:cNvPr id="9" name="Rectangle 8">
            <a:extLst>
              <a:ext uri="{FF2B5EF4-FFF2-40B4-BE49-F238E27FC236}">
                <a16:creationId xmlns:a16="http://schemas.microsoft.com/office/drawing/2014/main" id="{6F8E992B-60E5-45C8-B340-78811F6DD676}"/>
              </a:ext>
            </a:extLst>
          </p:cNvPr>
          <p:cNvSpPr>
            <a:spLocks noGrp="1"/>
          </p:cNvSpPr>
          <p:nvPr/>
        </p:nvSpPr>
        <p:spPr>
          <a:xfrm>
            <a:off x="4381500" y="5810250"/>
            <a:ext cx="2381250" cy="266700"/>
          </a:xfrm>
          <a:prstGeom prst="rect">
            <a:avLst/>
          </a:prstGeom>
          <a:noFill/>
          <a:ln w="0">
            <a:noFill/>
            <a:prstDash val="solid"/>
          </a:ln>
        </p:spPr>
        <p:txBody>
          <a:bodyPr/>
          <a:lstStyle/>
          <a:p>
            <a:pPr algn="l">
              <a:defRPr sz="1350" b="1" i="0">
                <a:solidFill>
                  <a:srgbClr val="2E5B3A"/>
                </a:solidFill>
              </a:defRPr>
            </a:pPr>
            <a:r>
              <a:rPr sz="1350" b="1" i="0">
                <a:solidFill>
                  <a:srgbClr val="2E5B3A"/>
                </a:solidFill>
              </a:rPr>
              <a:t>Hệ thống ngân hàng</a:t>
            </a:r>
          </a:p>
        </p:txBody>
      </p:sp>
      <p:sp>
        <p:nvSpPr>
          <p:cNvPr id="10" name="Rectangle 9">
            <a:extLst>
              <a:ext uri="{FF2B5EF4-FFF2-40B4-BE49-F238E27FC236}">
                <a16:creationId xmlns:a16="http://schemas.microsoft.com/office/drawing/2014/main" id="{C46DA1B8-6450-4547-AF0B-5693B13748C4}"/>
              </a:ext>
            </a:extLst>
          </p:cNvPr>
          <p:cNvSpPr>
            <a:spLocks noGrp="1"/>
          </p:cNvSpPr>
          <p:nvPr/>
        </p:nvSpPr>
        <p:spPr>
          <a:xfrm>
            <a:off x="8191500" y="5810250"/>
            <a:ext cx="2000250" cy="266700"/>
          </a:xfrm>
          <a:prstGeom prst="rect">
            <a:avLst/>
          </a:prstGeom>
          <a:noFill/>
          <a:ln w="0">
            <a:noFill/>
            <a:prstDash val="solid"/>
          </a:ln>
        </p:spPr>
        <p:txBody>
          <a:bodyPr/>
          <a:lstStyle/>
          <a:p>
            <a:pPr algn="l">
              <a:defRPr sz="1350" b="1" i="0">
                <a:solidFill>
                  <a:srgbClr val="2E5B3A"/>
                </a:solidFill>
              </a:defRPr>
            </a:pPr>
            <a:r>
              <a:rPr sz="1350" b="1" i="0">
                <a:solidFill>
                  <a:srgbClr val="2E5B3A"/>
                </a:solidFill>
              </a:rPr>
              <a:t>Hệ thống eKYC</a:t>
            </a:r>
          </a:p>
        </p:txBody>
      </p:sp>
      <p:pic>
        <p:nvPicPr>
          <p:cNvPr id="11" name="Picture 10">
            <a:extLst>
              <a:ext uri="{FF2B5EF4-FFF2-40B4-BE49-F238E27FC236}">
                <a16:creationId xmlns:a16="http://schemas.microsoft.com/office/drawing/2014/main" id="{5F97F5DC-B65A-A5D2-26F4-57180E300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166" y="1689151"/>
            <a:ext cx="10715668" cy="3670198"/>
          </a:xfrm>
          <a:prstGeom prst="rect">
            <a:avLst/>
          </a:prstGeom>
        </p:spPr>
      </p:pic>
      <p:sp>
        <p:nvSpPr>
          <p:cNvPr id="7" name="TextBox 6">
            <a:extLst>
              <a:ext uri="{FF2B5EF4-FFF2-40B4-BE49-F238E27FC236}">
                <a16:creationId xmlns:a16="http://schemas.microsoft.com/office/drawing/2014/main" id="{4ECDCF10-003D-F0AE-8451-BAD0E7EEA1EF}"/>
              </a:ext>
            </a:extLst>
          </p:cNvPr>
          <p:cNvSpPr txBox="1"/>
          <p:nvPr/>
        </p:nvSpPr>
        <p:spPr>
          <a:xfrm>
            <a:off x="9694506" y="886408"/>
            <a:ext cx="1449744" cy="369332"/>
          </a:xfrm>
          <a:prstGeom prst="rect">
            <a:avLst/>
          </a:prstGeom>
          <a:noFill/>
        </p:spPr>
        <p:txBody>
          <a:bodyPr wrap="square" rtlCol="0">
            <a:spAutoFit/>
          </a:bodyPr>
          <a:lstStyle/>
          <a:p>
            <a:r>
              <a:rPr lang="en-US" dirty="0"/>
              <a:t>Link </a:t>
            </a:r>
            <a:r>
              <a:rPr lang="en-US" dirty="0">
                <a:hlinkClick r:id="rId4" tooltip="https://drive.google.com/file/d/13VoSSl9xEnkSVLvPR0rvfTq303RBnOrI/view?usp=sharing"/>
              </a:rPr>
              <a:t>Draw.io</a:t>
            </a:r>
            <a:endParaRPr lang="vi-VN" dirty="0"/>
          </a:p>
        </p:txBody>
      </p:sp>
    </p:spTree>
    <p:extLst>
      <p:ext uri="{BB962C8B-B14F-4D97-AF65-F5344CB8AC3E}">
        <p14:creationId xmlns:p14="http://schemas.microsoft.com/office/powerpoint/2010/main" val="1328172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CF392228-9A5E-457A-9F7C-B0424322669E}"/>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A34B018E-7250-4E4F-9F24-7E059F99BB45}"/>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2. QUY TRÌNH NGHIỆP VỤ</a:t>
            </a:r>
          </a:p>
        </p:txBody>
      </p:sp>
      <p:sp>
        <p:nvSpPr>
          <p:cNvPr id="3" name="Rectangle 2">
            <a:extLst>
              <a:ext uri="{FF2B5EF4-FFF2-40B4-BE49-F238E27FC236}">
                <a16:creationId xmlns:a16="http://schemas.microsoft.com/office/drawing/2014/main" id="{CFF8C98C-F1F9-4890-9BEF-C43B33BD124E}"/>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BFD nhóm hệ thống thành 4 cụm chức năng</a:t>
            </a:r>
          </a:p>
        </p:txBody>
      </p:sp>
      <p:sp>
        <p:nvSpPr>
          <p:cNvPr id="4" name="Rectangle 3">
            <a:extLst>
              <a:ext uri="{FF2B5EF4-FFF2-40B4-BE49-F238E27FC236}">
                <a16:creationId xmlns:a16="http://schemas.microsoft.com/office/drawing/2014/main" id="{A1C5D175-33E8-46BF-9FC3-6C90F661872B}"/>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10</a:t>
            </a:r>
          </a:p>
        </p:txBody>
      </p:sp>
      <p:sp>
        <p:nvSpPr>
          <p:cNvPr id="5" name="Rectangle 4">
            <a:extLst>
              <a:ext uri="{FF2B5EF4-FFF2-40B4-BE49-F238E27FC236}">
                <a16:creationId xmlns:a16="http://schemas.microsoft.com/office/drawing/2014/main" id="{0AE0948B-C019-4860-B5A3-2B8975F5CE21}"/>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Rounded Corners 5">
            <a:extLst>
              <a:ext uri="{FF2B5EF4-FFF2-40B4-BE49-F238E27FC236}">
                <a16:creationId xmlns:a16="http://schemas.microsoft.com/office/drawing/2014/main" id="{A42A6A63-1502-4C9D-97E8-AB2C6CEC1704}"/>
              </a:ext>
            </a:extLst>
          </p:cNvPr>
          <p:cNvSpPr>
            <a:spLocks noGrp="1"/>
          </p:cNvSpPr>
          <p:nvPr/>
        </p:nvSpPr>
        <p:spPr>
          <a:xfrm>
            <a:off x="952500" y="1476375"/>
            <a:ext cx="10287000" cy="4286250"/>
          </a:xfrm>
          <a:prstGeom prst="roundRect">
            <a:avLst>
              <a:gd name="adj" fmla="val 2667"/>
            </a:avLst>
          </a:prstGeom>
          <a:solidFill>
            <a:srgbClr val="FFFFFF"/>
          </a:solidFill>
          <a:ln w="9525">
            <a:solidFill>
              <a:srgbClr val="C8D9C5"/>
            </a:solidFill>
            <a:prstDash val="solid"/>
          </a:ln>
        </p:spPr>
        <p:style>
          <a:lnRef idx="0">
            <a:scrgbClr r="0" g="0" b="0"/>
          </a:lnRef>
          <a:fillRef idx="0">
            <a:scrgbClr r="0" g="0" b="0"/>
          </a:fillRef>
          <a:effectRef idx="4">
            <a:scrgbClr r="0" g="0" b="0"/>
          </a:effectRef>
          <a:fontRef idx="major"/>
        </p:style>
      </p:sp>
      <p:sp>
        <p:nvSpPr>
          <p:cNvPr id="8" name="Rectangle 7">
            <a:extLst>
              <a:ext uri="{FF2B5EF4-FFF2-40B4-BE49-F238E27FC236}">
                <a16:creationId xmlns:a16="http://schemas.microsoft.com/office/drawing/2014/main" id="{571B9970-FB88-498A-9829-31427ABA48C2}"/>
              </a:ext>
            </a:extLst>
          </p:cNvPr>
          <p:cNvSpPr>
            <a:spLocks noGrp="1"/>
          </p:cNvSpPr>
          <p:nvPr/>
        </p:nvSpPr>
        <p:spPr>
          <a:xfrm>
            <a:off x="952500" y="5905500"/>
            <a:ext cx="2381250" cy="266700"/>
          </a:xfrm>
          <a:prstGeom prst="rect">
            <a:avLst/>
          </a:prstGeom>
          <a:noFill/>
          <a:ln w="0">
            <a:noFill/>
            <a:prstDash val="solid"/>
          </a:ln>
        </p:spPr>
        <p:txBody>
          <a:bodyPr/>
          <a:lstStyle/>
          <a:p>
            <a:pPr algn="l">
              <a:defRPr sz="1275" b="1" i="0">
                <a:solidFill>
                  <a:srgbClr val="2E5B3A"/>
                </a:solidFill>
              </a:defRPr>
            </a:pPr>
            <a:r>
              <a:rPr sz="1275" b="1" i="0">
                <a:solidFill>
                  <a:srgbClr val="2E5B3A"/>
                </a:solidFill>
              </a:rPr>
              <a:t>01  Xác thực người dùng</a:t>
            </a:r>
          </a:p>
        </p:txBody>
      </p:sp>
      <p:sp>
        <p:nvSpPr>
          <p:cNvPr id="9" name="Rectangle 8">
            <a:extLst>
              <a:ext uri="{FF2B5EF4-FFF2-40B4-BE49-F238E27FC236}">
                <a16:creationId xmlns:a16="http://schemas.microsoft.com/office/drawing/2014/main" id="{32D2BB73-65A5-40BA-8127-1E22DD624AB7}"/>
              </a:ext>
            </a:extLst>
          </p:cNvPr>
          <p:cNvSpPr>
            <a:spLocks noGrp="1"/>
          </p:cNvSpPr>
          <p:nvPr/>
        </p:nvSpPr>
        <p:spPr>
          <a:xfrm>
            <a:off x="3619500" y="5905500"/>
            <a:ext cx="2190750" cy="266700"/>
          </a:xfrm>
          <a:prstGeom prst="rect">
            <a:avLst/>
          </a:prstGeom>
          <a:noFill/>
          <a:ln w="0">
            <a:noFill/>
            <a:prstDash val="solid"/>
          </a:ln>
        </p:spPr>
        <p:txBody>
          <a:bodyPr/>
          <a:lstStyle/>
          <a:p>
            <a:pPr algn="l">
              <a:defRPr sz="1275" b="1" i="0">
                <a:solidFill>
                  <a:srgbClr val="2E5B3A"/>
                </a:solidFill>
              </a:defRPr>
            </a:pPr>
            <a:r>
              <a:rPr sz="1275" b="1" i="0">
                <a:solidFill>
                  <a:srgbClr val="2E5B3A"/>
                </a:solidFill>
              </a:rPr>
              <a:t>02  Quản lý hồ sơ</a:t>
            </a:r>
          </a:p>
        </p:txBody>
      </p:sp>
      <p:sp>
        <p:nvSpPr>
          <p:cNvPr id="10" name="Rectangle 9">
            <a:extLst>
              <a:ext uri="{FF2B5EF4-FFF2-40B4-BE49-F238E27FC236}">
                <a16:creationId xmlns:a16="http://schemas.microsoft.com/office/drawing/2014/main" id="{A8AEC228-E5BF-433C-9E73-D4DA3B2B33C7}"/>
              </a:ext>
            </a:extLst>
          </p:cNvPr>
          <p:cNvSpPr>
            <a:spLocks noGrp="1"/>
          </p:cNvSpPr>
          <p:nvPr/>
        </p:nvSpPr>
        <p:spPr>
          <a:xfrm>
            <a:off x="6191250" y="5905500"/>
            <a:ext cx="2000250" cy="266700"/>
          </a:xfrm>
          <a:prstGeom prst="rect">
            <a:avLst/>
          </a:prstGeom>
          <a:noFill/>
          <a:ln w="0">
            <a:noFill/>
            <a:prstDash val="solid"/>
          </a:ln>
        </p:spPr>
        <p:txBody>
          <a:bodyPr/>
          <a:lstStyle/>
          <a:p>
            <a:pPr algn="l">
              <a:defRPr sz="1275" b="1" i="0">
                <a:solidFill>
                  <a:srgbClr val="2E5B3A"/>
                </a:solidFill>
              </a:defRPr>
            </a:pPr>
            <a:r>
              <a:rPr sz="1275" b="1" i="0">
                <a:solidFill>
                  <a:srgbClr val="2E5B3A"/>
                </a:solidFill>
              </a:rPr>
              <a:t>03  Tạo tài khoản</a:t>
            </a:r>
          </a:p>
        </p:txBody>
      </p:sp>
      <p:sp>
        <p:nvSpPr>
          <p:cNvPr id="11" name="Rectangle 10">
            <a:extLst>
              <a:ext uri="{FF2B5EF4-FFF2-40B4-BE49-F238E27FC236}">
                <a16:creationId xmlns:a16="http://schemas.microsoft.com/office/drawing/2014/main" id="{E1BDE006-E976-457A-81F2-76061BB42285}"/>
              </a:ext>
            </a:extLst>
          </p:cNvPr>
          <p:cNvSpPr>
            <a:spLocks noGrp="1"/>
          </p:cNvSpPr>
          <p:nvPr/>
        </p:nvSpPr>
        <p:spPr>
          <a:xfrm>
            <a:off x="8572500" y="5905500"/>
            <a:ext cx="2286000" cy="266700"/>
          </a:xfrm>
          <a:prstGeom prst="rect">
            <a:avLst/>
          </a:prstGeom>
          <a:noFill/>
          <a:ln w="0">
            <a:noFill/>
            <a:prstDash val="solid"/>
          </a:ln>
        </p:spPr>
        <p:txBody>
          <a:bodyPr/>
          <a:lstStyle/>
          <a:p>
            <a:pPr algn="l">
              <a:defRPr sz="1275" b="1" i="0">
                <a:solidFill>
                  <a:srgbClr val="2E5B3A"/>
                </a:solidFill>
              </a:defRPr>
            </a:pPr>
            <a:r>
              <a:rPr sz="1275" b="1" i="0">
                <a:solidFill>
                  <a:srgbClr val="2E5B3A"/>
                </a:solidFill>
              </a:rPr>
              <a:t>04  Kích hoạt dịch vụ</a:t>
            </a:r>
          </a:p>
        </p:txBody>
      </p:sp>
      <p:pic>
        <p:nvPicPr>
          <p:cNvPr id="13" name="Picture 12">
            <a:extLst>
              <a:ext uri="{FF2B5EF4-FFF2-40B4-BE49-F238E27FC236}">
                <a16:creationId xmlns:a16="http://schemas.microsoft.com/office/drawing/2014/main" id="{DE80CFE9-99D5-98B0-2692-DD2FE21F96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712" y="1626533"/>
            <a:ext cx="8047492" cy="3976408"/>
          </a:xfrm>
          <a:prstGeom prst="rect">
            <a:avLst/>
          </a:prstGeom>
        </p:spPr>
      </p:pic>
      <p:sp>
        <p:nvSpPr>
          <p:cNvPr id="7" name="TextBox 6">
            <a:extLst>
              <a:ext uri="{FF2B5EF4-FFF2-40B4-BE49-F238E27FC236}">
                <a16:creationId xmlns:a16="http://schemas.microsoft.com/office/drawing/2014/main" id="{9F027F43-F411-1956-B63B-15989289F368}"/>
              </a:ext>
            </a:extLst>
          </p:cNvPr>
          <p:cNvSpPr txBox="1"/>
          <p:nvPr/>
        </p:nvSpPr>
        <p:spPr>
          <a:xfrm>
            <a:off x="9694506" y="886408"/>
            <a:ext cx="1449744" cy="369332"/>
          </a:xfrm>
          <a:prstGeom prst="rect">
            <a:avLst/>
          </a:prstGeom>
          <a:noFill/>
        </p:spPr>
        <p:txBody>
          <a:bodyPr wrap="square" rtlCol="0">
            <a:spAutoFit/>
          </a:bodyPr>
          <a:lstStyle/>
          <a:p>
            <a:r>
              <a:rPr lang="en-US" dirty="0"/>
              <a:t>Link </a:t>
            </a:r>
            <a:r>
              <a:rPr lang="en-US" dirty="0">
                <a:hlinkClick r:id="rId4" tooltip="https://drive.google.com/file/d/13VoSSl9xEnkSVLvPR0rvfTq303RBnOrI/view?usp=sharing"/>
              </a:rPr>
              <a:t>Draw.io</a:t>
            </a:r>
            <a:endParaRPr lang="vi-VN" dirty="0"/>
          </a:p>
        </p:txBody>
      </p:sp>
    </p:spTree>
    <p:extLst>
      <p:ext uri="{BB962C8B-B14F-4D97-AF65-F5344CB8AC3E}">
        <p14:creationId xmlns:p14="http://schemas.microsoft.com/office/powerpoint/2010/main" val="1053190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5F38557-588A-48A1-B418-A280B3104A20}"/>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7FAA3688-D285-4443-8C72-4DAF99B27F36}"/>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2. QUY TRÌNH NGHIỆP VỤ</a:t>
            </a:r>
          </a:p>
        </p:txBody>
      </p:sp>
      <p:sp>
        <p:nvSpPr>
          <p:cNvPr id="3" name="Rectangle 2">
            <a:extLst>
              <a:ext uri="{FF2B5EF4-FFF2-40B4-BE49-F238E27FC236}">
                <a16:creationId xmlns:a16="http://schemas.microsoft.com/office/drawing/2014/main" id="{61C18B95-C6D8-474B-A486-FB0AF44C8263}"/>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Use Case xác định phạm vi tương tác của 3 actor</a:t>
            </a:r>
          </a:p>
        </p:txBody>
      </p:sp>
      <p:sp>
        <p:nvSpPr>
          <p:cNvPr id="4" name="Rectangle 3">
            <a:extLst>
              <a:ext uri="{FF2B5EF4-FFF2-40B4-BE49-F238E27FC236}">
                <a16:creationId xmlns:a16="http://schemas.microsoft.com/office/drawing/2014/main" id="{254B0252-6CAB-4356-9423-CDE4CFF4953A}"/>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11</a:t>
            </a:r>
          </a:p>
        </p:txBody>
      </p:sp>
      <p:sp>
        <p:nvSpPr>
          <p:cNvPr id="5" name="Rectangle 4">
            <a:extLst>
              <a:ext uri="{FF2B5EF4-FFF2-40B4-BE49-F238E27FC236}">
                <a16:creationId xmlns:a16="http://schemas.microsoft.com/office/drawing/2014/main" id="{10BDCB25-5DE3-4B40-AF3F-DA80B9D2A915}"/>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Rounded Corners 5">
            <a:extLst>
              <a:ext uri="{FF2B5EF4-FFF2-40B4-BE49-F238E27FC236}">
                <a16:creationId xmlns:a16="http://schemas.microsoft.com/office/drawing/2014/main" id="{612F7F7A-E2B2-4015-A414-BDCAB7E678A3}"/>
              </a:ext>
            </a:extLst>
          </p:cNvPr>
          <p:cNvSpPr>
            <a:spLocks noGrp="1"/>
          </p:cNvSpPr>
          <p:nvPr/>
        </p:nvSpPr>
        <p:spPr>
          <a:xfrm>
            <a:off x="1095375" y="1381125"/>
            <a:ext cx="10001250" cy="4714875"/>
          </a:xfrm>
          <a:prstGeom prst="roundRect">
            <a:avLst>
              <a:gd name="adj" fmla="val 2424"/>
            </a:avLst>
          </a:prstGeom>
          <a:solidFill>
            <a:srgbClr val="FFFFFF"/>
          </a:solidFill>
          <a:ln w="9525">
            <a:solidFill>
              <a:srgbClr val="C8D9C5"/>
            </a:solidFill>
            <a:prstDash val="solid"/>
          </a:ln>
        </p:spPr>
        <p:style>
          <a:lnRef idx="0">
            <a:scrgbClr r="0" g="0" b="0"/>
          </a:lnRef>
          <a:fillRef idx="0">
            <a:scrgbClr r="0" g="0" b="0"/>
          </a:fillRef>
          <a:effectRef idx="4">
            <a:scrgbClr r="0" g="0" b="0"/>
          </a:effectRef>
          <a:fontRef idx="major"/>
        </p:style>
      </p:sp>
      <p:pic>
        <p:nvPicPr>
          <p:cNvPr id="17" name="Picture 16"/>
          <p:cNvPicPr>
            <a:picLocks noChangeAspect="1"/>
          </p:cNvPicPr>
          <p:nvPr/>
        </p:nvPicPr>
        <p:blipFill>
          <a:blip r:embed="rId3"/>
          <a:stretch/>
        </p:blipFill>
        <p:spPr>
          <a:xfrm>
            <a:off x="2464255" y="1476375"/>
            <a:ext cx="7263491" cy="4524375"/>
          </a:xfrm>
          <a:prstGeom prst="rect">
            <a:avLst/>
          </a:prstGeom>
        </p:spPr>
      </p:pic>
      <p:sp>
        <p:nvSpPr>
          <p:cNvPr id="8" name="Rectangle 7">
            <a:extLst>
              <a:ext uri="{FF2B5EF4-FFF2-40B4-BE49-F238E27FC236}">
                <a16:creationId xmlns:a16="http://schemas.microsoft.com/office/drawing/2014/main" id="{B106E6EA-44B1-4481-9B78-959D8960D76D}"/>
              </a:ext>
            </a:extLst>
          </p:cNvPr>
          <p:cNvSpPr>
            <a:spLocks noGrp="1"/>
          </p:cNvSpPr>
          <p:nvPr/>
        </p:nvSpPr>
        <p:spPr>
          <a:xfrm>
            <a:off x="1333500" y="6143625"/>
            <a:ext cx="2095500" cy="266700"/>
          </a:xfrm>
          <a:prstGeom prst="rect">
            <a:avLst/>
          </a:prstGeom>
          <a:noFill/>
          <a:ln w="0">
            <a:noFill/>
            <a:prstDash val="solid"/>
          </a:ln>
        </p:spPr>
        <p:txBody>
          <a:bodyPr/>
          <a:lstStyle/>
          <a:p>
            <a:pPr algn="l">
              <a:defRPr sz="1350" b="1" i="0">
                <a:solidFill>
                  <a:srgbClr val="2E5B3A"/>
                </a:solidFill>
              </a:defRPr>
            </a:pPr>
            <a:r>
              <a:rPr sz="1350" b="1" i="0">
                <a:solidFill>
                  <a:srgbClr val="2E5B3A"/>
                </a:solidFill>
              </a:rPr>
              <a:t>Khách hàng</a:t>
            </a:r>
          </a:p>
        </p:txBody>
      </p:sp>
      <p:sp>
        <p:nvSpPr>
          <p:cNvPr id="9" name="Rectangle 8">
            <a:extLst>
              <a:ext uri="{FF2B5EF4-FFF2-40B4-BE49-F238E27FC236}">
                <a16:creationId xmlns:a16="http://schemas.microsoft.com/office/drawing/2014/main" id="{EC9DF16D-3694-4652-95C8-A79F8E86FFB4}"/>
              </a:ext>
            </a:extLst>
          </p:cNvPr>
          <p:cNvSpPr>
            <a:spLocks noGrp="1"/>
          </p:cNvSpPr>
          <p:nvPr/>
        </p:nvSpPr>
        <p:spPr>
          <a:xfrm>
            <a:off x="4953000" y="6143625"/>
            <a:ext cx="2476500" cy="266700"/>
          </a:xfrm>
          <a:prstGeom prst="rect">
            <a:avLst/>
          </a:prstGeom>
          <a:noFill/>
          <a:ln w="0">
            <a:noFill/>
            <a:prstDash val="solid"/>
          </a:ln>
        </p:spPr>
        <p:txBody>
          <a:bodyPr/>
          <a:lstStyle/>
          <a:p>
            <a:pPr algn="l">
              <a:defRPr sz="1350" b="1" i="0">
                <a:solidFill>
                  <a:srgbClr val="2E5B3A"/>
                </a:solidFill>
              </a:defRPr>
            </a:pPr>
            <a:r>
              <a:rPr sz="1350" b="1" i="0">
                <a:solidFill>
                  <a:srgbClr val="2E5B3A"/>
                </a:solidFill>
              </a:rPr>
              <a:t>Hệ thống ngân hàng</a:t>
            </a:r>
          </a:p>
        </p:txBody>
      </p:sp>
      <p:sp>
        <p:nvSpPr>
          <p:cNvPr id="10" name="Rectangle 9">
            <a:extLst>
              <a:ext uri="{FF2B5EF4-FFF2-40B4-BE49-F238E27FC236}">
                <a16:creationId xmlns:a16="http://schemas.microsoft.com/office/drawing/2014/main" id="{EA950F95-58DE-4189-A9BE-1297EC9E58B0}"/>
              </a:ext>
            </a:extLst>
          </p:cNvPr>
          <p:cNvSpPr>
            <a:spLocks noGrp="1"/>
          </p:cNvSpPr>
          <p:nvPr/>
        </p:nvSpPr>
        <p:spPr>
          <a:xfrm>
            <a:off x="8763000" y="6143625"/>
            <a:ext cx="2095500" cy="266700"/>
          </a:xfrm>
          <a:prstGeom prst="rect">
            <a:avLst/>
          </a:prstGeom>
          <a:noFill/>
          <a:ln w="0">
            <a:noFill/>
            <a:prstDash val="solid"/>
          </a:ln>
        </p:spPr>
        <p:txBody>
          <a:bodyPr/>
          <a:lstStyle/>
          <a:p>
            <a:pPr algn="l">
              <a:defRPr sz="1350" b="1" i="0">
                <a:solidFill>
                  <a:srgbClr val="2E5B3A"/>
                </a:solidFill>
              </a:defRPr>
            </a:pPr>
            <a:r>
              <a:rPr sz="1350" b="1" i="0">
                <a:solidFill>
                  <a:srgbClr val="2E5B3A"/>
                </a:solidFill>
              </a:rPr>
              <a:t>Hệ thống eKYC</a:t>
            </a:r>
          </a:p>
        </p:txBody>
      </p:sp>
      <p:sp>
        <p:nvSpPr>
          <p:cNvPr id="7" name="TextBox 6">
            <a:extLst>
              <a:ext uri="{FF2B5EF4-FFF2-40B4-BE49-F238E27FC236}">
                <a16:creationId xmlns:a16="http://schemas.microsoft.com/office/drawing/2014/main" id="{BC038D62-64D9-B518-9B98-7BE49C83F1B4}"/>
              </a:ext>
            </a:extLst>
          </p:cNvPr>
          <p:cNvSpPr txBox="1"/>
          <p:nvPr/>
        </p:nvSpPr>
        <p:spPr>
          <a:xfrm>
            <a:off x="9694506" y="886408"/>
            <a:ext cx="1449744" cy="369332"/>
          </a:xfrm>
          <a:prstGeom prst="rect">
            <a:avLst/>
          </a:prstGeom>
          <a:noFill/>
        </p:spPr>
        <p:txBody>
          <a:bodyPr wrap="square" rtlCol="0">
            <a:spAutoFit/>
          </a:bodyPr>
          <a:lstStyle/>
          <a:p>
            <a:r>
              <a:rPr lang="en-US" dirty="0"/>
              <a:t>Link </a:t>
            </a:r>
            <a:r>
              <a:rPr lang="en-US" dirty="0">
                <a:hlinkClick r:id="rId4" tooltip="https://drive.google.com/file/d/13VoSSl9xEnkSVLvPR0rvfTq303RBnOrI/view?usp=sharing"/>
              </a:rPr>
              <a:t>Draw.io</a:t>
            </a:r>
            <a:endParaRPr lang="vi-VN" dirty="0"/>
          </a:p>
        </p:txBody>
      </p:sp>
    </p:spTree>
    <p:extLst>
      <p:ext uri="{BB962C8B-B14F-4D97-AF65-F5344CB8AC3E}">
        <p14:creationId xmlns:p14="http://schemas.microsoft.com/office/powerpoint/2010/main" val="517759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39D2652E-26BC-4BEC-AF3E-757B80E1AA25}"/>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9F662F10-17E4-4884-9CE4-7FA3CD24882C}"/>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2. QUY TRÌNH NGHIỆP VỤ</a:t>
            </a:r>
          </a:p>
        </p:txBody>
      </p:sp>
      <p:sp>
        <p:nvSpPr>
          <p:cNvPr id="3" name="Rectangle 2">
            <a:extLst>
              <a:ext uri="{FF2B5EF4-FFF2-40B4-BE49-F238E27FC236}">
                <a16:creationId xmlns:a16="http://schemas.microsoft.com/office/drawing/2014/main" id="{C49E039A-DE18-45C2-84A8-0DD8928DE9C6}"/>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Activity Diagram làm rõ điều kiện và vòng lặp</a:t>
            </a:r>
          </a:p>
        </p:txBody>
      </p:sp>
      <p:sp>
        <p:nvSpPr>
          <p:cNvPr id="4" name="Rectangle 3">
            <a:extLst>
              <a:ext uri="{FF2B5EF4-FFF2-40B4-BE49-F238E27FC236}">
                <a16:creationId xmlns:a16="http://schemas.microsoft.com/office/drawing/2014/main" id="{7103F373-8498-4C2A-AD95-508160D2B94C}"/>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12</a:t>
            </a:r>
          </a:p>
        </p:txBody>
      </p:sp>
      <p:sp>
        <p:nvSpPr>
          <p:cNvPr id="5" name="Rectangle 4">
            <a:extLst>
              <a:ext uri="{FF2B5EF4-FFF2-40B4-BE49-F238E27FC236}">
                <a16:creationId xmlns:a16="http://schemas.microsoft.com/office/drawing/2014/main" id="{FFD8F81F-ED1F-4E0B-9CE4-E4E80DB749E0}"/>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9" name="Rectangle 8">
            <a:extLst>
              <a:ext uri="{FF2B5EF4-FFF2-40B4-BE49-F238E27FC236}">
                <a16:creationId xmlns:a16="http://schemas.microsoft.com/office/drawing/2014/main" id="{F1DE5D8F-926C-48FD-A756-492E43B987D2}"/>
              </a:ext>
            </a:extLst>
          </p:cNvPr>
          <p:cNvSpPr>
            <a:spLocks noGrp="1"/>
          </p:cNvSpPr>
          <p:nvPr/>
        </p:nvSpPr>
        <p:spPr>
          <a:xfrm>
            <a:off x="6191250" y="1714500"/>
            <a:ext cx="4000500" cy="323850"/>
          </a:xfrm>
          <a:prstGeom prst="rect">
            <a:avLst/>
          </a:prstGeom>
          <a:noFill/>
          <a:ln w="0">
            <a:noFill/>
            <a:prstDash val="solid"/>
          </a:ln>
        </p:spPr>
        <p:txBody>
          <a:bodyPr/>
          <a:lstStyle/>
          <a:p>
            <a:pPr algn="l">
              <a:defRPr sz="1875" b="1" i="0">
                <a:solidFill>
                  <a:srgbClr val="2E5B3A"/>
                </a:solidFill>
              </a:defRPr>
            </a:pPr>
            <a:r>
              <a:rPr sz="1875" b="1" i="0">
                <a:solidFill>
                  <a:srgbClr val="2E5B3A"/>
                </a:solidFill>
              </a:rPr>
              <a:t>Logic cần nhấn mạnh</a:t>
            </a:r>
          </a:p>
        </p:txBody>
      </p:sp>
      <p:sp>
        <p:nvSpPr>
          <p:cNvPr id="10" name="Rectangle 9">
            <a:extLst>
              <a:ext uri="{FF2B5EF4-FFF2-40B4-BE49-F238E27FC236}">
                <a16:creationId xmlns:a16="http://schemas.microsoft.com/office/drawing/2014/main" id="{7DB193D0-AE2A-47A6-87D0-B50DD2C5BAE2}"/>
              </a:ext>
            </a:extLst>
          </p:cNvPr>
          <p:cNvSpPr>
            <a:spLocks noGrp="1"/>
          </p:cNvSpPr>
          <p:nvPr/>
        </p:nvSpPr>
        <p:spPr>
          <a:xfrm>
            <a:off x="6191250" y="2238375"/>
            <a:ext cx="228600" cy="5905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1" name="Rectangle 10">
            <a:extLst>
              <a:ext uri="{FF2B5EF4-FFF2-40B4-BE49-F238E27FC236}">
                <a16:creationId xmlns:a16="http://schemas.microsoft.com/office/drawing/2014/main" id="{F617C6B2-2E9C-4EC1-854E-4BA78A29DDD4}"/>
              </a:ext>
            </a:extLst>
          </p:cNvPr>
          <p:cNvSpPr>
            <a:spLocks noGrp="1"/>
          </p:cNvSpPr>
          <p:nvPr/>
        </p:nvSpPr>
        <p:spPr>
          <a:xfrm>
            <a:off x="6457950" y="2238375"/>
            <a:ext cx="4495800" cy="5905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OTP sai: quay lại nhập OTP và retry không giới hạn.</a:t>
            </a:r>
          </a:p>
        </p:txBody>
      </p:sp>
      <p:sp>
        <p:nvSpPr>
          <p:cNvPr id="12" name="Rectangle 11">
            <a:extLst>
              <a:ext uri="{FF2B5EF4-FFF2-40B4-BE49-F238E27FC236}">
                <a16:creationId xmlns:a16="http://schemas.microsoft.com/office/drawing/2014/main" id="{7E734455-546D-4F0D-A472-B087CA73CF82}"/>
              </a:ext>
            </a:extLst>
          </p:cNvPr>
          <p:cNvSpPr>
            <a:spLocks noGrp="1"/>
          </p:cNvSpPr>
          <p:nvPr/>
        </p:nvSpPr>
        <p:spPr>
          <a:xfrm>
            <a:off x="6191250" y="2828925"/>
            <a:ext cx="228600" cy="5905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3" name="Rectangle 12">
            <a:extLst>
              <a:ext uri="{FF2B5EF4-FFF2-40B4-BE49-F238E27FC236}">
                <a16:creationId xmlns:a16="http://schemas.microsoft.com/office/drawing/2014/main" id="{DA24F899-17E1-435F-BB1F-52A8B0ABDCBD}"/>
              </a:ext>
            </a:extLst>
          </p:cNvPr>
          <p:cNvSpPr>
            <a:spLocks noGrp="1"/>
          </p:cNvSpPr>
          <p:nvPr/>
        </p:nvSpPr>
        <p:spPr>
          <a:xfrm>
            <a:off x="6457950" y="2828925"/>
            <a:ext cx="4495800" cy="5905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OCR và Face Matching dùng chung biến đếm thất bại.</a:t>
            </a:r>
          </a:p>
        </p:txBody>
      </p:sp>
      <p:sp>
        <p:nvSpPr>
          <p:cNvPr id="14" name="Rectangle 13">
            <a:extLst>
              <a:ext uri="{FF2B5EF4-FFF2-40B4-BE49-F238E27FC236}">
                <a16:creationId xmlns:a16="http://schemas.microsoft.com/office/drawing/2014/main" id="{4D7B0ED9-D4E1-4D27-BB70-10B82191D82C}"/>
              </a:ext>
            </a:extLst>
          </p:cNvPr>
          <p:cNvSpPr>
            <a:spLocks noGrp="1"/>
          </p:cNvSpPr>
          <p:nvPr/>
        </p:nvSpPr>
        <p:spPr>
          <a:xfrm>
            <a:off x="6191250" y="3419475"/>
            <a:ext cx="228600" cy="5905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5" name="Rectangle 14">
            <a:extLst>
              <a:ext uri="{FF2B5EF4-FFF2-40B4-BE49-F238E27FC236}">
                <a16:creationId xmlns:a16="http://schemas.microsoft.com/office/drawing/2014/main" id="{64DA2F5C-13A0-4740-8E90-CC1B9289FC75}"/>
              </a:ext>
            </a:extLst>
          </p:cNvPr>
          <p:cNvSpPr>
            <a:spLocks noGrp="1"/>
          </p:cNvSpPr>
          <p:nvPr/>
        </p:nvSpPr>
        <p:spPr>
          <a:xfrm>
            <a:off x="6457950" y="3419475"/>
            <a:ext cx="4495800" cy="5905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Tổng thất bại dưới 3: thực hiện lại bước tương ứng.</a:t>
            </a:r>
          </a:p>
        </p:txBody>
      </p:sp>
      <p:sp>
        <p:nvSpPr>
          <p:cNvPr id="16" name="Rectangle 15">
            <a:extLst>
              <a:ext uri="{FF2B5EF4-FFF2-40B4-BE49-F238E27FC236}">
                <a16:creationId xmlns:a16="http://schemas.microsoft.com/office/drawing/2014/main" id="{84E6D680-4E0C-43AE-BA36-C8DD37C16469}"/>
              </a:ext>
            </a:extLst>
          </p:cNvPr>
          <p:cNvSpPr>
            <a:spLocks noGrp="1"/>
          </p:cNvSpPr>
          <p:nvPr/>
        </p:nvSpPr>
        <p:spPr>
          <a:xfrm>
            <a:off x="6191250" y="4010025"/>
            <a:ext cx="228600" cy="5905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7" name="Rectangle 16">
            <a:extLst>
              <a:ext uri="{FF2B5EF4-FFF2-40B4-BE49-F238E27FC236}">
                <a16:creationId xmlns:a16="http://schemas.microsoft.com/office/drawing/2014/main" id="{EDD8C117-3F48-4317-8F8C-4CC59958CF20}"/>
              </a:ext>
            </a:extLst>
          </p:cNvPr>
          <p:cNvSpPr>
            <a:spLocks noGrp="1"/>
          </p:cNvSpPr>
          <p:nvPr/>
        </p:nvSpPr>
        <p:spPr>
          <a:xfrm>
            <a:off x="6457950" y="4010025"/>
            <a:ext cx="4495800" cy="5905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Tổng thất bại đạt 3: chuyển xét duyệt thủ công.</a:t>
            </a:r>
          </a:p>
        </p:txBody>
      </p:sp>
      <p:sp>
        <p:nvSpPr>
          <p:cNvPr id="18" name="Rectangle 17">
            <a:extLst>
              <a:ext uri="{FF2B5EF4-FFF2-40B4-BE49-F238E27FC236}">
                <a16:creationId xmlns:a16="http://schemas.microsoft.com/office/drawing/2014/main" id="{9C45951E-8038-4DF5-A325-013C6560B48F}"/>
              </a:ext>
            </a:extLst>
          </p:cNvPr>
          <p:cNvSpPr>
            <a:spLocks noGrp="1"/>
          </p:cNvSpPr>
          <p:nvPr/>
        </p:nvSpPr>
        <p:spPr>
          <a:xfrm>
            <a:off x="6191250" y="4600575"/>
            <a:ext cx="228600" cy="5905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t>
            </a:r>
          </a:p>
        </p:txBody>
      </p:sp>
      <p:sp>
        <p:nvSpPr>
          <p:cNvPr id="19" name="Rectangle 18">
            <a:extLst>
              <a:ext uri="{FF2B5EF4-FFF2-40B4-BE49-F238E27FC236}">
                <a16:creationId xmlns:a16="http://schemas.microsoft.com/office/drawing/2014/main" id="{C5FACB87-4432-4B4D-B2AB-579C981BE1A1}"/>
              </a:ext>
            </a:extLst>
          </p:cNvPr>
          <p:cNvSpPr>
            <a:spLocks noGrp="1"/>
          </p:cNvSpPr>
          <p:nvPr/>
        </p:nvSpPr>
        <p:spPr>
          <a:xfrm>
            <a:off x="6457950" y="4600575"/>
            <a:ext cx="4495800" cy="5905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CCCD trùng: từ chối hồ sơ và kết thúc.</a:t>
            </a:r>
          </a:p>
        </p:txBody>
      </p:sp>
      <p:pic>
        <p:nvPicPr>
          <p:cNvPr id="7" name="Picture 6">
            <a:extLst>
              <a:ext uri="{FF2B5EF4-FFF2-40B4-BE49-F238E27FC236}">
                <a16:creationId xmlns:a16="http://schemas.microsoft.com/office/drawing/2014/main" id="{175F2333-11F5-50C5-7E1C-32FF11FCF2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0909" y="1365437"/>
            <a:ext cx="3020861" cy="5289176"/>
          </a:xfrm>
          <a:prstGeom prst="rect">
            <a:avLst/>
          </a:prstGeom>
        </p:spPr>
      </p:pic>
      <p:sp>
        <p:nvSpPr>
          <p:cNvPr id="6" name="TextBox 5">
            <a:extLst>
              <a:ext uri="{FF2B5EF4-FFF2-40B4-BE49-F238E27FC236}">
                <a16:creationId xmlns:a16="http://schemas.microsoft.com/office/drawing/2014/main" id="{15E2E907-17C2-AF6E-3032-CB9E4A1964AA}"/>
              </a:ext>
            </a:extLst>
          </p:cNvPr>
          <p:cNvSpPr txBox="1"/>
          <p:nvPr/>
        </p:nvSpPr>
        <p:spPr>
          <a:xfrm>
            <a:off x="9694506" y="886408"/>
            <a:ext cx="1449744" cy="369332"/>
          </a:xfrm>
          <a:prstGeom prst="rect">
            <a:avLst/>
          </a:prstGeom>
          <a:noFill/>
        </p:spPr>
        <p:txBody>
          <a:bodyPr wrap="square" rtlCol="0">
            <a:spAutoFit/>
          </a:bodyPr>
          <a:lstStyle/>
          <a:p>
            <a:r>
              <a:rPr lang="en-US" dirty="0"/>
              <a:t>Link </a:t>
            </a:r>
            <a:r>
              <a:rPr lang="en-US" dirty="0">
                <a:hlinkClick r:id="rId4" tooltip="https://drive.google.com/file/d/13VoSSl9xEnkSVLvPR0rvfTq303RBnOrI/view?usp=sharing"/>
              </a:rPr>
              <a:t>Draw.io</a:t>
            </a:r>
            <a:endParaRPr lang="vi-VN" dirty="0"/>
          </a:p>
        </p:txBody>
      </p:sp>
    </p:spTree>
    <p:extLst>
      <p:ext uri="{BB962C8B-B14F-4D97-AF65-F5344CB8AC3E}">
        <p14:creationId xmlns:p14="http://schemas.microsoft.com/office/powerpoint/2010/main" val="464259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42F0A979-F9E0-4A3B-97BA-1DB1EDE01B19}"/>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DCE86366-637A-4D4C-8B05-A5F99D33588C}"/>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2. QUY TRÌNH NGHIỆP VỤ</a:t>
            </a:r>
          </a:p>
        </p:txBody>
      </p:sp>
      <p:sp>
        <p:nvSpPr>
          <p:cNvPr id="3" name="Rectangle 2">
            <a:extLst>
              <a:ext uri="{FF2B5EF4-FFF2-40B4-BE49-F238E27FC236}">
                <a16:creationId xmlns:a16="http://schemas.microsoft.com/office/drawing/2014/main" id="{285519F6-A4E5-48CC-963F-B838065B4682}"/>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Sequence Diagram thống nhất tương tác và mã lỗi</a:t>
            </a:r>
          </a:p>
        </p:txBody>
      </p:sp>
      <p:sp>
        <p:nvSpPr>
          <p:cNvPr id="4" name="Rectangle 3">
            <a:extLst>
              <a:ext uri="{FF2B5EF4-FFF2-40B4-BE49-F238E27FC236}">
                <a16:creationId xmlns:a16="http://schemas.microsoft.com/office/drawing/2014/main" id="{466BE94C-83B2-4C9F-A84E-7304DA9B3095}"/>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13</a:t>
            </a:r>
          </a:p>
        </p:txBody>
      </p:sp>
      <p:sp>
        <p:nvSpPr>
          <p:cNvPr id="5" name="Rectangle 4">
            <a:extLst>
              <a:ext uri="{FF2B5EF4-FFF2-40B4-BE49-F238E27FC236}">
                <a16:creationId xmlns:a16="http://schemas.microsoft.com/office/drawing/2014/main" id="{41F62295-93E3-4EB5-840F-FB5E29FC1F7F}"/>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9" name="Rectangle 8">
            <a:extLst>
              <a:ext uri="{FF2B5EF4-FFF2-40B4-BE49-F238E27FC236}">
                <a16:creationId xmlns:a16="http://schemas.microsoft.com/office/drawing/2014/main" id="{D9F690FA-D66B-4B9F-9B5B-2B1231655C11}"/>
              </a:ext>
            </a:extLst>
          </p:cNvPr>
          <p:cNvSpPr>
            <a:spLocks noGrp="1"/>
          </p:cNvSpPr>
          <p:nvPr/>
        </p:nvSpPr>
        <p:spPr>
          <a:xfrm>
            <a:off x="5381625" y="1714500"/>
            <a:ext cx="4762500" cy="323850"/>
          </a:xfrm>
          <a:prstGeom prst="rect">
            <a:avLst/>
          </a:prstGeom>
          <a:noFill/>
          <a:ln w="0">
            <a:noFill/>
            <a:prstDash val="solid"/>
          </a:ln>
        </p:spPr>
        <p:txBody>
          <a:bodyPr/>
          <a:lstStyle/>
          <a:p>
            <a:pPr algn="l">
              <a:defRPr sz="1875" b="1" i="0">
                <a:solidFill>
                  <a:srgbClr val="2E5B3A"/>
                </a:solidFill>
              </a:defRPr>
            </a:pPr>
            <a:r>
              <a:rPr sz="1875" b="1" i="0">
                <a:solidFill>
                  <a:srgbClr val="2E5B3A"/>
                </a:solidFill>
              </a:rPr>
              <a:t>Quy ước mã lỗi</a:t>
            </a:r>
          </a:p>
        </p:txBody>
      </p:sp>
      <p:sp>
        <p:nvSpPr>
          <p:cNvPr id="10" name="Rectangle 9">
            <a:extLst>
              <a:ext uri="{FF2B5EF4-FFF2-40B4-BE49-F238E27FC236}">
                <a16:creationId xmlns:a16="http://schemas.microsoft.com/office/drawing/2014/main" id="{7BBF3BE9-4742-4B90-A51F-D426B9EC083B}"/>
              </a:ext>
            </a:extLst>
          </p:cNvPr>
          <p:cNvSpPr>
            <a:spLocks noGrp="1"/>
          </p:cNvSpPr>
          <p:nvPr/>
        </p:nvSpPr>
        <p:spPr>
          <a:xfrm>
            <a:off x="5429250" y="2286000"/>
            <a:ext cx="2190750" cy="361950"/>
          </a:xfrm>
          <a:prstGeom prst="rect">
            <a:avLst/>
          </a:prstGeom>
          <a:noFill/>
          <a:ln w="0">
            <a:noFill/>
            <a:prstDash val="solid"/>
          </a:ln>
        </p:spPr>
        <p:txBody>
          <a:bodyPr/>
          <a:lstStyle/>
          <a:p>
            <a:pPr algn="l">
              <a:defRPr sz="1425" b="1" i="0">
                <a:solidFill>
                  <a:srgbClr val="294C64"/>
                </a:solidFill>
              </a:defRPr>
            </a:pPr>
            <a:r>
              <a:rPr sz="1425" b="1" i="0">
                <a:solidFill>
                  <a:srgbClr val="294C64"/>
                </a:solidFill>
              </a:rPr>
              <a:t>ERR_OTP_001</a:t>
            </a:r>
          </a:p>
        </p:txBody>
      </p:sp>
      <p:sp>
        <p:nvSpPr>
          <p:cNvPr id="11" name="Rectangle 10">
            <a:extLst>
              <a:ext uri="{FF2B5EF4-FFF2-40B4-BE49-F238E27FC236}">
                <a16:creationId xmlns:a16="http://schemas.microsoft.com/office/drawing/2014/main" id="{5E4ECCFC-E153-419B-B6F2-1047B7A64B4E}"/>
              </a:ext>
            </a:extLst>
          </p:cNvPr>
          <p:cNvSpPr>
            <a:spLocks noGrp="1"/>
          </p:cNvSpPr>
          <p:nvPr/>
        </p:nvSpPr>
        <p:spPr>
          <a:xfrm>
            <a:off x="7715250" y="2286000"/>
            <a:ext cx="3429000" cy="3619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OTP không hợp lệ</a:t>
            </a:r>
          </a:p>
        </p:txBody>
      </p:sp>
      <p:sp>
        <p:nvSpPr>
          <p:cNvPr id="12" name="Straight Connector 11">
            <a:extLst>
              <a:ext uri="{FF2B5EF4-FFF2-40B4-BE49-F238E27FC236}">
                <a16:creationId xmlns:a16="http://schemas.microsoft.com/office/drawing/2014/main" id="{BD7F157E-8302-4423-9BFB-A472E94A6F89}"/>
              </a:ext>
            </a:extLst>
          </p:cNvPr>
          <p:cNvSpPr>
            <a:spLocks noGrp="1"/>
          </p:cNvSpPr>
          <p:nvPr/>
        </p:nvSpPr>
        <p:spPr>
          <a:xfrm>
            <a:off x="5429250" y="2743200"/>
            <a:ext cx="5619750" cy="9525"/>
          </a:xfrm>
          <a:prstGeom prst="line">
            <a:avLst/>
          </a:prstGeom>
          <a:noFill/>
          <a:ln w="9525">
            <a:solidFill>
              <a:srgbClr val="C8D9C5"/>
            </a:solidFill>
            <a:prstDash val="solid"/>
          </a:ln>
        </p:spPr>
      </p:sp>
      <p:sp>
        <p:nvSpPr>
          <p:cNvPr id="13" name="Rectangle 12">
            <a:extLst>
              <a:ext uri="{FF2B5EF4-FFF2-40B4-BE49-F238E27FC236}">
                <a16:creationId xmlns:a16="http://schemas.microsoft.com/office/drawing/2014/main" id="{F4FD8C13-2567-4ACA-9B48-CAF192569374}"/>
              </a:ext>
            </a:extLst>
          </p:cNvPr>
          <p:cNvSpPr>
            <a:spLocks noGrp="1"/>
          </p:cNvSpPr>
          <p:nvPr/>
        </p:nvSpPr>
        <p:spPr>
          <a:xfrm>
            <a:off x="5429250" y="2933700"/>
            <a:ext cx="2190750" cy="361950"/>
          </a:xfrm>
          <a:prstGeom prst="rect">
            <a:avLst/>
          </a:prstGeom>
          <a:noFill/>
          <a:ln w="0">
            <a:noFill/>
            <a:prstDash val="solid"/>
          </a:ln>
        </p:spPr>
        <p:txBody>
          <a:bodyPr/>
          <a:lstStyle/>
          <a:p>
            <a:pPr algn="l">
              <a:defRPr sz="1425" b="1" i="0">
                <a:solidFill>
                  <a:srgbClr val="294C64"/>
                </a:solidFill>
              </a:defRPr>
            </a:pPr>
            <a:r>
              <a:rPr sz="1425" b="1" i="0">
                <a:solidFill>
                  <a:srgbClr val="294C64"/>
                </a:solidFill>
              </a:rPr>
              <a:t>ERR_EKYC_001</a:t>
            </a:r>
          </a:p>
        </p:txBody>
      </p:sp>
      <p:sp>
        <p:nvSpPr>
          <p:cNvPr id="14" name="Rectangle 13">
            <a:extLst>
              <a:ext uri="{FF2B5EF4-FFF2-40B4-BE49-F238E27FC236}">
                <a16:creationId xmlns:a16="http://schemas.microsoft.com/office/drawing/2014/main" id="{68168AC0-ED3B-4888-A542-C824024D0774}"/>
              </a:ext>
            </a:extLst>
          </p:cNvPr>
          <p:cNvSpPr>
            <a:spLocks noGrp="1"/>
          </p:cNvSpPr>
          <p:nvPr/>
        </p:nvSpPr>
        <p:spPr>
          <a:xfrm>
            <a:off x="7715250" y="2933700"/>
            <a:ext cx="3429000" cy="3619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OCR không trích xuất được CCCD</a:t>
            </a:r>
          </a:p>
        </p:txBody>
      </p:sp>
      <p:sp>
        <p:nvSpPr>
          <p:cNvPr id="15" name="Straight Connector 14">
            <a:extLst>
              <a:ext uri="{FF2B5EF4-FFF2-40B4-BE49-F238E27FC236}">
                <a16:creationId xmlns:a16="http://schemas.microsoft.com/office/drawing/2014/main" id="{DB05BA2D-F641-4A57-8242-A868818CECDC}"/>
              </a:ext>
            </a:extLst>
          </p:cNvPr>
          <p:cNvSpPr>
            <a:spLocks noGrp="1"/>
          </p:cNvSpPr>
          <p:nvPr/>
        </p:nvSpPr>
        <p:spPr>
          <a:xfrm>
            <a:off x="5429250" y="3390900"/>
            <a:ext cx="5619750" cy="9525"/>
          </a:xfrm>
          <a:prstGeom prst="line">
            <a:avLst/>
          </a:prstGeom>
          <a:noFill/>
          <a:ln w="9525">
            <a:solidFill>
              <a:srgbClr val="C8D9C5"/>
            </a:solidFill>
            <a:prstDash val="solid"/>
          </a:ln>
        </p:spPr>
      </p:sp>
      <p:sp>
        <p:nvSpPr>
          <p:cNvPr id="16" name="Rectangle 15">
            <a:extLst>
              <a:ext uri="{FF2B5EF4-FFF2-40B4-BE49-F238E27FC236}">
                <a16:creationId xmlns:a16="http://schemas.microsoft.com/office/drawing/2014/main" id="{04128E96-2A4D-4586-B660-B5625F5CEFB3}"/>
              </a:ext>
            </a:extLst>
          </p:cNvPr>
          <p:cNvSpPr>
            <a:spLocks noGrp="1"/>
          </p:cNvSpPr>
          <p:nvPr/>
        </p:nvSpPr>
        <p:spPr>
          <a:xfrm>
            <a:off x="5429250" y="3581400"/>
            <a:ext cx="2190750" cy="361950"/>
          </a:xfrm>
          <a:prstGeom prst="rect">
            <a:avLst/>
          </a:prstGeom>
          <a:noFill/>
          <a:ln w="0">
            <a:noFill/>
            <a:prstDash val="solid"/>
          </a:ln>
        </p:spPr>
        <p:txBody>
          <a:bodyPr/>
          <a:lstStyle/>
          <a:p>
            <a:pPr algn="l">
              <a:defRPr sz="1425" b="1" i="0">
                <a:solidFill>
                  <a:srgbClr val="294C64"/>
                </a:solidFill>
              </a:defRPr>
            </a:pPr>
            <a:r>
              <a:rPr sz="1425" b="1" i="0">
                <a:solidFill>
                  <a:srgbClr val="294C64"/>
                </a:solidFill>
              </a:rPr>
              <a:t>ERR_EKYC_002</a:t>
            </a:r>
          </a:p>
        </p:txBody>
      </p:sp>
      <p:sp>
        <p:nvSpPr>
          <p:cNvPr id="17" name="Rectangle 16">
            <a:extLst>
              <a:ext uri="{FF2B5EF4-FFF2-40B4-BE49-F238E27FC236}">
                <a16:creationId xmlns:a16="http://schemas.microsoft.com/office/drawing/2014/main" id="{F3A69521-29DA-42D0-970B-0621C8AE75E8}"/>
              </a:ext>
            </a:extLst>
          </p:cNvPr>
          <p:cNvSpPr>
            <a:spLocks noGrp="1"/>
          </p:cNvSpPr>
          <p:nvPr/>
        </p:nvSpPr>
        <p:spPr>
          <a:xfrm>
            <a:off x="7715250" y="3581400"/>
            <a:ext cx="3429000" cy="3619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Face Matching/Liveness không đạt</a:t>
            </a:r>
          </a:p>
        </p:txBody>
      </p:sp>
      <p:sp>
        <p:nvSpPr>
          <p:cNvPr id="18" name="Straight Connector 17">
            <a:extLst>
              <a:ext uri="{FF2B5EF4-FFF2-40B4-BE49-F238E27FC236}">
                <a16:creationId xmlns:a16="http://schemas.microsoft.com/office/drawing/2014/main" id="{E2A3A4DF-524B-4669-9382-0E4160A6EC47}"/>
              </a:ext>
            </a:extLst>
          </p:cNvPr>
          <p:cNvSpPr>
            <a:spLocks noGrp="1"/>
          </p:cNvSpPr>
          <p:nvPr/>
        </p:nvSpPr>
        <p:spPr>
          <a:xfrm>
            <a:off x="5429250" y="4038600"/>
            <a:ext cx="5619750" cy="9525"/>
          </a:xfrm>
          <a:prstGeom prst="line">
            <a:avLst/>
          </a:prstGeom>
          <a:noFill/>
          <a:ln w="9525">
            <a:solidFill>
              <a:srgbClr val="C8D9C5"/>
            </a:solidFill>
            <a:prstDash val="solid"/>
          </a:ln>
        </p:spPr>
      </p:sp>
      <p:sp>
        <p:nvSpPr>
          <p:cNvPr id="19" name="Rectangle 18">
            <a:extLst>
              <a:ext uri="{FF2B5EF4-FFF2-40B4-BE49-F238E27FC236}">
                <a16:creationId xmlns:a16="http://schemas.microsoft.com/office/drawing/2014/main" id="{9C8FE463-BFA8-4B92-AEAE-162C3337EB44}"/>
              </a:ext>
            </a:extLst>
          </p:cNvPr>
          <p:cNvSpPr>
            <a:spLocks noGrp="1"/>
          </p:cNvSpPr>
          <p:nvPr/>
        </p:nvSpPr>
        <p:spPr>
          <a:xfrm>
            <a:off x="5429250" y="4229100"/>
            <a:ext cx="2190750" cy="361950"/>
          </a:xfrm>
          <a:prstGeom prst="rect">
            <a:avLst/>
          </a:prstGeom>
          <a:noFill/>
          <a:ln w="0">
            <a:noFill/>
            <a:prstDash val="solid"/>
          </a:ln>
        </p:spPr>
        <p:txBody>
          <a:bodyPr/>
          <a:lstStyle/>
          <a:p>
            <a:pPr algn="l">
              <a:defRPr sz="1425" b="1" i="0">
                <a:solidFill>
                  <a:srgbClr val="294C64"/>
                </a:solidFill>
              </a:defRPr>
            </a:pPr>
            <a:r>
              <a:rPr sz="1425" b="1" i="0">
                <a:solidFill>
                  <a:srgbClr val="294C64"/>
                </a:solidFill>
              </a:rPr>
              <a:t>ERR_EKYC_003</a:t>
            </a:r>
          </a:p>
        </p:txBody>
      </p:sp>
      <p:sp>
        <p:nvSpPr>
          <p:cNvPr id="20" name="Rectangle 19">
            <a:extLst>
              <a:ext uri="{FF2B5EF4-FFF2-40B4-BE49-F238E27FC236}">
                <a16:creationId xmlns:a16="http://schemas.microsoft.com/office/drawing/2014/main" id="{59E83E28-933F-483F-A995-044C31034F7B}"/>
              </a:ext>
            </a:extLst>
          </p:cNvPr>
          <p:cNvSpPr>
            <a:spLocks noGrp="1"/>
          </p:cNvSpPr>
          <p:nvPr/>
        </p:nvSpPr>
        <p:spPr>
          <a:xfrm>
            <a:off x="7715250" y="4229100"/>
            <a:ext cx="3429000" cy="3619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Tổng thất bại eKYC đạt 3</a:t>
            </a:r>
          </a:p>
        </p:txBody>
      </p:sp>
      <p:sp>
        <p:nvSpPr>
          <p:cNvPr id="21" name="Straight Connector 20">
            <a:extLst>
              <a:ext uri="{FF2B5EF4-FFF2-40B4-BE49-F238E27FC236}">
                <a16:creationId xmlns:a16="http://schemas.microsoft.com/office/drawing/2014/main" id="{0F6EFD92-3FBC-4AE6-BB0B-650D5F90BE6E}"/>
              </a:ext>
            </a:extLst>
          </p:cNvPr>
          <p:cNvSpPr>
            <a:spLocks noGrp="1"/>
          </p:cNvSpPr>
          <p:nvPr/>
        </p:nvSpPr>
        <p:spPr>
          <a:xfrm>
            <a:off x="5429250" y="4686300"/>
            <a:ext cx="5619750" cy="9525"/>
          </a:xfrm>
          <a:prstGeom prst="line">
            <a:avLst/>
          </a:prstGeom>
          <a:noFill/>
          <a:ln w="9525">
            <a:solidFill>
              <a:srgbClr val="C8D9C5"/>
            </a:solidFill>
            <a:prstDash val="solid"/>
          </a:ln>
        </p:spPr>
      </p:sp>
      <p:sp>
        <p:nvSpPr>
          <p:cNvPr id="22" name="Rectangle 21">
            <a:extLst>
              <a:ext uri="{FF2B5EF4-FFF2-40B4-BE49-F238E27FC236}">
                <a16:creationId xmlns:a16="http://schemas.microsoft.com/office/drawing/2014/main" id="{A790CDAC-B370-458C-994A-5C4E2CC06391}"/>
              </a:ext>
            </a:extLst>
          </p:cNvPr>
          <p:cNvSpPr>
            <a:spLocks noGrp="1"/>
          </p:cNvSpPr>
          <p:nvPr/>
        </p:nvSpPr>
        <p:spPr>
          <a:xfrm>
            <a:off x="5429250" y="4876800"/>
            <a:ext cx="2190750" cy="361950"/>
          </a:xfrm>
          <a:prstGeom prst="rect">
            <a:avLst/>
          </a:prstGeom>
          <a:noFill/>
          <a:ln w="0">
            <a:noFill/>
            <a:prstDash val="solid"/>
          </a:ln>
        </p:spPr>
        <p:txBody>
          <a:bodyPr/>
          <a:lstStyle/>
          <a:p>
            <a:pPr algn="l">
              <a:defRPr sz="1425" b="1" i="0">
                <a:solidFill>
                  <a:srgbClr val="294C64"/>
                </a:solidFill>
              </a:defRPr>
            </a:pPr>
            <a:r>
              <a:rPr sz="1425" b="1" i="0">
                <a:solidFill>
                  <a:srgbClr val="294C64"/>
                </a:solidFill>
              </a:rPr>
              <a:t>ERR_CCCD_001</a:t>
            </a:r>
          </a:p>
        </p:txBody>
      </p:sp>
      <p:sp>
        <p:nvSpPr>
          <p:cNvPr id="23" name="Rectangle 22">
            <a:extLst>
              <a:ext uri="{FF2B5EF4-FFF2-40B4-BE49-F238E27FC236}">
                <a16:creationId xmlns:a16="http://schemas.microsoft.com/office/drawing/2014/main" id="{8243BD06-A6DD-48C8-8F82-FEEA0B390199}"/>
              </a:ext>
            </a:extLst>
          </p:cNvPr>
          <p:cNvSpPr>
            <a:spLocks noGrp="1"/>
          </p:cNvSpPr>
          <p:nvPr/>
        </p:nvSpPr>
        <p:spPr>
          <a:xfrm>
            <a:off x="7715250" y="4876800"/>
            <a:ext cx="3429000" cy="3619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CCCD đã tồn tại</a:t>
            </a:r>
          </a:p>
        </p:txBody>
      </p:sp>
      <p:sp>
        <p:nvSpPr>
          <p:cNvPr id="24" name="Straight Connector 23">
            <a:extLst>
              <a:ext uri="{FF2B5EF4-FFF2-40B4-BE49-F238E27FC236}">
                <a16:creationId xmlns:a16="http://schemas.microsoft.com/office/drawing/2014/main" id="{72C4F34C-1CE8-44CA-A80A-AD1A4DBBBB28}"/>
              </a:ext>
            </a:extLst>
          </p:cNvPr>
          <p:cNvSpPr>
            <a:spLocks noGrp="1"/>
          </p:cNvSpPr>
          <p:nvPr/>
        </p:nvSpPr>
        <p:spPr>
          <a:xfrm>
            <a:off x="5429250" y="5334000"/>
            <a:ext cx="5619750" cy="9525"/>
          </a:xfrm>
          <a:prstGeom prst="line">
            <a:avLst/>
          </a:prstGeom>
          <a:noFill/>
          <a:ln w="9525">
            <a:solidFill>
              <a:srgbClr val="C8D9C5"/>
            </a:solidFill>
            <a:prstDash val="solid"/>
          </a:ln>
        </p:spPr>
      </p:sp>
      <p:sp>
        <p:nvSpPr>
          <p:cNvPr id="25" name="Rectangle 24">
            <a:extLst>
              <a:ext uri="{FF2B5EF4-FFF2-40B4-BE49-F238E27FC236}">
                <a16:creationId xmlns:a16="http://schemas.microsoft.com/office/drawing/2014/main" id="{5E2F9676-769C-43DE-8AC7-ED0180FF68C3}"/>
              </a:ext>
            </a:extLst>
          </p:cNvPr>
          <p:cNvSpPr>
            <a:spLocks noGrp="1"/>
          </p:cNvSpPr>
          <p:nvPr/>
        </p:nvSpPr>
        <p:spPr>
          <a:xfrm>
            <a:off x="5334000" y="5762625"/>
            <a:ext cx="5810250" cy="457200"/>
          </a:xfrm>
          <a:prstGeom prst="rect">
            <a:avLst/>
          </a:prstGeom>
          <a:noFill/>
          <a:ln w="0">
            <a:noFill/>
            <a:prstDash val="solid"/>
          </a:ln>
        </p:spPr>
        <p:txBody>
          <a:bodyPr/>
          <a:lstStyle/>
          <a:p>
            <a:pPr algn="ctr">
              <a:defRPr sz="1350" b="0" i="1">
                <a:solidFill>
                  <a:srgbClr val="65756B"/>
                </a:solidFill>
              </a:defRPr>
            </a:pPr>
            <a:r>
              <a:rPr sz="1350" b="0" i="1">
                <a:solidFill>
                  <a:srgbClr val="65756B"/>
                </a:solidFill>
              </a:rPr>
              <a:t>4 lifeline: Khách hàng - Ứng dụng - Hệ thống ngân hàng - Hệ thống eKYC</a:t>
            </a:r>
          </a:p>
        </p:txBody>
      </p:sp>
      <p:pic>
        <p:nvPicPr>
          <p:cNvPr id="7" name="Picture 6">
            <a:extLst>
              <a:ext uri="{FF2B5EF4-FFF2-40B4-BE49-F238E27FC236}">
                <a16:creationId xmlns:a16="http://schemas.microsoft.com/office/drawing/2014/main" id="{8DA8C65D-A47A-75E9-A1BA-ABAFE221A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4376" y="1360735"/>
            <a:ext cx="1301199" cy="5361882"/>
          </a:xfrm>
          <a:prstGeom prst="rect">
            <a:avLst/>
          </a:prstGeom>
        </p:spPr>
      </p:pic>
      <p:sp>
        <p:nvSpPr>
          <p:cNvPr id="6" name="TextBox 5">
            <a:extLst>
              <a:ext uri="{FF2B5EF4-FFF2-40B4-BE49-F238E27FC236}">
                <a16:creationId xmlns:a16="http://schemas.microsoft.com/office/drawing/2014/main" id="{BD147E66-4972-69C9-4CFB-F429CCF5F3D5}"/>
              </a:ext>
            </a:extLst>
          </p:cNvPr>
          <p:cNvSpPr txBox="1"/>
          <p:nvPr/>
        </p:nvSpPr>
        <p:spPr>
          <a:xfrm>
            <a:off x="9694506" y="886408"/>
            <a:ext cx="1449744" cy="369332"/>
          </a:xfrm>
          <a:prstGeom prst="rect">
            <a:avLst/>
          </a:prstGeom>
          <a:noFill/>
        </p:spPr>
        <p:txBody>
          <a:bodyPr wrap="square" rtlCol="0">
            <a:spAutoFit/>
          </a:bodyPr>
          <a:lstStyle/>
          <a:p>
            <a:r>
              <a:rPr lang="en-US" dirty="0"/>
              <a:t>Link </a:t>
            </a:r>
            <a:r>
              <a:rPr lang="en-US" dirty="0">
                <a:hlinkClick r:id="rId4" tooltip="https://drive.google.com/file/d/13VoSSl9xEnkSVLvPR0rvfTq303RBnOrI/view?usp=sharing"/>
              </a:rPr>
              <a:t>Draw.io</a:t>
            </a:r>
            <a:endParaRPr lang="vi-VN" dirty="0"/>
          </a:p>
        </p:txBody>
      </p:sp>
    </p:spTree>
    <p:extLst>
      <p:ext uri="{BB962C8B-B14F-4D97-AF65-F5344CB8AC3E}">
        <p14:creationId xmlns:p14="http://schemas.microsoft.com/office/powerpoint/2010/main" val="1465729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E50BC54C-DEF7-4B6F-847A-3EC92DD239F5}"/>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D05D4644-312E-4AEE-BCB7-EFE10BA3E6AE}"/>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6F8B9799-27FF-4E2B-A856-D74192E3EE21}"/>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ERD quản lý cả hồ sơ nháp và khách hàng chính thức</a:t>
            </a:r>
          </a:p>
        </p:txBody>
      </p:sp>
      <p:sp>
        <p:nvSpPr>
          <p:cNvPr id="4" name="Rectangle 3">
            <a:extLst>
              <a:ext uri="{FF2B5EF4-FFF2-40B4-BE49-F238E27FC236}">
                <a16:creationId xmlns:a16="http://schemas.microsoft.com/office/drawing/2014/main" id="{25CEBF74-85EE-40CE-B6C8-4B318998E287}"/>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14</a:t>
            </a:r>
          </a:p>
        </p:txBody>
      </p:sp>
      <p:sp>
        <p:nvSpPr>
          <p:cNvPr id="5" name="Rectangle 4">
            <a:extLst>
              <a:ext uri="{FF2B5EF4-FFF2-40B4-BE49-F238E27FC236}">
                <a16:creationId xmlns:a16="http://schemas.microsoft.com/office/drawing/2014/main" id="{10FB3A52-B822-4A1B-81B2-F39CA33D73E0}"/>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Rounded Corners 5">
            <a:extLst>
              <a:ext uri="{FF2B5EF4-FFF2-40B4-BE49-F238E27FC236}">
                <a16:creationId xmlns:a16="http://schemas.microsoft.com/office/drawing/2014/main" id="{34E62F63-69F8-4E9E-9C19-068635608C21}"/>
              </a:ext>
            </a:extLst>
          </p:cNvPr>
          <p:cNvSpPr>
            <a:spLocks noGrp="1"/>
          </p:cNvSpPr>
          <p:nvPr/>
        </p:nvSpPr>
        <p:spPr>
          <a:xfrm>
            <a:off x="571500" y="1428750"/>
            <a:ext cx="7524750" cy="4714875"/>
          </a:xfrm>
          <a:prstGeom prst="roundRect">
            <a:avLst>
              <a:gd name="adj" fmla="val 2424"/>
            </a:avLst>
          </a:prstGeom>
          <a:solidFill>
            <a:srgbClr val="FFFFFF"/>
          </a:solidFill>
          <a:ln w="9525">
            <a:solidFill>
              <a:srgbClr val="C8D9C5"/>
            </a:solidFill>
            <a:prstDash val="solid"/>
          </a:ln>
        </p:spPr>
        <p:style>
          <a:lnRef idx="0">
            <a:scrgbClr r="0" g="0" b="0"/>
          </a:lnRef>
          <a:fillRef idx="0">
            <a:scrgbClr r="0" g="0" b="0"/>
          </a:fillRef>
          <a:effectRef idx="4">
            <a:scrgbClr r="0" g="0" b="0"/>
          </a:effectRef>
          <a:fontRef idx="major"/>
        </p:style>
      </p:sp>
      <p:pic>
        <p:nvPicPr>
          <p:cNvPr id="30" name="Picture 29"/>
          <p:cNvPicPr>
            <a:picLocks noChangeAspect="1"/>
          </p:cNvPicPr>
          <p:nvPr/>
        </p:nvPicPr>
        <p:blipFill>
          <a:blip r:embed="rId3"/>
          <a:stretch/>
        </p:blipFill>
        <p:spPr>
          <a:xfrm>
            <a:off x="1336477" y="1524000"/>
            <a:ext cx="5994797" cy="4524375"/>
          </a:xfrm>
          <a:prstGeom prst="rect">
            <a:avLst/>
          </a:prstGeom>
        </p:spPr>
      </p:pic>
      <p:sp>
        <p:nvSpPr>
          <p:cNvPr id="8" name="Rectangle 7">
            <a:extLst>
              <a:ext uri="{FF2B5EF4-FFF2-40B4-BE49-F238E27FC236}">
                <a16:creationId xmlns:a16="http://schemas.microsoft.com/office/drawing/2014/main" id="{8CBFCB45-8DC8-460C-9B08-FF0FE2567EE0}"/>
              </a:ext>
            </a:extLst>
          </p:cNvPr>
          <p:cNvSpPr>
            <a:spLocks noGrp="1"/>
          </p:cNvSpPr>
          <p:nvPr/>
        </p:nvSpPr>
        <p:spPr>
          <a:xfrm>
            <a:off x="8572500" y="1666875"/>
            <a:ext cx="2476500" cy="428625"/>
          </a:xfrm>
          <a:prstGeom prst="rect">
            <a:avLst/>
          </a:prstGeom>
          <a:noFill/>
          <a:ln w="0">
            <a:noFill/>
            <a:prstDash val="solid"/>
          </a:ln>
        </p:spPr>
        <p:txBody>
          <a:bodyPr/>
          <a:lstStyle/>
          <a:p>
            <a:pPr algn="l">
              <a:defRPr sz="2175" b="1" i="0">
                <a:solidFill>
                  <a:srgbClr val="2E5B3A"/>
                </a:solidFill>
              </a:defRPr>
            </a:pPr>
            <a:r>
              <a:rPr sz="2175" b="1" i="0">
                <a:solidFill>
                  <a:srgbClr val="2E5B3A"/>
                </a:solidFill>
              </a:rPr>
              <a:t>7 bảng chính</a:t>
            </a:r>
          </a:p>
        </p:txBody>
      </p:sp>
      <p:sp>
        <p:nvSpPr>
          <p:cNvPr id="9" name="Rectangle 8">
            <a:extLst>
              <a:ext uri="{FF2B5EF4-FFF2-40B4-BE49-F238E27FC236}">
                <a16:creationId xmlns:a16="http://schemas.microsoft.com/office/drawing/2014/main" id="{2D8278C2-7A41-42CC-BF6C-453DFE7D57F4}"/>
              </a:ext>
            </a:extLst>
          </p:cNvPr>
          <p:cNvSpPr>
            <a:spLocks noGrp="1"/>
          </p:cNvSpPr>
          <p:nvPr/>
        </p:nvSpPr>
        <p:spPr>
          <a:xfrm>
            <a:off x="8572500" y="223837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0" name="Rectangle 9">
            <a:extLst>
              <a:ext uri="{FF2B5EF4-FFF2-40B4-BE49-F238E27FC236}">
                <a16:creationId xmlns:a16="http://schemas.microsoft.com/office/drawing/2014/main" id="{8ACD3F77-514C-4A5B-A263-97B7AEC3E442}"/>
              </a:ext>
            </a:extLst>
          </p:cNvPr>
          <p:cNvSpPr>
            <a:spLocks noGrp="1"/>
          </p:cNvSpPr>
          <p:nvPr/>
        </p:nvSpPr>
        <p:spPr>
          <a:xfrm>
            <a:off x="8839200" y="223837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HoSoDangKy</a:t>
            </a:r>
          </a:p>
        </p:txBody>
      </p:sp>
      <p:sp>
        <p:nvSpPr>
          <p:cNvPr id="11" name="Rectangle 10">
            <a:extLst>
              <a:ext uri="{FF2B5EF4-FFF2-40B4-BE49-F238E27FC236}">
                <a16:creationId xmlns:a16="http://schemas.microsoft.com/office/drawing/2014/main" id="{7036FC5D-A54C-4439-9185-432AE6B23E39}"/>
              </a:ext>
            </a:extLst>
          </p:cNvPr>
          <p:cNvSpPr>
            <a:spLocks noGrp="1"/>
          </p:cNvSpPr>
          <p:nvPr/>
        </p:nvSpPr>
        <p:spPr>
          <a:xfrm>
            <a:off x="8572500" y="267652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2" name="Rectangle 11">
            <a:extLst>
              <a:ext uri="{FF2B5EF4-FFF2-40B4-BE49-F238E27FC236}">
                <a16:creationId xmlns:a16="http://schemas.microsoft.com/office/drawing/2014/main" id="{420E62CE-5BAF-4617-96C8-E8079525F450}"/>
              </a:ext>
            </a:extLst>
          </p:cNvPr>
          <p:cNvSpPr>
            <a:spLocks noGrp="1"/>
          </p:cNvSpPr>
          <p:nvPr/>
        </p:nvSpPr>
        <p:spPr>
          <a:xfrm>
            <a:off x="8839200" y="267652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LichSuOTP</a:t>
            </a:r>
          </a:p>
        </p:txBody>
      </p:sp>
      <p:sp>
        <p:nvSpPr>
          <p:cNvPr id="13" name="Rectangle 12">
            <a:extLst>
              <a:ext uri="{FF2B5EF4-FFF2-40B4-BE49-F238E27FC236}">
                <a16:creationId xmlns:a16="http://schemas.microsoft.com/office/drawing/2014/main" id="{242CD733-B60A-4B0E-BA00-40FCCBF8AE9A}"/>
              </a:ext>
            </a:extLst>
          </p:cNvPr>
          <p:cNvSpPr>
            <a:spLocks noGrp="1"/>
          </p:cNvSpPr>
          <p:nvPr/>
        </p:nvSpPr>
        <p:spPr>
          <a:xfrm>
            <a:off x="8572500" y="311467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4" name="Rectangle 13">
            <a:extLst>
              <a:ext uri="{FF2B5EF4-FFF2-40B4-BE49-F238E27FC236}">
                <a16:creationId xmlns:a16="http://schemas.microsoft.com/office/drawing/2014/main" id="{68ADC175-EC4F-4D80-8EEA-BA8110C4F106}"/>
              </a:ext>
            </a:extLst>
          </p:cNvPr>
          <p:cNvSpPr>
            <a:spLocks noGrp="1"/>
          </p:cNvSpPr>
          <p:nvPr/>
        </p:nvSpPr>
        <p:spPr>
          <a:xfrm>
            <a:off x="8839200" y="311467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LichSuXacThucEKYC</a:t>
            </a:r>
          </a:p>
        </p:txBody>
      </p:sp>
      <p:sp>
        <p:nvSpPr>
          <p:cNvPr id="15" name="Rectangle 14">
            <a:extLst>
              <a:ext uri="{FF2B5EF4-FFF2-40B4-BE49-F238E27FC236}">
                <a16:creationId xmlns:a16="http://schemas.microsoft.com/office/drawing/2014/main" id="{64BD83EE-A231-4627-AB08-07B64023A3CF}"/>
              </a:ext>
            </a:extLst>
          </p:cNvPr>
          <p:cNvSpPr>
            <a:spLocks noGrp="1"/>
          </p:cNvSpPr>
          <p:nvPr/>
        </p:nvSpPr>
        <p:spPr>
          <a:xfrm>
            <a:off x="8572500" y="355282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6" name="Rectangle 15">
            <a:extLst>
              <a:ext uri="{FF2B5EF4-FFF2-40B4-BE49-F238E27FC236}">
                <a16:creationId xmlns:a16="http://schemas.microsoft.com/office/drawing/2014/main" id="{9CA7D4AB-B244-46EA-8816-C8AA8870E70D}"/>
              </a:ext>
            </a:extLst>
          </p:cNvPr>
          <p:cNvSpPr>
            <a:spLocks noGrp="1"/>
          </p:cNvSpPr>
          <p:nvPr/>
        </p:nvSpPr>
        <p:spPr>
          <a:xfrm>
            <a:off x="8839200" y="355282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NhatKyKiemToan</a:t>
            </a:r>
          </a:p>
        </p:txBody>
      </p:sp>
      <p:sp>
        <p:nvSpPr>
          <p:cNvPr id="17" name="Rectangle 16">
            <a:extLst>
              <a:ext uri="{FF2B5EF4-FFF2-40B4-BE49-F238E27FC236}">
                <a16:creationId xmlns:a16="http://schemas.microsoft.com/office/drawing/2014/main" id="{9B28F87A-218A-4D21-8683-15BF7450B78B}"/>
              </a:ext>
            </a:extLst>
          </p:cNvPr>
          <p:cNvSpPr>
            <a:spLocks noGrp="1"/>
          </p:cNvSpPr>
          <p:nvPr/>
        </p:nvSpPr>
        <p:spPr>
          <a:xfrm>
            <a:off x="8572500" y="399097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8" name="Rectangle 17">
            <a:extLst>
              <a:ext uri="{FF2B5EF4-FFF2-40B4-BE49-F238E27FC236}">
                <a16:creationId xmlns:a16="http://schemas.microsoft.com/office/drawing/2014/main" id="{70C68B27-5158-4D72-B941-C14070F36B18}"/>
              </a:ext>
            </a:extLst>
          </p:cNvPr>
          <p:cNvSpPr>
            <a:spLocks noGrp="1"/>
          </p:cNvSpPr>
          <p:nvPr/>
        </p:nvSpPr>
        <p:spPr>
          <a:xfrm>
            <a:off x="8839200" y="399097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KhachHang</a:t>
            </a:r>
          </a:p>
        </p:txBody>
      </p:sp>
      <p:sp>
        <p:nvSpPr>
          <p:cNvPr id="19" name="Rectangle 18">
            <a:extLst>
              <a:ext uri="{FF2B5EF4-FFF2-40B4-BE49-F238E27FC236}">
                <a16:creationId xmlns:a16="http://schemas.microsoft.com/office/drawing/2014/main" id="{AA725FC4-603A-431E-941D-62E73E19B433}"/>
              </a:ext>
            </a:extLst>
          </p:cNvPr>
          <p:cNvSpPr>
            <a:spLocks noGrp="1"/>
          </p:cNvSpPr>
          <p:nvPr/>
        </p:nvSpPr>
        <p:spPr>
          <a:xfrm>
            <a:off x="8572500" y="442912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20" name="Rectangle 19">
            <a:extLst>
              <a:ext uri="{FF2B5EF4-FFF2-40B4-BE49-F238E27FC236}">
                <a16:creationId xmlns:a16="http://schemas.microsoft.com/office/drawing/2014/main" id="{0E2DFA8D-7717-4546-B12A-80DF1025BB65}"/>
              </a:ext>
            </a:extLst>
          </p:cNvPr>
          <p:cNvSpPr>
            <a:spLocks noGrp="1"/>
          </p:cNvSpPr>
          <p:nvPr/>
        </p:nvSpPr>
        <p:spPr>
          <a:xfrm>
            <a:off x="8839200" y="442912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TaiKhoan</a:t>
            </a:r>
          </a:p>
        </p:txBody>
      </p:sp>
      <p:sp>
        <p:nvSpPr>
          <p:cNvPr id="21" name="Rectangle 20">
            <a:extLst>
              <a:ext uri="{FF2B5EF4-FFF2-40B4-BE49-F238E27FC236}">
                <a16:creationId xmlns:a16="http://schemas.microsoft.com/office/drawing/2014/main" id="{6624AC9F-A961-4346-BAE8-41BDF1600D2E}"/>
              </a:ext>
            </a:extLst>
          </p:cNvPr>
          <p:cNvSpPr>
            <a:spLocks noGrp="1"/>
          </p:cNvSpPr>
          <p:nvPr/>
        </p:nvSpPr>
        <p:spPr>
          <a:xfrm>
            <a:off x="8572500" y="4867275"/>
            <a:ext cx="228600" cy="438150"/>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22" name="Rectangle 21">
            <a:extLst>
              <a:ext uri="{FF2B5EF4-FFF2-40B4-BE49-F238E27FC236}">
                <a16:creationId xmlns:a16="http://schemas.microsoft.com/office/drawing/2014/main" id="{66DAF93F-785D-449E-A909-CEE925112F6F}"/>
              </a:ext>
            </a:extLst>
          </p:cNvPr>
          <p:cNvSpPr>
            <a:spLocks noGrp="1"/>
          </p:cNvSpPr>
          <p:nvPr/>
        </p:nvSpPr>
        <p:spPr>
          <a:xfrm>
            <a:off x="8839200" y="4867275"/>
            <a:ext cx="2209800" cy="438150"/>
          </a:xfrm>
          <a:prstGeom prst="rect">
            <a:avLst/>
          </a:prstGeom>
          <a:noFill/>
          <a:ln w="0">
            <a:noFill/>
            <a:prstDash val="solid"/>
          </a:ln>
        </p:spPr>
        <p:txBody>
          <a:bodyPr/>
          <a:lstStyle/>
          <a:p>
            <a:pPr algn="l">
              <a:defRPr sz="1350" b="0" i="0">
                <a:solidFill>
                  <a:srgbClr val="183127"/>
                </a:solidFill>
              </a:defRPr>
            </a:pPr>
            <a:r>
              <a:rPr sz="1350" b="0" i="0">
                <a:solidFill>
                  <a:srgbClr val="183127"/>
                </a:solidFill>
              </a:rPr>
              <a:t>EBanking</a:t>
            </a:r>
          </a:p>
        </p:txBody>
      </p:sp>
      <p:sp>
        <p:nvSpPr>
          <p:cNvPr id="23" name="Rectangle 22">
            <a:extLst>
              <a:ext uri="{FF2B5EF4-FFF2-40B4-BE49-F238E27FC236}">
                <a16:creationId xmlns:a16="http://schemas.microsoft.com/office/drawing/2014/main" id="{D679BE68-5EE5-4CE5-A877-D399D824F32E}"/>
              </a:ext>
            </a:extLst>
          </p:cNvPr>
          <p:cNvSpPr>
            <a:spLocks noGrp="1"/>
          </p:cNvSpPr>
          <p:nvPr/>
        </p:nvSpPr>
        <p:spPr>
          <a:xfrm>
            <a:off x="8334375" y="5572125"/>
            <a:ext cx="2952750" cy="666750"/>
          </a:xfrm>
          <a:prstGeom prst="rect">
            <a:avLst/>
          </a:prstGeom>
          <a:noFill/>
          <a:ln w="0">
            <a:noFill/>
            <a:prstDash val="solid"/>
          </a:ln>
        </p:spPr>
        <p:txBody>
          <a:bodyPr/>
          <a:lstStyle/>
          <a:p>
            <a:pPr algn="ctr">
              <a:defRPr sz="1350" b="1" i="0">
                <a:solidFill>
                  <a:srgbClr val="294C64"/>
                </a:solidFill>
              </a:defRPr>
            </a:pPr>
            <a:endParaRPr sz="1350" b="1" i="0" dirty="0">
              <a:solidFill>
                <a:srgbClr val="294C64"/>
              </a:solidFill>
            </a:endParaRPr>
          </a:p>
        </p:txBody>
      </p:sp>
    </p:spTree>
    <p:extLst>
      <p:ext uri="{BB962C8B-B14F-4D97-AF65-F5344CB8AC3E}">
        <p14:creationId xmlns:p14="http://schemas.microsoft.com/office/powerpoint/2010/main" val="1627992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606401B3-A97C-4226-B041-346F3AA6A503}"/>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C4430FC0-824A-4A6B-A5D4-C4EEB97CAC75}"/>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934374D5-2243-4F49-BE0E-84603A790AF5}"/>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API, dữ liệu và bảo mật được thiết kế đồng bộ</a:t>
            </a:r>
          </a:p>
        </p:txBody>
      </p:sp>
      <p:sp>
        <p:nvSpPr>
          <p:cNvPr id="4" name="Rectangle 3">
            <a:extLst>
              <a:ext uri="{FF2B5EF4-FFF2-40B4-BE49-F238E27FC236}">
                <a16:creationId xmlns:a16="http://schemas.microsoft.com/office/drawing/2014/main" id="{F39BB611-B219-4C0D-A781-44F27169DFCD}"/>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15</a:t>
            </a:r>
          </a:p>
        </p:txBody>
      </p:sp>
      <p:sp>
        <p:nvSpPr>
          <p:cNvPr id="5" name="Rectangle 4">
            <a:extLst>
              <a:ext uri="{FF2B5EF4-FFF2-40B4-BE49-F238E27FC236}">
                <a16:creationId xmlns:a16="http://schemas.microsoft.com/office/drawing/2014/main" id="{2A10B687-395A-4EFB-A605-F6F6EFE830F8}"/>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6" name="Rectangle 5">
            <a:extLst>
              <a:ext uri="{FF2B5EF4-FFF2-40B4-BE49-F238E27FC236}">
                <a16:creationId xmlns:a16="http://schemas.microsoft.com/office/drawing/2014/main" id="{0B506484-2DC7-4B49-B5BE-471E0E5B066B}"/>
              </a:ext>
            </a:extLst>
          </p:cNvPr>
          <p:cNvSpPr>
            <a:spLocks noGrp="1"/>
          </p:cNvSpPr>
          <p:nvPr/>
        </p:nvSpPr>
        <p:spPr>
          <a:xfrm>
            <a:off x="714375" y="1571625"/>
            <a:ext cx="2476500" cy="2857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API CONTRACT</a:t>
            </a:r>
          </a:p>
        </p:txBody>
      </p:sp>
      <p:sp>
        <p:nvSpPr>
          <p:cNvPr id="7" name="Rectangle 6">
            <a:extLst>
              <a:ext uri="{FF2B5EF4-FFF2-40B4-BE49-F238E27FC236}">
                <a16:creationId xmlns:a16="http://schemas.microsoft.com/office/drawing/2014/main" id="{6081E51C-FA7D-4764-A456-81F543FC077B}"/>
              </a:ext>
            </a:extLst>
          </p:cNvPr>
          <p:cNvSpPr>
            <a:spLocks noGrp="1"/>
          </p:cNvSpPr>
          <p:nvPr/>
        </p:nvSpPr>
        <p:spPr>
          <a:xfrm>
            <a:off x="714375" y="2000250"/>
            <a:ext cx="3143250" cy="428625"/>
          </a:xfrm>
          <a:prstGeom prst="rect">
            <a:avLst/>
          </a:prstGeom>
          <a:noFill/>
          <a:ln w="0">
            <a:noFill/>
            <a:prstDash val="solid"/>
          </a:ln>
        </p:spPr>
        <p:txBody>
          <a:bodyPr/>
          <a:lstStyle/>
          <a:p>
            <a:pPr algn="l">
              <a:defRPr sz="2175" b="1" i="0">
                <a:solidFill>
                  <a:srgbClr val="193B2B"/>
                </a:solidFill>
              </a:defRPr>
            </a:pPr>
            <a:r>
              <a:rPr sz="2175" b="1" i="0">
                <a:solidFill>
                  <a:srgbClr val="193B2B"/>
                </a:solidFill>
              </a:rPr>
              <a:t>8 API Bank Backend</a:t>
            </a:r>
          </a:p>
        </p:txBody>
      </p:sp>
      <p:sp>
        <p:nvSpPr>
          <p:cNvPr id="8" name="Rectangle 7">
            <a:extLst>
              <a:ext uri="{FF2B5EF4-FFF2-40B4-BE49-F238E27FC236}">
                <a16:creationId xmlns:a16="http://schemas.microsoft.com/office/drawing/2014/main" id="{3AE936A6-2465-4A2C-86B2-E4279F654A4E}"/>
              </a:ext>
            </a:extLst>
          </p:cNvPr>
          <p:cNvSpPr>
            <a:spLocks noGrp="1"/>
          </p:cNvSpPr>
          <p:nvPr/>
        </p:nvSpPr>
        <p:spPr>
          <a:xfrm>
            <a:off x="714375" y="2524125"/>
            <a:ext cx="3238500" cy="142875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Gửi/xác thực OTP, ảnh CCCD, ảnh khuôn mặt, trạng thái, bổ sung thông tin, gửi hồ sơ và thiết lập eBanking.</a:t>
            </a:r>
          </a:p>
        </p:txBody>
      </p:sp>
      <p:sp>
        <p:nvSpPr>
          <p:cNvPr id="9" name="Rectangle 8">
            <a:extLst>
              <a:ext uri="{FF2B5EF4-FFF2-40B4-BE49-F238E27FC236}">
                <a16:creationId xmlns:a16="http://schemas.microsoft.com/office/drawing/2014/main" id="{D56B7B17-AC42-410F-8C98-4FB4198858D0}"/>
              </a:ext>
            </a:extLst>
          </p:cNvPr>
          <p:cNvSpPr>
            <a:spLocks noGrp="1"/>
          </p:cNvSpPr>
          <p:nvPr/>
        </p:nvSpPr>
        <p:spPr>
          <a:xfrm>
            <a:off x="714375" y="4191000"/>
            <a:ext cx="3143250" cy="428625"/>
          </a:xfrm>
          <a:prstGeom prst="rect">
            <a:avLst/>
          </a:prstGeom>
          <a:noFill/>
          <a:ln w="0">
            <a:noFill/>
            <a:prstDash val="solid"/>
          </a:ln>
        </p:spPr>
        <p:txBody>
          <a:bodyPr/>
          <a:lstStyle/>
          <a:p>
            <a:pPr algn="l">
              <a:defRPr sz="2175" b="1" i="0">
                <a:solidFill>
                  <a:srgbClr val="193B2B"/>
                </a:solidFill>
              </a:defRPr>
            </a:pPr>
            <a:r>
              <a:rPr sz="2175" b="1" i="0">
                <a:solidFill>
                  <a:srgbClr val="193B2B"/>
                </a:solidFill>
              </a:rPr>
              <a:t>2 API eKYC Vendor</a:t>
            </a:r>
          </a:p>
        </p:txBody>
      </p:sp>
      <p:sp>
        <p:nvSpPr>
          <p:cNvPr id="10" name="Rectangle 9">
            <a:extLst>
              <a:ext uri="{FF2B5EF4-FFF2-40B4-BE49-F238E27FC236}">
                <a16:creationId xmlns:a16="http://schemas.microsoft.com/office/drawing/2014/main" id="{79FBA27D-12B0-4A6F-9360-3DDB52FFA6D5}"/>
              </a:ext>
            </a:extLst>
          </p:cNvPr>
          <p:cNvSpPr>
            <a:spLocks noGrp="1"/>
          </p:cNvSpPr>
          <p:nvPr/>
        </p:nvSpPr>
        <p:spPr>
          <a:xfrm>
            <a:off x="714375" y="4714875"/>
            <a:ext cx="3238500" cy="1143000"/>
          </a:xfrm>
          <a:prstGeom prst="rect">
            <a:avLst/>
          </a:prstGeom>
          <a:noFill/>
          <a:ln w="0">
            <a:noFill/>
            <a:prstDash val="solid"/>
          </a:ln>
        </p:spPr>
        <p:txBody>
          <a:bodyPr/>
          <a:lstStyle/>
          <a:p>
            <a:pPr algn="l">
              <a:defRPr sz="1425" b="0" i="0">
                <a:solidFill>
                  <a:srgbClr val="183127"/>
                </a:solidFill>
              </a:defRPr>
            </a:pPr>
            <a:r>
              <a:rPr sz="1425" b="0" i="0">
                <a:solidFill>
                  <a:srgbClr val="183127"/>
                </a:solidFill>
              </a:rPr>
              <a:t>OCR và Face Matching/Liveness - đặc tả contract để tích hợp, cần vendor xác nhận trước phát triển.</a:t>
            </a:r>
          </a:p>
        </p:txBody>
      </p:sp>
      <p:sp>
        <p:nvSpPr>
          <p:cNvPr id="11" name="Straight Connector 10">
            <a:extLst>
              <a:ext uri="{FF2B5EF4-FFF2-40B4-BE49-F238E27FC236}">
                <a16:creationId xmlns:a16="http://schemas.microsoft.com/office/drawing/2014/main" id="{1609969A-73FB-4DCE-8DB3-E3D769DED49D}"/>
              </a:ext>
            </a:extLst>
          </p:cNvPr>
          <p:cNvSpPr>
            <a:spLocks noGrp="1"/>
          </p:cNvSpPr>
          <p:nvPr/>
        </p:nvSpPr>
        <p:spPr>
          <a:xfrm>
            <a:off x="4333875" y="1619250"/>
            <a:ext cx="9525" cy="9525"/>
          </a:xfrm>
          <a:prstGeom prst="line">
            <a:avLst/>
          </a:prstGeom>
          <a:noFill/>
          <a:ln w="9525">
            <a:solidFill>
              <a:srgbClr val="C8D9C5"/>
            </a:solidFill>
            <a:prstDash val="solid"/>
          </a:ln>
        </p:spPr>
      </p:sp>
      <p:sp>
        <p:nvSpPr>
          <p:cNvPr id="12" name="Rectangle 11">
            <a:extLst>
              <a:ext uri="{FF2B5EF4-FFF2-40B4-BE49-F238E27FC236}">
                <a16:creationId xmlns:a16="http://schemas.microsoft.com/office/drawing/2014/main" id="{7291C67C-77CC-4662-A6AC-1E35FB0B6127}"/>
              </a:ext>
            </a:extLst>
          </p:cNvPr>
          <p:cNvSpPr>
            <a:spLocks noGrp="1"/>
          </p:cNvSpPr>
          <p:nvPr/>
        </p:nvSpPr>
        <p:spPr>
          <a:xfrm>
            <a:off x="4762500" y="1571625"/>
            <a:ext cx="2190750" cy="2857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DỮ LIỆU</a:t>
            </a:r>
          </a:p>
        </p:txBody>
      </p:sp>
      <p:sp>
        <p:nvSpPr>
          <p:cNvPr id="13" name="Rectangle 12">
            <a:extLst>
              <a:ext uri="{FF2B5EF4-FFF2-40B4-BE49-F238E27FC236}">
                <a16:creationId xmlns:a16="http://schemas.microsoft.com/office/drawing/2014/main" id="{38081E5D-4A09-48D1-B0D9-D090C8BDDA07}"/>
              </a:ext>
            </a:extLst>
          </p:cNvPr>
          <p:cNvSpPr>
            <a:spLocks noGrp="1"/>
          </p:cNvSpPr>
          <p:nvPr/>
        </p:nvSpPr>
        <p:spPr>
          <a:xfrm>
            <a:off x="4762500" y="2095500"/>
            <a:ext cx="228600" cy="638175"/>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4" name="Rectangle 13">
            <a:extLst>
              <a:ext uri="{FF2B5EF4-FFF2-40B4-BE49-F238E27FC236}">
                <a16:creationId xmlns:a16="http://schemas.microsoft.com/office/drawing/2014/main" id="{8CEDCC55-AC87-418A-91ED-D8E7F743DAFB}"/>
              </a:ext>
            </a:extLst>
          </p:cNvPr>
          <p:cNvSpPr>
            <a:spLocks noGrp="1"/>
          </p:cNvSpPr>
          <p:nvPr/>
        </p:nvSpPr>
        <p:spPr>
          <a:xfrm>
            <a:off x="5029200" y="2095500"/>
            <a:ext cx="2686050" cy="638175"/>
          </a:xfrm>
          <a:prstGeom prst="rect">
            <a:avLst/>
          </a:prstGeom>
          <a:noFill/>
          <a:ln w="0">
            <a:noFill/>
            <a:prstDash val="solid"/>
          </a:ln>
        </p:spPr>
        <p:txBody>
          <a:bodyPr/>
          <a:lstStyle/>
          <a:p>
            <a:pPr algn="l">
              <a:defRPr sz="1350" b="0" i="0">
                <a:solidFill>
                  <a:srgbClr val="183127"/>
                </a:solidFill>
              </a:defRPr>
            </a:pPr>
            <a:r>
              <a:rPr sz="1350" b="0" i="0">
                <a:solidFill>
                  <a:srgbClr val="183127"/>
                </a:solidFill>
              </a:rPr>
              <a:t>Hồ sơ nháp được tạo ngay từ SĐT</a:t>
            </a:r>
          </a:p>
        </p:txBody>
      </p:sp>
      <p:sp>
        <p:nvSpPr>
          <p:cNvPr id="15" name="Rectangle 14">
            <a:extLst>
              <a:ext uri="{FF2B5EF4-FFF2-40B4-BE49-F238E27FC236}">
                <a16:creationId xmlns:a16="http://schemas.microsoft.com/office/drawing/2014/main" id="{536A6CEC-4F49-4241-9AF3-CD54FDA07B3A}"/>
              </a:ext>
            </a:extLst>
          </p:cNvPr>
          <p:cNvSpPr>
            <a:spLocks noGrp="1"/>
          </p:cNvSpPr>
          <p:nvPr/>
        </p:nvSpPr>
        <p:spPr>
          <a:xfrm>
            <a:off x="4762500" y="2733675"/>
            <a:ext cx="228600" cy="638175"/>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6" name="Rectangle 15">
            <a:extLst>
              <a:ext uri="{FF2B5EF4-FFF2-40B4-BE49-F238E27FC236}">
                <a16:creationId xmlns:a16="http://schemas.microsoft.com/office/drawing/2014/main" id="{9CEC32D9-206A-408E-A28E-CD9FA13F6484}"/>
              </a:ext>
            </a:extLst>
          </p:cNvPr>
          <p:cNvSpPr>
            <a:spLocks noGrp="1"/>
          </p:cNvSpPr>
          <p:nvPr/>
        </p:nvSpPr>
        <p:spPr>
          <a:xfrm>
            <a:off x="5029200" y="2733675"/>
            <a:ext cx="2686050" cy="638175"/>
          </a:xfrm>
          <a:prstGeom prst="rect">
            <a:avLst/>
          </a:prstGeom>
          <a:noFill/>
          <a:ln w="0">
            <a:noFill/>
            <a:prstDash val="solid"/>
          </a:ln>
        </p:spPr>
        <p:txBody>
          <a:bodyPr/>
          <a:lstStyle/>
          <a:p>
            <a:pPr algn="l">
              <a:defRPr sz="1350" b="0" i="0">
                <a:solidFill>
                  <a:srgbClr val="183127"/>
                </a:solidFill>
              </a:defRPr>
            </a:pPr>
            <a:r>
              <a:rPr sz="1350" b="0" i="0">
                <a:solidFill>
                  <a:srgbClr val="183127"/>
                </a:solidFill>
              </a:rPr>
              <a:t>OCR tự điền thông tin CCCD</a:t>
            </a:r>
          </a:p>
        </p:txBody>
      </p:sp>
      <p:sp>
        <p:nvSpPr>
          <p:cNvPr id="17" name="Rectangle 16">
            <a:extLst>
              <a:ext uri="{FF2B5EF4-FFF2-40B4-BE49-F238E27FC236}">
                <a16:creationId xmlns:a16="http://schemas.microsoft.com/office/drawing/2014/main" id="{0C024E22-7045-43AF-A0CB-4DAF75339B20}"/>
              </a:ext>
            </a:extLst>
          </p:cNvPr>
          <p:cNvSpPr>
            <a:spLocks noGrp="1"/>
          </p:cNvSpPr>
          <p:nvPr/>
        </p:nvSpPr>
        <p:spPr>
          <a:xfrm>
            <a:off x="4762500" y="3371850"/>
            <a:ext cx="228600" cy="638175"/>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18" name="Rectangle 17">
            <a:extLst>
              <a:ext uri="{FF2B5EF4-FFF2-40B4-BE49-F238E27FC236}">
                <a16:creationId xmlns:a16="http://schemas.microsoft.com/office/drawing/2014/main" id="{D9912574-44E1-422B-8650-BDBE100C45DF}"/>
              </a:ext>
            </a:extLst>
          </p:cNvPr>
          <p:cNvSpPr>
            <a:spLocks noGrp="1"/>
          </p:cNvSpPr>
          <p:nvPr/>
        </p:nvSpPr>
        <p:spPr>
          <a:xfrm>
            <a:off x="5029200" y="3371850"/>
            <a:ext cx="2686050" cy="638175"/>
          </a:xfrm>
          <a:prstGeom prst="rect">
            <a:avLst/>
          </a:prstGeom>
          <a:noFill/>
          <a:ln w="0">
            <a:noFill/>
            <a:prstDash val="solid"/>
          </a:ln>
        </p:spPr>
        <p:txBody>
          <a:bodyPr/>
          <a:lstStyle/>
          <a:p>
            <a:pPr algn="l">
              <a:defRPr sz="1350" b="0" i="0">
                <a:solidFill>
                  <a:srgbClr val="183127"/>
                </a:solidFill>
              </a:defRPr>
            </a:pPr>
            <a:r>
              <a:rPr sz="1350" b="0" i="0">
                <a:solidFill>
                  <a:srgbClr val="183127"/>
                </a:solidFill>
              </a:rPr>
              <a:t>LanThu dùng chung cho OCR/Face</a:t>
            </a:r>
          </a:p>
        </p:txBody>
      </p:sp>
      <p:sp>
        <p:nvSpPr>
          <p:cNvPr id="19" name="Rectangle 18">
            <a:extLst>
              <a:ext uri="{FF2B5EF4-FFF2-40B4-BE49-F238E27FC236}">
                <a16:creationId xmlns:a16="http://schemas.microsoft.com/office/drawing/2014/main" id="{33AE4A17-5C99-4E38-BD36-DEBD41BF9E55}"/>
              </a:ext>
            </a:extLst>
          </p:cNvPr>
          <p:cNvSpPr>
            <a:spLocks noGrp="1"/>
          </p:cNvSpPr>
          <p:nvPr/>
        </p:nvSpPr>
        <p:spPr>
          <a:xfrm>
            <a:off x="4762500" y="4010025"/>
            <a:ext cx="228600" cy="638175"/>
          </a:xfrm>
          <a:prstGeom prst="rect">
            <a:avLst/>
          </a:prstGeom>
          <a:noFill/>
          <a:ln w="0">
            <a:noFill/>
            <a:prstDash val="solid"/>
          </a:ln>
        </p:spPr>
        <p:txBody>
          <a:bodyPr/>
          <a:lstStyle/>
          <a:p>
            <a:pPr algn="l">
              <a:defRPr sz="1350" b="1" i="0">
                <a:solidFill>
                  <a:srgbClr val="6B9A6E"/>
                </a:solidFill>
              </a:defRPr>
            </a:pPr>
            <a:r>
              <a:rPr sz="1350" b="1" i="0">
                <a:solidFill>
                  <a:srgbClr val="6B9A6E"/>
                </a:solidFill>
              </a:rPr>
              <a:t>•</a:t>
            </a:r>
          </a:p>
        </p:txBody>
      </p:sp>
      <p:sp>
        <p:nvSpPr>
          <p:cNvPr id="20" name="Rectangle 19">
            <a:extLst>
              <a:ext uri="{FF2B5EF4-FFF2-40B4-BE49-F238E27FC236}">
                <a16:creationId xmlns:a16="http://schemas.microsoft.com/office/drawing/2014/main" id="{3D004EE1-5C80-40D1-A63F-35C133A98C62}"/>
              </a:ext>
            </a:extLst>
          </p:cNvPr>
          <p:cNvSpPr>
            <a:spLocks noGrp="1"/>
          </p:cNvSpPr>
          <p:nvPr/>
        </p:nvSpPr>
        <p:spPr>
          <a:xfrm>
            <a:off x="5029200" y="4010025"/>
            <a:ext cx="2686050" cy="638175"/>
          </a:xfrm>
          <a:prstGeom prst="rect">
            <a:avLst/>
          </a:prstGeom>
          <a:noFill/>
          <a:ln w="0">
            <a:noFill/>
            <a:prstDash val="solid"/>
          </a:ln>
        </p:spPr>
        <p:txBody>
          <a:bodyPr/>
          <a:lstStyle/>
          <a:p>
            <a:pPr algn="l">
              <a:defRPr sz="1350" b="0" i="0">
                <a:solidFill>
                  <a:srgbClr val="183127"/>
                </a:solidFill>
              </a:defRPr>
            </a:pPr>
            <a:r>
              <a:rPr sz="1350" b="0" i="0">
                <a:solidFill>
                  <a:srgbClr val="183127"/>
                </a:solidFill>
              </a:rPr>
              <a:t>Audit log theo dõi thay đổi quan trọng</a:t>
            </a:r>
          </a:p>
        </p:txBody>
      </p:sp>
      <p:sp>
        <p:nvSpPr>
          <p:cNvPr id="21" name="Straight Connector 20">
            <a:extLst>
              <a:ext uri="{FF2B5EF4-FFF2-40B4-BE49-F238E27FC236}">
                <a16:creationId xmlns:a16="http://schemas.microsoft.com/office/drawing/2014/main" id="{203F2FE2-9284-4FB8-B68E-3DC5E67C42AF}"/>
              </a:ext>
            </a:extLst>
          </p:cNvPr>
          <p:cNvSpPr>
            <a:spLocks noGrp="1"/>
          </p:cNvSpPr>
          <p:nvPr/>
        </p:nvSpPr>
        <p:spPr>
          <a:xfrm>
            <a:off x="7953375" y="1619250"/>
            <a:ext cx="9525" cy="9525"/>
          </a:xfrm>
          <a:prstGeom prst="line">
            <a:avLst/>
          </a:prstGeom>
          <a:noFill/>
          <a:ln w="9525">
            <a:solidFill>
              <a:srgbClr val="C8D9C5"/>
            </a:solidFill>
            <a:prstDash val="solid"/>
          </a:ln>
        </p:spPr>
      </p:sp>
      <p:sp>
        <p:nvSpPr>
          <p:cNvPr id="22" name="Rectangle 21">
            <a:extLst>
              <a:ext uri="{FF2B5EF4-FFF2-40B4-BE49-F238E27FC236}">
                <a16:creationId xmlns:a16="http://schemas.microsoft.com/office/drawing/2014/main" id="{1AE586CA-614C-4473-B05D-491FB1139C33}"/>
              </a:ext>
            </a:extLst>
          </p:cNvPr>
          <p:cNvSpPr>
            <a:spLocks noGrp="1"/>
          </p:cNvSpPr>
          <p:nvPr/>
        </p:nvSpPr>
        <p:spPr>
          <a:xfrm>
            <a:off x="8382000" y="1571625"/>
            <a:ext cx="2190750" cy="285750"/>
          </a:xfrm>
          <a:prstGeom prst="rect">
            <a:avLst/>
          </a:prstGeom>
          <a:noFill/>
          <a:ln w="0">
            <a:noFill/>
            <a:prstDash val="solid"/>
          </a:ln>
        </p:spPr>
        <p:txBody>
          <a:bodyPr/>
          <a:lstStyle/>
          <a:p>
            <a:pPr algn="l">
              <a:defRPr sz="1425" b="1" i="0">
                <a:solidFill>
                  <a:srgbClr val="6B9A6E"/>
                </a:solidFill>
              </a:defRPr>
            </a:pPr>
            <a:r>
              <a:rPr sz="1425" b="1" i="0">
                <a:solidFill>
                  <a:srgbClr val="6B9A6E"/>
                </a:solidFill>
              </a:rPr>
              <a:t>BẢO MẬT</a:t>
            </a:r>
          </a:p>
        </p:txBody>
      </p:sp>
      <p:sp>
        <p:nvSpPr>
          <p:cNvPr id="23" name="Rectangle 22">
            <a:extLst>
              <a:ext uri="{FF2B5EF4-FFF2-40B4-BE49-F238E27FC236}">
                <a16:creationId xmlns:a16="http://schemas.microsoft.com/office/drawing/2014/main" id="{7293BBB4-C830-448C-A49A-9DD999142905}"/>
              </a:ext>
            </a:extLst>
          </p:cNvPr>
          <p:cNvSpPr>
            <a:spLocks noGrp="1"/>
          </p:cNvSpPr>
          <p:nvPr/>
        </p:nvSpPr>
        <p:spPr>
          <a:xfrm>
            <a:off x="8382000" y="2095500"/>
            <a:ext cx="2667000" cy="685800"/>
          </a:xfrm>
          <a:prstGeom prst="rect">
            <a:avLst/>
          </a:prstGeom>
          <a:noFill/>
          <a:ln w="0">
            <a:noFill/>
            <a:prstDash val="solid"/>
          </a:ln>
        </p:spPr>
        <p:txBody>
          <a:bodyPr/>
          <a:lstStyle/>
          <a:p>
            <a:pPr algn="ctr">
              <a:defRPr sz="4050" b="1" i="0">
                <a:solidFill>
                  <a:srgbClr val="2E5B3A"/>
                </a:solidFill>
              </a:defRPr>
            </a:pPr>
            <a:r>
              <a:rPr sz="4050" b="1" i="0">
                <a:solidFill>
                  <a:srgbClr val="2E5B3A"/>
                </a:solidFill>
              </a:rPr>
              <a:t>AES-256</a:t>
            </a:r>
          </a:p>
        </p:txBody>
      </p:sp>
      <p:sp>
        <p:nvSpPr>
          <p:cNvPr id="24" name="Rectangle 23">
            <a:extLst>
              <a:ext uri="{FF2B5EF4-FFF2-40B4-BE49-F238E27FC236}">
                <a16:creationId xmlns:a16="http://schemas.microsoft.com/office/drawing/2014/main" id="{5A0DC18D-414B-4C0D-B83E-3FDE205FFDD6}"/>
              </a:ext>
            </a:extLst>
          </p:cNvPr>
          <p:cNvSpPr>
            <a:spLocks noGrp="1"/>
          </p:cNvSpPr>
          <p:nvPr/>
        </p:nvSpPr>
        <p:spPr>
          <a:xfrm>
            <a:off x="8477250" y="2781300"/>
            <a:ext cx="247650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Mã hóa dữ liệu sinh trắc học</a:t>
            </a:r>
          </a:p>
        </p:txBody>
      </p:sp>
      <p:sp>
        <p:nvSpPr>
          <p:cNvPr id="25" name="Rectangle 24">
            <a:extLst>
              <a:ext uri="{FF2B5EF4-FFF2-40B4-BE49-F238E27FC236}">
                <a16:creationId xmlns:a16="http://schemas.microsoft.com/office/drawing/2014/main" id="{76373BB6-FB88-43D7-AF1E-CB02D79DFB31}"/>
              </a:ext>
            </a:extLst>
          </p:cNvPr>
          <p:cNvSpPr>
            <a:spLocks noGrp="1"/>
          </p:cNvSpPr>
          <p:nvPr/>
        </p:nvSpPr>
        <p:spPr>
          <a:xfrm>
            <a:off x="8382000" y="3714750"/>
            <a:ext cx="2667000" cy="685800"/>
          </a:xfrm>
          <a:prstGeom prst="rect">
            <a:avLst/>
          </a:prstGeom>
          <a:noFill/>
          <a:ln w="0">
            <a:noFill/>
            <a:prstDash val="solid"/>
          </a:ln>
        </p:spPr>
        <p:txBody>
          <a:bodyPr/>
          <a:lstStyle/>
          <a:p>
            <a:pPr algn="ctr">
              <a:defRPr sz="4050" b="1" i="0">
                <a:solidFill>
                  <a:srgbClr val="294C64"/>
                </a:solidFill>
              </a:defRPr>
            </a:pPr>
            <a:r>
              <a:rPr sz="4050" b="1" i="0">
                <a:solidFill>
                  <a:srgbClr val="294C64"/>
                </a:solidFill>
              </a:rPr>
              <a:t>bcrypt</a:t>
            </a:r>
          </a:p>
        </p:txBody>
      </p:sp>
      <p:sp>
        <p:nvSpPr>
          <p:cNvPr id="26" name="Rectangle 25">
            <a:extLst>
              <a:ext uri="{FF2B5EF4-FFF2-40B4-BE49-F238E27FC236}">
                <a16:creationId xmlns:a16="http://schemas.microsoft.com/office/drawing/2014/main" id="{61486786-3511-436E-95FC-EC74AC17F7FA}"/>
              </a:ext>
            </a:extLst>
          </p:cNvPr>
          <p:cNvSpPr>
            <a:spLocks noGrp="1"/>
          </p:cNvSpPr>
          <p:nvPr/>
        </p:nvSpPr>
        <p:spPr>
          <a:xfrm>
            <a:off x="8477250" y="4400550"/>
            <a:ext cx="2476500" cy="533400"/>
          </a:xfrm>
          <a:prstGeom prst="rect">
            <a:avLst/>
          </a:prstGeom>
          <a:noFill/>
          <a:ln w="0">
            <a:noFill/>
            <a:prstDash val="solid"/>
          </a:ln>
        </p:spPr>
        <p:txBody>
          <a:bodyPr/>
          <a:lstStyle/>
          <a:p>
            <a:pPr algn="ctr">
              <a:defRPr sz="1275" b="0" i="0">
                <a:solidFill>
                  <a:srgbClr val="65756B"/>
                </a:solidFill>
              </a:defRPr>
            </a:pPr>
            <a:r>
              <a:rPr sz="1275" b="0" i="0">
                <a:solidFill>
                  <a:srgbClr val="65756B"/>
                </a:solidFill>
              </a:rPr>
              <a:t>Hash mật khẩu và mã PIN</a:t>
            </a:r>
          </a:p>
        </p:txBody>
      </p:sp>
      <p:sp>
        <p:nvSpPr>
          <p:cNvPr id="27" name="Rectangle 26">
            <a:extLst>
              <a:ext uri="{FF2B5EF4-FFF2-40B4-BE49-F238E27FC236}">
                <a16:creationId xmlns:a16="http://schemas.microsoft.com/office/drawing/2014/main" id="{67BD62AB-DA74-412C-9444-7F760AC11011}"/>
              </a:ext>
            </a:extLst>
          </p:cNvPr>
          <p:cNvSpPr>
            <a:spLocks noGrp="1"/>
          </p:cNvSpPr>
          <p:nvPr/>
        </p:nvSpPr>
        <p:spPr>
          <a:xfrm>
            <a:off x="8382000" y="5334000"/>
            <a:ext cx="2667000" cy="666750"/>
          </a:xfrm>
          <a:prstGeom prst="rect">
            <a:avLst/>
          </a:prstGeom>
          <a:noFill/>
          <a:ln w="0">
            <a:noFill/>
            <a:prstDash val="solid"/>
          </a:ln>
        </p:spPr>
        <p:txBody>
          <a:bodyPr/>
          <a:lstStyle/>
          <a:p>
            <a:pPr algn="ctr">
              <a:defRPr sz="1350" b="0" i="0">
                <a:solidFill>
                  <a:srgbClr val="183127"/>
                </a:solidFill>
              </a:defRPr>
            </a:pPr>
            <a:r>
              <a:rPr sz="1350" b="0" i="0">
                <a:solidFill>
                  <a:srgbClr val="183127"/>
                </a:solidFill>
              </a:rPr>
              <a:t>Không lưu plaintext và không ghi dữ liệu nhạy cảm vào log.</a:t>
            </a:r>
          </a:p>
        </p:txBody>
      </p:sp>
    </p:spTree>
    <p:extLst>
      <p:ext uri="{BB962C8B-B14F-4D97-AF65-F5344CB8AC3E}">
        <p14:creationId xmlns:p14="http://schemas.microsoft.com/office/powerpoint/2010/main" val="1438296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DE3DF8A5-595E-45E4-B7EC-900356937947}"/>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8A4E228B-9ABD-4265-A953-BBB76AFFCFCF}"/>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5493EB37-4594-4809-B7BF-2D3261807CCB}"/>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Wireframe chuyển yêu cầu thành màn hình</a:t>
            </a:r>
          </a:p>
        </p:txBody>
      </p:sp>
      <p:sp>
        <p:nvSpPr>
          <p:cNvPr id="4" name="Rectangle 3">
            <a:extLst>
              <a:ext uri="{FF2B5EF4-FFF2-40B4-BE49-F238E27FC236}">
                <a16:creationId xmlns:a16="http://schemas.microsoft.com/office/drawing/2014/main" id="{C159D40A-F370-47AD-81FC-231B33534FAD}"/>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a:solidFill>
                  <a:srgbClr val="65756B"/>
                </a:solidFill>
              </a:rPr>
              <a:t>16</a:t>
            </a:r>
          </a:p>
        </p:txBody>
      </p:sp>
      <p:sp>
        <p:nvSpPr>
          <p:cNvPr id="5" name="Rectangle 4">
            <a:extLst>
              <a:ext uri="{FF2B5EF4-FFF2-40B4-BE49-F238E27FC236}">
                <a16:creationId xmlns:a16="http://schemas.microsoft.com/office/drawing/2014/main" id="{BA14E16E-3EE3-4C1F-8775-7EAD44F989D0}"/>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15" name="Rectangle 14">
            <a:extLst>
              <a:ext uri="{FF2B5EF4-FFF2-40B4-BE49-F238E27FC236}">
                <a16:creationId xmlns:a16="http://schemas.microsoft.com/office/drawing/2014/main" id="{A10D66D3-7D47-49F3-8F03-554AEC810E30}"/>
              </a:ext>
            </a:extLst>
          </p:cNvPr>
          <p:cNvSpPr>
            <a:spLocks noGrp="1"/>
          </p:cNvSpPr>
          <p:nvPr/>
        </p:nvSpPr>
        <p:spPr>
          <a:xfrm>
            <a:off x="1824317" y="6172200"/>
            <a:ext cx="8382000" cy="361950"/>
          </a:xfrm>
          <a:prstGeom prst="rect">
            <a:avLst/>
          </a:prstGeom>
          <a:noFill/>
          <a:ln w="0">
            <a:noFill/>
            <a:prstDash val="solid"/>
          </a:ln>
        </p:spPr>
        <p:txBody>
          <a:bodyPr/>
          <a:lstStyle/>
          <a:p>
            <a:pPr algn="ctr">
              <a:defRPr sz="1425" b="0" i="1">
                <a:solidFill>
                  <a:srgbClr val="65756B"/>
                </a:solidFill>
              </a:defRPr>
            </a:pPr>
            <a:r>
              <a:rPr sz="1425" b="0" i="1" dirty="0">
                <a:solidFill>
                  <a:srgbClr val="65756B"/>
                </a:solidFill>
              </a:rPr>
              <a:t>Công </a:t>
            </a:r>
            <a:r>
              <a:rPr sz="1425" b="0" i="1" dirty="0" err="1">
                <a:solidFill>
                  <a:srgbClr val="65756B"/>
                </a:solidFill>
              </a:rPr>
              <a:t>cụ</a:t>
            </a:r>
            <a:r>
              <a:rPr sz="1425" b="0" i="1" dirty="0">
                <a:solidFill>
                  <a:srgbClr val="65756B"/>
                </a:solidFill>
              </a:rPr>
              <a:t> </a:t>
            </a:r>
            <a:r>
              <a:rPr sz="1425" b="0" i="1" dirty="0" err="1">
                <a:solidFill>
                  <a:srgbClr val="65756B"/>
                </a:solidFill>
              </a:rPr>
              <a:t>thiết</a:t>
            </a:r>
            <a:r>
              <a:rPr sz="1425" b="0" i="1" dirty="0">
                <a:solidFill>
                  <a:srgbClr val="65756B"/>
                </a:solidFill>
              </a:rPr>
              <a:t> </a:t>
            </a:r>
            <a:r>
              <a:rPr sz="1425" b="0" i="1" dirty="0" err="1">
                <a:solidFill>
                  <a:srgbClr val="65756B"/>
                </a:solidFill>
              </a:rPr>
              <a:t>kế</a:t>
            </a:r>
            <a:r>
              <a:rPr sz="1425" b="0" i="1" dirty="0">
                <a:solidFill>
                  <a:srgbClr val="65756B"/>
                </a:solidFill>
              </a:rPr>
              <a:t>: Figma</a:t>
            </a:r>
          </a:p>
        </p:txBody>
      </p:sp>
      <p:pic>
        <p:nvPicPr>
          <p:cNvPr id="18" name="Picture 17">
            <a:extLst>
              <a:ext uri="{FF2B5EF4-FFF2-40B4-BE49-F238E27FC236}">
                <a16:creationId xmlns:a16="http://schemas.microsoft.com/office/drawing/2014/main" id="{ED383B4C-F967-EFC3-444E-B69E01574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045" y="1476375"/>
            <a:ext cx="2205006" cy="44352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a:extLst>
              <a:ext uri="{FF2B5EF4-FFF2-40B4-BE49-F238E27FC236}">
                <a16:creationId xmlns:a16="http://schemas.microsoft.com/office/drawing/2014/main" id="{0696E140-E3D2-9138-0532-059F9C8958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8245" y="1485875"/>
            <a:ext cx="2205006" cy="439005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FF805472-F8EC-0E4F-18FA-740B9CA31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4685" y="1498967"/>
            <a:ext cx="2212548" cy="43900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TextBox 10">
            <a:extLst>
              <a:ext uri="{FF2B5EF4-FFF2-40B4-BE49-F238E27FC236}">
                <a16:creationId xmlns:a16="http://schemas.microsoft.com/office/drawing/2014/main" id="{82FD39C3-1B99-D796-DECE-70703C627A6A}"/>
              </a:ext>
            </a:extLst>
          </p:cNvPr>
          <p:cNvSpPr txBox="1"/>
          <p:nvPr/>
        </p:nvSpPr>
        <p:spPr>
          <a:xfrm>
            <a:off x="8696131" y="820275"/>
            <a:ext cx="1632857" cy="369332"/>
          </a:xfrm>
          <a:prstGeom prst="rect">
            <a:avLst/>
          </a:prstGeom>
          <a:noFill/>
        </p:spPr>
        <p:txBody>
          <a:bodyPr wrap="square" rtlCol="0">
            <a:spAutoFit/>
          </a:bodyPr>
          <a:lstStyle/>
          <a:p>
            <a:r>
              <a:rPr lang="en-US" dirty="0"/>
              <a:t>Link </a:t>
            </a:r>
            <a:r>
              <a:rPr lang="en-US" dirty="0">
                <a:hlinkClick r:id="rId6"/>
              </a:rPr>
              <a:t>Prototype</a:t>
            </a:r>
            <a:endParaRPr lang="vi-VN" dirty="0"/>
          </a:p>
        </p:txBody>
      </p:sp>
    </p:spTree>
    <p:extLst>
      <p:ext uri="{BB962C8B-B14F-4D97-AF65-F5344CB8AC3E}">
        <p14:creationId xmlns:p14="http://schemas.microsoft.com/office/powerpoint/2010/main" val="1033611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a:extLst>
            <a:ext uri="{FF2B5EF4-FFF2-40B4-BE49-F238E27FC236}">
              <a16:creationId xmlns:a16="http://schemas.microsoft.com/office/drawing/2014/main" id="{F7A1B374-5A33-73FE-1128-38031592C75E}"/>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731B774-BE5D-FF81-132C-7B59F1941CD1}"/>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9772393C-A192-2450-C637-594DCF5D67ED}"/>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DF18DEC9-AA6F-77E1-17A6-3F071388ECA4}"/>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Wireframe chuyển yêu cầu thành màn hình</a:t>
            </a:r>
          </a:p>
        </p:txBody>
      </p:sp>
      <p:sp>
        <p:nvSpPr>
          <p:cNvPr id="4" name="Rectangle 3">
            <a:extLst>
              <a:ext uri="{FF2B5EF4-FFF2-40B4-BE49-F238E27FC236}">
                <a16:creationId xmlns:a16="http://schemas.microsoft.com/office/drawing/2014/main" id="{8B4256EC-482F-713D-DE0E-4C7069D7354F}"/>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lang="en-US" sz="1050" b="1" i="0" dirty="0">
                <a:solidFill>
                  <a:srgbClr val="65756B"/>
                </a:solidFill>
              </a:rPr>
              <a:t>17</a:t>
            </a:r>
            <a:endParaRPr sz="1050" b="1" i="0" dirty="0">
              <a:solidFill>
                <a:srgbClr val="65756B"/>
              </a:solidFill>
            </a:endParaRPr>
          </a:p>
        </p:txBody>
      </p:sp>
      <p:sp>
        <p:nvSpPr>
          <p:cNvPr id="5" name="Rectangle 4">
            <a:extLst>
              <a:ext uri="{FF2B5EF4-FFF2-40B4-BE49-F238E27FC236}">
                <a16:creationId xmlns:a16="http://schemas.microsoft.com/office/drawing/2014/main" id="{9759AA9B-A407-88FA-6682-886302F11323}"/>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15" name="Rectangle 14">
            <a:extLst>
              <a:ext uri="{FF2B5EF4-FFF2-40B4-BE49-F238E27FC236}">
                <a16:creationId xmlns:a16="http://schemas.microsoft.com/office/drawing/2014/main" id="{56E6EE62-FDE3-6DA2-AB0C-D3B05F2EF82B}"/>
              </a:ext>
            </a:extLst>
          </p:cNvPr>
          <p:cNvSpPr>
            <a:spLocks noGrp="1"/>
          </p:cNvSpPr>
          <p:nvPr/>
        </p:nvSpPr>
        <p:spPr>
          <a:xfrm>
            <a:off x="1899892" y="6298824"/>
            <a:ext cx="8382000" cy="361950"/>
          </a:xfrm>
          <a:prstGeom prst="rect">
            <a:avLst/>
          </a:prstGeom>
          <a:noFill/>
          <a:ln w="0">
            <a:noFill/>
            <a:prstDash val="solid"/>
          </a:ln>
        </p:spPr>
        <p:txBody>
          <a:bodyPr/>
          <a:lstStyle/>
          <a:p>
            <a:pPr algn="ctr">
              <a:defRPr sz="1425" b="0" i="1">
                <a:solidFill>
                  <a:srgbClr val="65756B"/>
                </a:solidFill>
              </a:defRPr>
            </a:pPr>
            <a:r>
              <a:rPr sz="1425" b="0" i="1" dirty="0">
                <a:solidFill>
                  <a:srgbClr val="65756B"/>
                </a:solidFill>
              </a:rPr>
              <a:t>Công </a:t>
            </a:r>
            <a:r>
              <a:rPr sz="1425" b="0" i="1" dirty="0" err="1">
                <a:solidFill>
                  <a:srgbClr val="65756B"/>
                </a:solidFill>
              </a:rPr>
              <a:t>cụ</a:t>
            </a:r>
            <a:r>
              <a:rPr sz="1425" b="0" i="1" dirty="0">
                <a:solidFill>
                  <a:srgbClr val="65756B"/>
                </a:solidFill>
              </a:rPr>
              <a:t> </a:t>
            </a:r>
            <a:r>
              <a:rPr sz="1425" b="0" i="1" dirty="0" err="1">
                <a:solidFill>
                  <a:srgbClr val="65756B"/>
                </a:solidFill>
              </a:rPr>
              <a:t>thiết</a:t>
            </a:r>
            <a:r>
              <a:rPr sz="1425" b="0" i="1" dirty="0">
                <a:solidFill>
                  <a:srgbClr val="65756B"/>
                </a:solidFill>
              </a:rPr>
              <a:t> </a:t>
            </a:r>
            <a:r>
              <a:rPr sz="1425" b="0" i="1" dirty="0" err="1">
                <a:solidFill>
                  <a:srgbClr val="65756B"/>
                </a:solidFill>
              </a:rPr>
              <a:t>kế</a:t>
            </a:r>
            <a:r>
              <a:rPr sz="1425" b="0" i="1" dirty="0">
                <a:solidFill>
                  <a:srgbClr val="65756B"/>
                </a:solidFill>
              </a:rPr>
              <a:t>: Figma</a:t>
            </a:r>
          </a:p>
        </p:txBody>
      </p:sp>
      <p:pic>
        <p:nvPicPr>
          <p:cNvPr id="20" name="Picture 19">
            <a:extLst>
              <a:ext uri="{FF2B5EF4-FFF2-40B4-BE49-F238E27FC236}">
                <a16:creationId xmlns:a16="http://schemas.microsoft.com/office/drawing/2014/main" id="{A74A4CE1-AFED-1A87-E381-4A94B577F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4213" y="1386727"/>
            <a:ext cx="2253357" cy="44862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2" name="Picture 21">
            <a:extLst>
              <a:ext uri="{FF2B5EF4-FFF2-40B4-BE49-F238E27FC236}">
                <a16:creationId xmlns:a16="http://schemas.microsoft.com/office/drawing/2014/main" id="{15531FAB-5B31-90B2-11F4-319080394B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7453" y="1386726"/>
            <a:ext cx="2240580" cy="44862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07C8ABEE-3FA3-B0AD-9A3C-3C31B8F68D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1215" y="1386726"/>
            <a:ext cx="2283333" cy="453042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1888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a:extLst>
            <a:ext uri="{FF2B5EF4-FFF2-40B4-BE49-F238E27FC236}">
              <a16:creationId xmlns:a16="http://schemas.microsoft.com/office/drawing/2014/main" id="{80DDA25E-497C-7A59-293D-4339144320FF}"/>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EC6AAC2A-540A-0C5C-7B8F-6D2AC14E2557}"/>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A9779102-8DCC-AE39-D905-EC7D7CCA5F9C}"/>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54240AA9-1C34-D6E1-000C-731969DE8E31}"/>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Wireframe chuyển yêu cầu thành màn hình</a:t>
            </a:r>
          </a:p>
        </p:txBody>
      </p:sp>
      <p:sp>
        <p:nvSpPr>
          <p:cNvPr id="4" name="Rectangle 3">
            <a:extLst>
              <a:ext uri="{FF2B5EF4-FFF2-40B4-BE49-F238E27FC236}">
                <a16:creationId xmlns:a16="http://schemas.microsoft.com/office/drawing/2014/main" id="{473FBA61-ADA6-E8CB-2DC9-22F6FD360621}"/>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dirty="0">
                <a:solidFill>
                  <a:srgbClr val="65756B"/>
                </a:solidFill>
              </a:rPr>
              <a:t>1</a:t>
            </a:r>
            <a:r>
              <a:rPr lang="en-US" sz="1050" b="1" i="0" dirty="0">
                <a:solidFill>
                  <a:srgbClr val="65756B"/>
                </a:solidFill>
              </a:rPr>
              <a:t>8</a:t>
            </a:r>
            <a:endParaRPr sz="1050" b="1" i="0" dirty="0">
              <a:solidFill>
                <a:srgbClr val="65756B"/>
              </a:solidFill>
            </a:endParaRPr>
          </a:p>
        </p:txBody>
      </p:sp>
      <p:sp>
        <p:nvSpPr>
          <p:cNvPr id="5" name="Rectangle 4">
            <a:extLst>
              <a:ext uri="{FF2B5EF4-FFF2-40B4-BE49-F238E27FC236}">
                <a16:creationId xmlns:a16="http://schemas.microsoft.com/office/drawing/2014/main" id="{B62055A7-D669-3797-0818-61EE50651E16}"/>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15" name="Rectangle 14">
            <a:extLst>
              <a:ext uri="{FF2B5EF4-FFF2-40B4-BE49-F238E27FC236}">
                <a16:creationId xmlns:a16="http://schemas.microsoft.com/office/drawing/2014/main" id="{A6A2A644-8790-2869-078A-06AD47ADFA37}"/>
              </a:ext>
            </a:extLst>
          </p:cNvPr>
          <p:cNvSpPr>
            <a:spLocks noGrp="1"/>
          </p:cNvSpPr>
          <p:nvPr/>
        </p:nvSpPr>
        <p:spPr>
          <a:xfrm>
            <a:off x="1833282" y="6324600"/>
            <a:ext cx="8382000" cy="361950"/>
          </a:xfrm>
          <a:prstGeom prst="rect">
            <a:avLst/>
          </a:prstGeom>
          <a:noFill/>
          <a:ln w="0">
            <a:noFill/>
            <a:prstDash val="solid"/>
          </a:ln>
        </p:spPr>
        <p:txBody>
          <a:bodyPr/>
          <a:lstStyle/>
          <a:p>
            <a:pPr algn="ctr">
              <a:defRPr sz="1425" b="0" i="1">
                <a:solidFill>
                  <a:srgbClr val="65756B"/>
                </a:solidFill>
              </a:defRPr>
            </a:pPr>
            <a:r>
              <a:rPr sz="1425" b="0" i="1" dirty="0">
                <a:solidFill>
                  <a:srgbClr val="65756B"/>
                </a:solidFill>
              </a:rPr>
              <a:t>Công </a:t>
            </a:r>
            <a:r>
              <a:rPr sz="1425" b="0" i="1" dirty="0" err="1">
                <a:solidFill>
                  <a:srgbClr val="65756B"/>
                </a:solidFill>
              </a:rPr>
              <a:t>cụ</a:t>
            </a:r>
            <a:r>
              <a:rPr sz="1425" b="0" i="1" dirty="0">
                <a:solidFill>
                  <a:srgbClr val="65756B"/>
                </a:solidFill>
              </a:rPr>
              <a:t> </a:t>
            </a:r>
            <a:r>
              <a:rPr sz="1425" b="0" i="1" dirty="0" err="1">
                <a:solidFill>
                  <a:srgbClr val="65756B"/>
                </a:solidFill>
              </a:rPr>
              <a:t>thiết</a:t>
            </a:r>
            <a:r>
              <a:rPr sz="1425" b="0" i="1" dirty="0">
                <a:solidFill>
                  <a:srgbClr val="65756B"/>
                </a:solidFill>
              </a:rPr>
              <a:t> </a:t>
            </a:r>
            <a:r>
              <a:rPr sz="1425" b="0" i="1" dirty="0" err="1">
                <a:solidFill>
                  <a:srgbClr val="65756B"/>
                </a:solidFill>
              </a:rPr>
              <a:t>kế</a:t>
            </a:r>
            <a:r>
              <a:rPr sz="1425" b="0" i="1" dirty="0">
                <a:solidFill>
                  <a:srgbClr val="65756B"/>
                </a:solidFill>
              </a:rPr>
              <a:t>: Figma</a:t>
            </a:r>
          </a:p>
        </p:txBody>
      </p:sp>
      <p:pic>
        <p:nvPicPr>
          <p:cNvPr id="18" name="Picture 17">
            <a:extLst>
              <a:ext uri="{FF2B5EF4-FFF2-40B4-BE49-F238E27FC236}">
                <a16:creationId xmlns:a16="http://schemas.microsoft.com/office/drawing/2014/main" id="{5CAFD7B2-AEF8-C35D-583A-22A8456941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736" y="1528763"/>
            <a:ext cx="2297092" cy="45837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2" name="Picture 21">
            <a:extLst>
              <a:ext uri="{FF2B5EF4-FFF2-40B4-BE49-F238E27FC236}">
                <a16:creationId xmlns:a16="http://schemas.microsoft.com/office/drawing/2014/main" id="{21ED0961-2EF8-E12B-85C2-2A24835829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5916" y="1474134"/>
            <a:ext cx="2294484" cy="45837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069628D5-4FDD-AFD3-14E5-D5BE77BD10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0334" y="1528763"/>
            <a:ext cx="2280044" cy="452913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448368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a:extLst>
            <a:ext uri="{FF2B5EF4-FFF2-40B4-BE49-F238E27FC236}">
              <a16:creationId xmlns:a16="http://schemas.microsoft.com/office/drawing/2014/main" id="{AB7737EB-20C0-F8EA-43A1-282ADCBB47E0}"/>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9DF63051-8590-E4D0-B182-4036C1657E89}"/>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21FC7817-4978-97F3-0B56-A11F87231862}"/>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5B966F2B-E625-A7D5-7468-C2293B43D7CF}"/>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Wireframe chuyển yêu cầu thành màn hình</a:t>
            </a:r>
          </a:p>
        </p:txBody>
      </p:sp>
      <p:sp>
        <p:nvSpPr>
          <p:cNvPr id="4" name="Rectangle 3">
            <a:extLst>
              <a:ext uri="{FF2B5EF4-FFF2-40B4-BE49-F238E27FC236}">
                <a16:creationId xmlns:a16="http://schemas.microsoft.com/office/drawing/2014/main" id="{87229D6F-A155-02A6-13FD-6DEAC28D386F}"/>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sz="1050" b="1" i="0" dirty="0">
                <a:solidFill>
                  <a:srgbClr val="65756B"/>
                </a:solidFill>
              </a:rPr>
              <a:t>1</a:t>
            </a:r>
            <a:r>
              <a:rPr lang="en-US" sz="1050" b="1" i="0" dirty="0">
                <a:solidFill>
                  <a:srgbClr val="65756B"/>
                </a:solidFill>
              </a:rPr>
              <a:t>9</a:t>
            </a:r>
            <a:endParaRPr sz="1050" b="1" i="0" dirty="0">
              <a:solidFill>
                <a:srgbClr val="65756B"/>
              </a:solidFill>
            </a:endParaRPr>
          </a:p>
        </p:txBody>
      </p:sp>
      <p:sp>
        <p:nvSpPr>
          <p:cNvPr id="5" name="Rectangle 4">
            <a:extLst>
              <a:ext uri="{FF2B5EF4-FFF2-40B4-BE49-F238E27FC236}">
                <a16:creationId xmlns:a16="http://schemas.microsoft.com/office/drawing/2014/main" id="{F5BF1CAA-1932-D56A-2C01-97A1693C744C}"/>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15" name="Rectangle 14">
            <a:extLst>
              <a:ext uri="{FF2B5EF4-FFF2-40B4-BE49-F238E27FC236}">
                <a16:creationId xmlns:a16="http://schemas.microsoft.com/office/drawing/2014/main" id="{F6901136-E48C-E054-9BD5-9E4B5965FF26}"/>
              </a:ext>
            </a:extLst>
          </p:cNvPr>
          <p:cNvSpPr>
            <a:spLocks noGrp="1"/>
          </p:cNvSpPr>
          <p:nvPr/>
        </p:nvSpPr>
        <p:spPr>
          <a:xfrm>
            <a:off x="1905000" y="6353175"/>
            <a:ext cx="8382000" cy="361950"/>
          </a:xfrm>
          <a:prstGeom prst="rect">
            <a:avLst/>
          </a:prstGeom>
          <a:noFill/>
          <a:ln w="0">
            <a:noFill/>
            <a:prstDash val="solid"/>
          </a:ln>
        </p:spPr>
        <p:txBody>
          <a:bodyPr/>
          <a:lstStyle/>
          <a:p>
            <a:pPr algn="ctr">
              <a:defRPr sz="1425" b="0" i="1">
                <a:solidFill>
                  <a:srgbClr val="65756B"/>
                </a:solidFill>
              </a:defRPr>
            </a:pPr>
            <a:r>
              <a:rPr sz="1425" b="0" i="1" dirty="0">
                <a:solidFill>
                  <a:srgbClr val="65756B"/>
                </a:solidFill>
              </a:rPr>
              <a:t>Công </a:t>
            </a:r>
            <a:r>
              <a:rPr sz="1425" b="0" i="1" dirty="0" err="1">
                <a:solidFill>
                  <a:srgbClr val="65756B"/>
                </a:solidFill>
              </a:rPr>
              <a:t>cụ</a:t>
            </a:r>
            <a:r>
              <a:rPr sz="1425" b="0" i="1" dirty="0">
                <a:solidFill>
                  <a:srgbClr val="65756B"/>
                </a:solidFill>
              </a:rPr>
              <a:t> </a:t>
            </a:r>
            <a:r>
              <a:rPr sz="1425" b="0" i="1" dirty="0" err="1">
                <a:solidFill>
                  <a:srgbClr val="65756B"/>
                </a:solidFill>
              </a:rPr>
              <a:t>thiết</a:t>
            </a:r>
            <a:r>
              <a:rPr sz="1425" b="0" i="1" dirty="0">
                <a:solidFill>
                  <a:srgbClr val="65756B"/>
                </a:solidFill>
              </a:rPr>
              <a:t> </a:t>
            </a:r>
            <a:r>
              <a:rPr sz="1425" b="0" i="1" dirty="0" err="1">
                <a:solidFill>
                  <a:srgbClr val="65756B"/>
                </a:solidFill>
              </a:rPr>
              <a:t>kế</a:t>
            </a:r>
            <a:r>
              <a:rPr sz="1425" b="0" i="1" dirty="0">
                <a:solidFill>
                  <a:srgbClr val="65756B"/>
                </a:solidFill>
              </a:rPr>
              <a:t>: Figma</a:t>
            </a:r>
          </a:p>
        </p:txBody>
      </p:sp>
      <p:pic>
        <p:nvPicPr>
          <p:cNvPr id="18" name="Picture 17">
            <a:extLst>
              <a:ext uri="{FF2B5EF4-FFF2-40B4-BE49-F238E27FC236}">
                <a16:creationId xmlns:a16="http://schemas.microsoft.com/office/drawing/2014/main" id="{E32AC69C-9A2D-5256-2DF8-FA9991375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567" y="1481660"/>
            <a:ext cx="2254783" cy="45095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a:extLst>
              <a:ext uri="{FF2B5EF4-FFF2-40B4-BE49-F238E27FC236}">
                <a16:creationId xmlns:a16="http://schemas.microsoft.com/office/drawing/2014/main" id="{7E9C9936-9ED3-D396-A12B-9BC44E72A9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8688" y="1479017"/>
            <a:ext cx="2239409" cy="45095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54AF84B2-E347-13C4-73B0-6C7D289E96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97011" y="1501936"/>
            <a:ext cx="2254783" cy="44840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58640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a:extLst>
            <a:ext uri="{FF2B5EF4-FFF2-40B4-BE49-F238E27FC236}">
              <a16:creationId xmlns:a16="http://schemas.microsoft.com/office/drawing/2014/main" id="{FF17352B-51FD-4F21-0150-48BEE079814C}"/>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8062DAC0-1288-946D-A91C-78733E437382}"/>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DE6388B5-D805-496F-0046-B55390EAF282}"/>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D671E5E4-0019-EA3B-7372-F9CF67040D26}"/>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Wireframe chuyển yêu cầu thành màn hình</a:t>
            </a:r>
          </a:p>
        </p:txBody>
      </p:sp>
      <p:sp>
        <p:nvSpPr>
          <p:cNvPr id="4" name="Rectangle 3">
            <a:extLst>
              <a:ext uri="{FF2B5EF4-FFF2-40B4-BE49-F238E27FC236}">
                <a16:creationId xmlns:a16="http://schemas.microsoft.com/office/drawing/2014/main" id="{AF4DCD7B-4A72-E32B-CB17-3B9ACB0C9DB8}"/>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lang="en-US" sz="1050" b="1" dirty="0">
                <a:solidFill>
                  <a:srgbClr val="65756B"/>
                </a:solidFill>
              </a:rPr>
              <a:t>20</a:t>
            </a:r>
            <a:endParaRPr sz="1050" b="1" i="0" dirty="0">
              <a:solidFill>
                <a:srgbClr val="65756B"/>
              </a:solidFill>
            </a:endParaRPr>
          </a:p>
        </p:txBody>
      </p:sp>
      <p:sp>
        <p:nvSpPr>
          <p:cNvPr id="5" name="Rectangle 4">
            <a:extLst>
              <a:ext uri="{FF2B5EF4-FFF2-40B4-BE49-F238E27FC236}">
                <a16:creationId xmlns:a16="http://schemas.microsoft.com/office/drawing/2014/main" id="{715D47EB-AF4F-8D0D-206C-88B6B0F211B0}"/>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15" name="Rectangle 14">
            <a:extLst>
              <a:ext uri="{FF2B5EF4-FFF2-40B4-BE49-F238E27FC236}">
                <a16:creationId xmlns:a16="http://schemas.microsoft.com/office/drawing/2014/main" id="{1675A91F-E336-361F-8E46-CD48E8CFBA15}"/>
              </a:ext>
            </a:extLst>
          </p:cNvPr>
          <p:cNvSpPr>
            <a:spLocks noGrp="1"/>
          </p:cNvSpPr>
          <p:nvPr/>
        </p:nvSpPr>
        <p:spPr>
          <a:xfrm>
            <a:off x="1905000" y="6348130"/>
            <a:ext cx="8382000" cy="361950"/>
          </a:xfrm>
          <a:prstGeom prst="rect">
            <a:avLst/>
          </a:prstGeom>
          <a:noFill/>
          <a:ln w="0">
            <a:noFill/>
            <a:prstDash val="solid"/>
          </a:ln>
        </p:spPr>
        <p:txBody>
          <a:bodyPr/>
          <a:lstStyle/>
          <a:p>
            <a:pPr algn="ctr">
              <a:defRPr sz="1425" b="0" i="1">
                <a:solidFill>
                  <a:srgbClr val="65756B"/>
                </a:solidFill>
              </a:defRPr>
            </a:pPr>
            <a:r>
              <a:rPr sz="1425" b="0" i="1" dirty="0">
                <a:solidFill>
                  <a:srgbClr val="65756B"/>
                </a:solidFill>
              </a:rPr>
              <a:t>Công </a:t>
            </a:r>
            <a:r>
              <a:rPr sz="1425" b="0" i="1" dirty="0" err="1">
                <a:solidFill>
                  <a:srgbClr val="65756B"/>
                </a:solidFill>
              </a:rPr>
              <a:t>cụ</a:t>
            </a:r>
            <a:r>
              <a:rPr sz="1425" b="0" i="1" dirty="0">
                <a:solidFill>
                  <a:srgbClr val="65756B"/>
                </a:solidFill>
              </a:rPr>
              <a:t> </a:t>
            </a:r>
            <a:r>
              <a:rPr sz="1425" b="0" i="1" dirty="0" err="1">
                <a:solidFill>
                  <a:srgbClr val="65756B"/>
                </a:solidFill>
              </a:rPr>
              <a:t>thiết</a:t>
            </a:r>
            <a:r>
              <a:rPr sz="1425" b="0" i="1" dirty="0">
                <a:solidFill>
                  <a:srgbClr val="65756B"/>
                </a:solidFill>
              </a:rPr>
              <a:t> </a:t>
            </a:r>
            <a:r>
              <a:rPr sz="1425" b="0" i="1" dirty="0" err="1">
                <a:solidFill>
                  <a:srgbClr val="65756B"/>
                </a:solidFill>
              </a:rPr>
              <a:t>kế</a:t>
            </a:r>
            <a:r>
              <a:rPr sz="1425" b="0" i="1" dirty="0">
                <a:solidFill>
                  <a:srgbClr val="65756B"/>
                </a:solidFill>
              </a:rPr>
              <a:t>: Figma</a:t>
            </a:r>
          </a:p>
        </p:txBody>
      </p:sp>
      <p:pic>
        <p:nvPicPr>
          <p:cNvPr id="18" name="Picture 17">
            <a:extLst>
              <a:ext uri="{FF2B5EF4-FFF2-40B4-BE49-F238E27FC236}">
                <a16:creationId xmlns:a16="http://schemas.microsoft.com/office/drawing/2014/main" id="{F4119CE0-C699-4A82-4B11-3B43EC9A3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808" y="1476375"/>
            <a:ext cx="2258433" cy="449131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a:extLst>
              <a:ext uri="{FF2B5EF4-FFF2-40B4-BE49-F238E27FC236}">
                <a16:creationId xmlns:a16="http://schemas.microsoft.com/office/drawing/2014/main" id="{84070D7C-8475-098A-9F5F-878E1088F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4639" y="1476375"/>
            <a:ext cx="2261040" cy="449131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8239E69D-2B00-AEC5-A55E-E51D7DB1E5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2253" y="1476374"/>
            <a:ext cx="2240544" cy="449131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13470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a:extLst>
            <a:ext uri="{FF2B5EF4-FFF2-40B4-BE49-F238E27FC236}">
              <a16:creationId xmlns:a16="http://schemas.microsoft.com/office/drawing/2014/main" id="{AB01CB51-9462-97B1-0B30-94531FDD22A7}"/>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2E19894-BE8A-F58B-B540-431930C86B00}"/>
              </a:ext>
            </a:extLst>
          </p:cNvPr>
          <p:cNvSpPr>
            <a:spLocks noGrp="1"/>
          </p:cNvSpPr>
          <p:nvPr/>
        </p:nvSpPr>
        <p:spPr>
          <a:xfrm>
            <a:off x="533400" y="323850"/>
            <a:ext cx="3143250" cy="323850"/>
          </a:xfrm>
          <a:prstGeom prst="roundRect">
            <a:avLst>
              <a:gd name="adj" fmla="val 50000"/>
            </a:avLst>
          </a:prstGeom>
          <a:solidFill>
            <a:srgbClr val="2E5B3A"/>
          </a:solidFill>
          <a:ln w="9525">
            <a:solidFill>
              <a:srgbClr val="2E5B3A"/>
            </a:solidFill>
            <a:prstDash val="solid"/>
          </a:ln>
        </p:spPr>
      </p:sp>
      <p:sp>
        <p:nvSpPr>
          <p:cNvPr id="2" name="Rectangle 1">
            <a:extLst>
              <a:ext uri="{FF2B5EF4-FFF2-40B4-BE49-F238E27FC236}">
                <a16:creationId xmlns:a16="http://schemas.microsoft.com/office/drawing/2014/main" id="{60330444-15FF-7D76-E3EF-97C6D5AA6940}"/>
              </a:ext>
            </a:extLst>
          </p:cNvPr>
          <p:cNvSpPr>
            <a:spLocks noGrp="1"/>
          </p:cNvSpPr>
          <p:nvPr/>
        </p:nvSpPr>
        <p:spPr>
          <a:xfrm>
            <a:off x="666750" y="371475"/>
            <a:ext cx="2857500" cy="228600"/>
          </a:xfrm>
          <a:prstGeom prst="rect">
            <a:avLst/>
          </a:prstGeom>
          <a:noFill/>
          <a:ln w="0">
            <a:noFill/>
            <a:prstDash val="solid"/>
          </a:ln>
        </p:spPr>
        <p:txBody>
          <a:bodyPr/>
          <a:lstStyle/>
          <a:p>
            <a:pPr algn="l">
              <a:defRPr sz="1200" b="1" i="0">
                <a:solidFill>
                  <a:srgbClr val="FFFFFF"/>
                </a:solidFill>
              </a:defRPr>
            </a:pPr>
            <a:r>
              <a:rPr sz="1200" b="1" i="0">
                <a:solidFill>
                  <a:srgbClr val="FFFFFF"/>
                </a:solidFill>
              </a:rPr>
              <a:t>3. PHÂN TÍCH VÀ THIẾT KẾ</a:t>
            </a:r>
          </a:p>
        </p:txBody>
      </p:sp>
      <p:sp>
        <p:nvSpPr>
          <p:cNvPr id="3" name="Rectangle 2">
            <a:extLst>
              <a:ext uri="{FF2B5EF4-FFF2-40B4-BE49-F238E27FC236}">
                <a16:creationId xmlns:a16="http://schemas.microsoft.com/office/drawing/2014/main" id="{E25AF0FE-1E1F-BEA8-38E5-5B4A46EA90AC}"/>
              </a:ext>
            </a:extLst>
          </p:cNvPr>
          <p:cNvSpPr>
            <a:spLocks noGrp="1"/>
          </p:cNvSpPr>
          <p:nvPr/>
        </p:nvSpPr>
        <p:spPr>
          <a:xfrm>
            <a:off x="533400" y="800100"/>
            <a:ext cx="10287000" cy="523875"/>
          </a:xfrm>
          <a:prstGeom prst="rect">
            <a:avLst/>
          </a:prstGeom>
          <a:noFill/>
          <a:ln w="0">
            <a:noFill/>
            <a:prstDash val="solid"/>
          </a:ln>
        </p:spPr>
        <p:txBody>
          <a:bodyPr/>
          <a:lstStyle/>
          <a:p>
            <a:pPr algn="l">
              <a:defRPr sz="2850" b="1" i="0">
                <a:solidFill>
                  <a:srgbClr val="193B2B"/>
                </a:solidFill>
              </a:defRPr>
            </a:pPr>
            <a:r>
              <a:rPr sz="2850" b="1" i="0">
                <a:solidFill>
                  <a:srgbClr val="193B2B"/>
                </a:solidFill>
              </a:rPr>
              <a:t>Wireframe chuyển yêu cầu thành màn hình</a:t>
            </a:r>
          </a:p>
        </p:txBody>
      </p:sp>
      <p:sp>
        <p:nvSpPr>
          <p:cNvPr id="4" name="Rectangle 3">
            <a:extLst>
              <a:ext uri="{FF2B5EF4-FFF2-40B4-BE49-F238E27FC236}">
                <a16:creationId xmlns:a16="http://schemas.microsoft.com/office/drawing/2014/main" id="{0062718B-AB92-3368-764E-ACAAD736D131}"/>
              </a:ext>
            </a:extLst>
          </p:cNvPr>
          <p:cNvSpPr>
            <a:spLocks noGrp="1"/>
          </p:cNvSpPr>
          <p:nvPr/>
        </p:nvSpPr>
        <p:spPr>
          <a:xfrm>
            <a:off x="11144250" y="381000"/>
            <a:ext cx="514350" cy="228600"/>
          </a:xfrm>
          <a:prstGeom prst="rect">
            <a:avLst/>
          </a:prstGeom>
          <a:noFill/>
          <a:ln w="0">
            <a:noFill/>
            <a:prstDash val="solid"/>
          </a:ln>
        </p:spPr>
        <p:txBody>
          <a:bodyPr/>
          <a:lstStyle/>
          <a:p>
            <a:pPr algn="r">
              <a:defRPr sz="1050" b="1" i="0">
                <a:solidFill>
                  <a:srgbClr val="65756B"/>
                </a:solidFill>
              </a:defRPr>
            </a:pPr>
            <a:r>
              <a:rPr lang="en-US" sz="1050" b="1" dirty="0">
                <a:solidFill>
                  <a:srgbClr val="65756B"/>
                </a:solidFill>
              </a:rPr>
              <a:t>21</a:t>
            </a:r>
            <a:endParaRPr sz="1050" b="1" i="0" dirty="0">
              <a:solidFill>
                <a:srgbClr val="65756B"/>
              </a:solidFill>
            </a:endParaRPr>
          </a:p>
        </p:txBody>
      </p:sp>
      <p:sp>
        <p:nvSpPr>
          <p:cNvPr id="5" name="Rectangle 4">
            <a:extLst>
              <a:ext uri="{FF2B5EF4-FFF2-40B4-BE49-F238E27FC236}">
                <a16:creationId xmlns:a16="http://schemas.microsoft.com/office/drawing/2014/main" id="{7CE70D28-D63D-18BC-AB71-756CC29D734E}"/>
              </a:ext>
            </a:extLst>
          </p:cNvPr>
          <p:cNvSpPr>
            <a:spLocks noGrp="1"/>
          </p:cNvSpPr>
          <p:nvPr/>
        </p:nvSpPr>
        <p:spPr>
          <a:xfrm>
            <a:off x="10572750" y="6143625"/>
            <a:ext cx="1143000" cy="361950"/>
          </a:xfrm>
          <a:prstGeom prst="rect">
            <a:avLst/>
          </a:prstGeom>
          <a:noFill/>
          <a:ln w="0">
            <a:noFill/>
            <a:prstDash val="solid"/>
          </a:ln>
        </p:spPr>
        <p:txBody>
          <a:bodyPr/>
          <a:lstStyle/>
          <a:p>
            <a:pPr algn="r">
              <a:defRPr sz="1875" b="1" i="1">
                <a:solidFill>
                  <a:srgbClr val="DDE8DA"/>
                </a:solidFill>
              </a:defRPr>
            </a:pPr>
            <a:r>
              <a:rPr sz="1875" b="1" i="1">
                <a:solidFill>
                  <a:srgbClr val="DDE8DA"/>
                </a:solidFill>
              </a:rPr>
              <a:t>eKYC</a:t>
            </a:r>
          </a:p>
        </p:txBody>
      </p:sp>
      <p:sp>
        <p:nvSpPr>
          <p:cNvPr id="15" name="Rectangle 14">
            <a:extLst>
              <a:ext uri="{FF2B5EF4-FFF2-40B4-BE49-F238E27FC236}">
                <a16:creationId xmlns:a16="http://schemas.microsoft.com/office/drawing/2014/main" id="{82AAA152-A475-2336-365A-9707AB5D8B9B}"/>
              </a:ext>
            </a:extLst>
          </p:cNvPr>
          <p:cNvSpPr>
            <a:spLocks noGrp="1"/>
          </p:cNvSpPr>
          <p:nvPr/>
        </p:nvSpPr>
        <p:spPr>
          <a:xfrm>
            <a:off x="1905000" y="6348130"/>
            <a:ext cx="8382000" cy="361950"/>
          </a:xfrm>
          <a:prstGeom prst="rect">
            <a:avLst/>
          </a:prstGeom>
          <a:noFill/>
          <a:ln w="0">
            <a:noFill/>
            <a:prstDash val="solid"/>
          </a:ln>
        </p:spPr>
        <p:txBody>
          <a:bodyPr/>
          <a:lstStyle/>
          <a:p>
            <a:pPr algn="ctr">
              <a:defRPr sz="1425" b="0" i="1">
                <a:solidFill>
                  <a:srgbClr val="65756B"/>
                </a:solidFill>
              </a:defRPr>
            </a:pPr>
            <a:r>
              <a:rPr sz="1425" b="0" i="1" dirty="0">
                <a:solidFill>
                  <a:srgbClr val="65756B"/>
                </a:solidFill>
              </a:rPr>
              <a:t>Công </a:t>
            </a:r>
            <a:r>
              <a:rPr sz="1425" b="0" i="1" dirty="0" err="1">
                <a:solidFill>
                  <a:srgbClr val="65756B"/>
                </a:solidFill>
              </a:rPr>
              <a:t>cụ</a:t>
            </a:r>
            <a:r>
              <a:rPr sz="1425" b="0" i="1" dirty="0">
                <a:solidFill>
                  <a:srgbClr val="65756B"/>
                </a:solidFill>
              </a:rPr>
              <a:t> </a:t>
            </a:r>
            <a:r>
              <a:rPr sz="1425" b="0" i="1" dirty="0" err="1">
                <a:solidFill>
                  <a:srgbClr val="65756B"/>
                </a:solidFill>
              </a:rPr>
              <a:t>thiết</a:t>
            </a:r>
            <a:r>
              <a:rPr sz="1425" b="0" i="1" dirty="0">
                <a:solidFill>
                  <a:srgbClr val="65756B"/>
                </a:solidFill>
              </a:rPr>
              <a:t> </a:t>
            </a:r>
            <a:r>
              <a:rPr sz="1425" b="0" i="1" dirty="0" err="1">
                <a:solidFill>
                  <a:srgbClr val="65756B"/>
                </a:solidFill>
              </a:rPr>
              <a:t>kế</a:t>
            </a:r>
            <a:r>
              <a:rPr sz="1425" b="0" i="1" dirty="0">
                <a:solidFill>
                  <a:srgbClr val="65756B"/>
                </a:solidFill>
              </a:rPr>
              <a:t>: Figma</a:t>
            </a:r>
          </a:p>
        </p:txBody>
      </p:sp>
      <p:pic>
        <p:nvPicPr>
          <p:cNvPr id="7" name="Picture 6">
            <a:extLst>
              <a:ext uri="{FF2B5EF4-FFF2-40B4-BE49-F238E27FC236}">
                <a16:creationId xmlns:a16="http://schemas.microsoft.com/office/drawing/2014/main" id="{56249706-52E2-64CB-AD80-FFE5353A8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3356" y="1466449"/>
            <a:ext cx="2346588" cy="46771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AC770D5F-CAA0-A77F-44F6-E460C9968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1101" y="1466449"/>
            <a:ext cx="2327934" cy="46771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60814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AF3"/>
        </a:solidFill>
        <a:effectLst/>
      </p:bgPr>
    </p:bg>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4A04B5C4-032E-4485-9613-BA2116DCE357}"/>
              </a:ext>
            </a:extLst>
          </p:cNvPr>
          <p:cNvSpPr>
            <a:spLocks noGrp="1"/>
          </p:cNvSpPr>
          <p:nvPr/>
        </p:nvSpPr>
        <p:spPr>
          <a:xfrm>
            <a:off x="0" y="0"/>
            <a:ext cx="3429000" cy="4095750"/>
          </a:xfrm>
          <a:prstGeom prst="ellipse">
            <a:avLst/>
          </a:prstGeom>
          <a:solidFill>
            <a:srgbClr val="EAF3E7"/>
          </a:solidFill>
          <a:ln w="0">
            <a:solidFill>
              <a:srgbClr val="EAF3E7"/>
            </a:solidFill>
            <a:prstDash val="solid"/>
          </a:ln>
        </p:spPr>
      </p:sp>
      <p:sp>
        <p:nvSpPr>
          <p:cNvPr id="2" name="Rectangle 1">
            <a:extLst>
              <a:ext uri="{FF2B5EF4-FFF2-40B4-BE49-F238E27FC236}">
                <a16:creationId xmlns:a16="http://schemas.microsoft.com/office/drawing/2014/main" id="{6288F29B-731C-4C58-B5E2-61A03F481F8C}"/>
              </a:ext>
            </a:extLst>
          </p:cNvPr>
          <p:cNvSpPr>
            <a:spLocks noGrp="1"/>
          </p:cNvSpPr>
          <p:nvPr/>
        </p:nvSpPr>
        <p:spPr>
          <a:xfrm>
            <a:off x="762000" y="904875"/>
            <a:ext cx="2476500" cy="400050"/>
          </a:xfrm>
          <a:prstGeom prst="rect">
            <a:avLst/>
          </a:prstGeom>
          <a:noFill/>
          <a:ln w="0">
            <a:noFill/>
            <a:prstDash val="solid"/>
          </a:ln>
        </p:spPr>
        <p:txBody>
          <a:bodyPr/>
          <a:lstStyle/>
          <a:p>
            <a:pPr algn="l">
              <a:defRPr sz="1800" b="1" i="0">
                <a:solidFill>
                  <a:srgbClr val="6B9A6E"/>
                </a:solidFill>
              </a:defRPr>
            </a:pPr>
            <a:r>
              <a:rPr sz="1800" b="1" i="0">
                <a:solidFill>
                  <a:srgbClr val="6B9A6E"/>
                </a:solidFill>
              </a:rPr>
              <a:t>Kết luận</a:t>
            </a:r>
          </a:p>
        </p:txBody>
      </p:sp>
      <p:sp>
        <p:nvSpPr>
          <p:cNvPr id="3" name="Rectangle 2">
            <a:extLst>
              <a:ext uri="{FF2B5EF4-FFF2-40B4-BE49-F238E27FC236}">
                <a16:creationId xmlns:a16="http://schemas.microsoft.com/office/drawing/2014/main" id="{787070EA-5E4C-4591-A37B-E1D1C491F321}"/>
              </a:ext>
            </a:extLst>
          </p:cNvPr>
          <p:cNvSpPr>
            <a:spLocks noGrp="1"/>
          </p:cNvSpPr>
          <p:nvPr/>
        </p:nvSpPr>
        <p:spPr>
          <a:xfrm>
            <a:off x="762000" y="1524000"/>
            <a:ext cx="6858000" cy="1238250"/>
          </a:xfrm>
          <a:prstGeom prst="rect">
            <a:avLst/>
          </a:prstGeom>
          <a:noFill/>
          <a:ln w="0">
            <a:noFill/>
            <a:prstDash val="solid"/>
          </a:ln>
        </p:spPr>
        <p:txBody>
          <a:bodyPr/>
          <a:lstStyle/>
          <a:p>
            <a:pPr algn="l">
              <a:defRPr sz="3600" b="1" i="0">
                <a:solidFill>
                  <a:srgbClr val="193B2B"/>
                </a:solidFill>
              </a:defRPr>
            </a:pPr>
            <a:r>
              <a:rPr sz="3600" b="1" i="0">
                <a:solidFill>
                  <a:srgbClr val="193B2B"/>
                </a:solidFill>
              </a:rPr>
              <a:t>Giải pháp kết nối</a:t>
            </a:r>
          </a:p>
          <a:p>
            <a:pPr algn="l">
              <a:defRPr sz="3600" b="1" i="0">
                <a:solidFill>
                  <a:srgbClr val="193B2B"/>
                </a:solidFill>
              </a:defRPr>
            </a:pPr>
            <a:r>
              <a:rPr sz="3600" b="1" i="0">
                <a:solidFill>
                  <a:srgbClr val="193B2B"/>
                </a:solidFill>
              </a:rPr>
              <a:t>nhu cầu - quy trình - dữ liệu</a:t>
            </a:r>
          </a:p>
        </p:txBody>
      </p:sp>
      <p:sp>
        <p:nvSpPr>
          <p:cNvPr id="4" name="Rectangle 3">
            <a:extLst>
              <a:ext uri="{FF2B5EF4-FFF2-40B4-BE49-F238E27FC236}">
                <a16:creationId xmlns:a16="http://schemas.microsoft.com/office/drawing/2014/main" id="{1EE14ECD-D313-41B8-864A-EC17D058DAB7}"/>
              </a:ext>
            </a:extLst>
          </p:cNvPr>
          <p:cNvSpPr>
            <a:spLocks noGrp="1"/>
          </p:cNvSpPr>
          <p:nvPr/>
        </p:nvSpPr>
        <p:spPr>
          <a:xfrm>
            <a:off x="809625" y="3095625"/>
            <a:ext cx="6286500" cy="1095375"/>
          </a:xfrm>
          <a:prstGeom prst="rect">
            <a:avLst/>
          </a:prstGeom>
          <a:noFill/>
          <a:ln w="0">
            <a:noFill/>
            <a:prstDash val="solid"/>
          </a:ln>
        </p:spPr>
        <p:txBody>
          <a:bodyPr/>
          <a:lstStyle/>
          <a:p>
            <a:pPr algn="l">
              <a:defRPr sz="1725" b="0" i="0">
                <a:solidFill>
                  <a:srgbClr val="183127"/>
                </a:solidFill>
              </a:defRPr>
            </a:pPr>
            <a:r>
              <a:rPr sz="1725" b="0" i="0">
                <a:solidFill>
                  <a:srgbClr val="183127"/>
                </a:solidFill>
              </a:rPr>
              <a:t>Project mô phỏng cách một Business Analyst chuyển bài toán mở tài khoản online thành yêu cầu, luồng nghiệp vụ, mô hình dữ liệu và contract tích hợp có thể bàn giao.</a:t>
            </a:r>
          </a:p>
        </p:txBody>
      </p:sp>
      <p:sp>
        <p:nvSpPr>
          <p:cNvPr id="5" name="Rectangle 4">
            <a:extLst>
              <a:ext uri="{FF2B5EF4-FFF2-40B4-BE49-F238E27FC236}">
                <a16:creationId xmlns:a16="http://schemas.microsoft.com/office/drawing/2014/main" id="{1B5753BC-81D4-4483-8BE5-2EE2D58802E2}"/>
              </a:ext>
            </a:extLst>
          </p:cNvPr>
          <p:cNvSpPr>
            <a:spLocks noGrp="1"/>
          </p:cNvSpPr>
          <p:nvPr/>
        </p:nvSpPr>
        <p:spPr>
          <a:xfrm>
            <a:off x="762000" y="5048250"/>
            <a:ext cx="5715000" cy="571500"/>
          </a:xfrm>
          <a:prstGeom prst="rect">
            <a:avLst/>
          </a:prstGeom>
          <a:noFill/>
          <a:ln w="0">
            <a:noFill/>
            <a:prstDash val="solid"/>
          </a:ln>
        </p:spPr>
        <p:txBody>
          <a:bodyPr/>
          <a:lstStyle/>
          <a:p>
            <a:pPr algn="l">
              <a:defRPr sz="2850" b="1" i="0">
                <a:solidFill>
                  <a:srgbClr val="2E5B3A"/>
                </a:solidFill>
              </a:defRPr>
            </a:pPr>
            <a:r>
              <a:rPr sz="2850" b="1" i="0">
                <a:solidFill>
                  <a:srgbClr val="2E5B3A"/>
                </a:solidFill>
              </a:rPr>
              <a:t>Thanks for watching!</a:t>
            </a:r>
          </a:p>
        </p:txBody>
      </p:sp>
    </p:spTree>
    <p:extLst>
      <p:ext uri="{BB962C8B-B14F-4D97-AF65-F5344CB8AC3E}">
        <p14:creationId xmlns:p14="http://schemas.microsoft.com/office/powerpoint/2010/main" val="92159601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2677</Words>
  <Application>Microsoft Office PowerPoint</Application>
  <DocSecurity>0</DocSecurity>
  <PresentationFormat>Widescreen</PresentationFormat>
  <Paragraphs>407</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Đình Trung</cp:lastModifiedBy>
  <cp:revision>7</cp:revision>
  <dcterms:created xsi:type="dcterms:W3CDTF">2026-08-07T16:51:07Z</dcterms:created>
  <dcterms:modified xsi:type="dcterms:W3CDTF">2026-08-09T17:05:26Z</dcterms:modified>
</cp:coreProperties>
</file>